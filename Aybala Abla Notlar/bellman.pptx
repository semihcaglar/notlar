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80228-282A-4147-8A35-FD1106127BD1}" type="datetimeFigureOut">
              <a:rPr lang="tr-TR" smtClean="0"/>
              <a:t>04.08.2013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EC518-9956-4BDF-8096-10C363559EB8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afgedemenli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42910" y="785794"/>
            <a:ext cx="7772400" cy="1470025"/>
          </a:xfrm>
        </p:spPr>
        <p:txBody>
          <a:bodyPr/>
          <a:lstStyle/>
          <a:p>
            <a:r>
              <a:rPr lang="en-US" dirty="0" smtClean="0"/>
              <a:t>SINGLE SOURCE SHORTEST PATH</a:t>
            </a:r>
            <a:br>
              <a:rPr lang="en-US" dirty="0" smtClean="0"/>
            </a:br>
            <a:r>
              <a:rPr lang="en-US" dirty="0" smtClean="0"/>
              <a:t>(TEK KAYNAKLI SP)</a:t>
            </a:r>
            <a:endParaRPr lang="tr-TR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tx1"/>
                </a:solidFill>
              </a:rPr>
              <a:t>Bellman Ford Algorithm</a:t>
            </a:r>
            <a:endParaRPr lang="tr-TR"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800" dirty="0" smtClean="0">
                <a:solidFill>
                  <a:srgbClr val="7030A0"/>
                </a:solidFill>
                <a:latin typeface="Bodoni MT Black" pitchFamily="18" charset="0"/>
              </a:rPr>
              <a:t>Problem</a:t>
            </a:r>
            <a:endParaRPr lang="tr-TR" sz="4800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 smtClean="0"/>
              <a:t>G, N </a:t>
            </a:r>
            <a:r>
              <a:rPr lang="tr-TR" dirty="0" err="1" smtClean="0"/>
              <a:t>node</a:t>
            </a:r>
            <a:r>
              <a:rPr lang="tr-TR" dirty="0" smtClean="0"/>
              <a:t> içeren yönlü bir </a:t>
            </a:r>
            <a:r>
              <a:rPr lang="tr-TR" dirty="0" err="1" smtClean="0"/>
              <a:t>graph</a:t>
            </a:r>
            <a:r>
              <a:rPr lang="tr-TR" dirty="0" smtClean="0"/>
              <a:t> (çizge) olsun.</a:t>
            </a:r>
          </a:p>
          <a:p>
            <a:endParaRPr lang="tr-TR" dirty="0" smtClean="0"/>
          </a:p>
          <a:p>
            <a:r>
              <a:rPr lang="tr-TR" dirty="0" smtClean="0"/>
              <a:t>Verilen bir başlangıç </a:t>
            </a:r>
            <a:r>
              <a:rPr lang="tr-TR" dirty="0" err="1" smtClean="0"/>
              <a:t>node'u</a:t>
            </a:r>
            <a:r>
              <a:rPr lang="tr-TR" dirty="0" smtClean="0"/>
              <a:t> (düğüm) S için, </a:t>
            </a:r>
            <a:r>
              <a:rPr lang="tr-TR" dirty="0" err="1" smtClean="0"/>
              <a:t>S'ten</a:t>
            </a:r>
            <a:r>
              <a:rPr lang="tr-TR" dirty="0" smtClean="0"/>
              <a:t> diğer her bir </a:t>
            </a:r>
            <a:r>
              <a:rPr lang="tr-TR" dirty="0" err="1" smtClean="0"/>
              <a:t>node'a</a:t>
            </a:r>
            <a:r>
              <a:rPr lang="tr-TR" dirty="0" smtClean="0"/>
              <a:t> giden en kısa yolu bulalım.</a:t>
            </a:r>
          </a:p>
          <a:p>
            <a:endParaRPr lang="tr-TR" dirty="0" smtClean="0"/>
          </a:p>
          <a:p>
            <a:r>
              <a:rPr lang="tr-TR" dirty="0" smtClean="0"/>
              <a:t>Eğer bütün </a:t>
            </a:r>
            <a:r>
              <a:rPr lang="tr-TR" dirty="0" err="1" smtClean="0"/>
              <a:t>edge'lerin</a:t>
            </a:r>
            <a:r>
              <a:rPr lang="tr-TR" dirty="0" smtClean="0"/>
              <a:t> (kenar) uzunlukları </a:t>
            </a:r>
            <a:r>
              <a:rPr lang="tr-TR" dirty="0" err="1" smtClean="0"/>
              <a:t>non</a:t>
            </a:r>
            <a:r>
              <a:rPr lang="tr-TR" dirty="0" smtClean="0"/>
              <a:t>-</a:t>
            </a:r>
            <a:r>
              <a:rPr lang="tr-TR" dirty="0" err="1" smtClean="0"/>
              <a:t>negative</a:t>
            </a:r>
            <a:r>
              <a:rPr lang="tr-TR" dirty="0" smtClean="0"/>
              <a:t>(pozitif veya sıfır) ise, O(</a:t>
            </a:r>
            <a:r>
              <a:rPr lang="en-US" dirty="0" smtClean="0"/>
              <a:t>N</a:t>
            </a:r>
            <a:r>
              <a:rPr lang="en-US" baseline="30000" dirty="0" smtClean="0"/>
              <a:t>2</a:t>
            </a:r>
            <a:r>
              <a:rPr lang="tr-TR" dirty="0" smtClean="0"/>
              <a:t>) veya O(M </a:t>
            </a:r>
            <a:r>
              <a:rPr lang="tr-TR" dirty="0" err="1" smtClean="0"/>
              <a:t>log</a:t>
            </a:r>
            <a:r>
              <a:rPr lang="tr-TR" dirty="0" smtClean="0"/>
              <a:t> N) de çalışan bir </a:t>
            </a:r>
            <a:r>
              <a:rPr lang="tr-TR" dirty="0" err="1" smtClean="0"/>
              <a:t>Dijkstra</a:t>
            </a:r>
            <a:r>
              <a:rPr lang="tr-TR" dirty="0" smtClean="0"/>
              <a:t> ile çözebiliriz.</a:t>
            </a:r>
          </a:p>
          <a:p>
            <a:endParaRPr lang="tr-TR" dirty="0" smtClean="0"/>
          </a:p>
          <a:p>
            <a:r>
              <a:rPr lang="tr-TR" dirty="0" smtClean="0"/>
              <a:t>Ancak eğer negatif ağırlıklı bir </a:t>
            </a:r>
            <a:r>
              <a:rPr lang="tr-TR" dirty="0" err="1" smtClean="0"/>
              <a:t>edge</a:t>
            </a:r>
            <a:r>
              <a:rPr lang="tr-TR" dirty="0" smtClean="0"/>
              <a:t> varsa O(NM) de çalışan </a:t>
            </a:r>
            <a:r>
              <a:rPr lang="tr-TR" dirty="0" err="1" smtClean="0"/>
              <a:t>Bellman</a:t>
            </a:r>
            <a:r>
              <a:rPr lang="tr-TR" dirty="0" smtClean="0"/>
              <a:t>-Ford Algoritmasını kullanmamız gerekir.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tr-TR" dirty="0" err="1" smtClean="0">
                <a:solidFill>
                  <a:srgbClr val="7030A0"/>
                </a:solidFill>
                <a:latin typeface="Bodoni MT Black" pitchFamily="18" charset="0"/>
              </a:rPr>
              <a:t>Edge’leri</a:t>
            </a:r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 pozitife çevirmek?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28596" y="2332037"/>
            <a:ext cx="8715404" cy="3168665"/>
          </a:xfrm>
        </p:spPr>
        <p:txBody>
          <a:bodyPr/>
          <a:lstStyle/>
          <a:p>
            <a:r>
              <a:rPr lang="tr-TR" dirty="0" smtClean="0"/>
              <a:t>Tüm ağırlıklar </a:t>
            </a:r>
            <a:r>
              <a:rPr lang="tr-TR" dirty="0" err="1" smtClean="0"/>
              <a:t>non</a:t>
            </a:r>
            <a:r>
              <a:rPr lang="tr-TR" dirty="0" smtClean="0"/>
              <a:t>-</a:t>
            </a:r>
            <a:r>
              <a:rPr lang="tr-TR" dirty="0" err="1" smtClean="0"/>
              <a:t>negative</a:t>
            </a:r>
            <a:r>
              <a:rPr lang="tr-TR" dirty="0" smtClean="0"/>
              <a:t> olacak şekilde hepsinin değerini K kadar arttıralım.</a:t>
            </a:r>
          </a:p>
          <a:p>
            <a:r>
              <a:rPr lang="tr-TR" dirty="0" smtClean="0"/>
              <a:t>Daha sonra </a:t>
            </a:r>
            <a:r>
              <a:rPr lang="tr-TR" dirty="0" err="1" smtClean="0"/>
              <a:t>Dijkstra</a:t>
            </a:r>
            <a:r>
              <a:rPr lang="tr-TR" dirty="0" smtClean="0"/>
              <a:t> ile problemi çözelim. </a:t>
            </a:r>
          </a:p>
          <a:p>
            <a:r>
              <a:rPr lang="tr-TR" dirty="0" smtClean="0"/>
              <a:t>Son olarak ise </a:t>
            </a:r>
            <a:r>
              <a:rPr lang="tr-TR" dirty="0" err="1" smtClean="0"/>
              <a:t>ekledigimiz</a:t>
            </a:r>
            <a:r>
              <a:rPr lang="tr-TR" dirty="0" smtClean="0"/>
              <a:t> değerleri geri çıkaralım.</a:t>
            </a:r>
          </a:p>
          <a:p>
            <a:r>
              <a:rPr lang="tr-TR" dirty="0" smtClean="0"/>
              <a:t>Böyle bir çözüm gelebilir aklımıza.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YANLIS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 smtClean="0"/>
              <a:t>Burada bulduğumuz yol (</a:t>
            </a:r>
            <a:r>
              <a:rPr lang="tr-TR" dirty="0" err="1" smtClean="0"/>
              <a:t>ToplamUzunluk</a:t>
            </a:r>
            <a:r>
              <a:rPr lang="tr-TR" dirty="0" smtClean="0"/>
              <a:t> + </a:t>
            </a:r>
            <a:r>
              <a:rPr lang="tr-TR" dirty="0" err="1" smtClean="0"/>
              <a:t>EdgeSayisi</a:t>
            </a:r>
            <a:r>
              <a:rPr lang="tr-TR" dirty="0" smtClean="0"/>
              <a:t>*K) formülünden minimum olan olur. </a:t>
            </a:r>
          </a:p>
          <a:p>
            <a:r>
              <a:rPr lang="tr-TR" dirty="0" smtClean="0"/>
              <a:t>Fakat bize (</a:t>
            </a:r>
            <a:r>
              <a:rPr lang="tr-TR" dirty="0" err="1" smtClean="0"/>
              <a:t>ToplamUzunluk</a:t>
            </a:r>
            <a:r>
              <a:rPr lang="tr-TR" dirty="0" smtClean="0"/>
              <a:t>) olarak minimum olan lazımdı. Burada bulunan cevap </a:t>
            </a:r>
            <a:r>
              <a:rPr lang="tr-TR" dirty="0" err="1" smtClean="0"/>
              <a:t>EdgeSayisina</a:t>
            </a:r>
            <a:r>
              <a:rPr lang="tr-TR" dirty="0" smtClean="0"/>
              <a:t> bağlı olduğundan yanlış cevabı bulmuş olmamız çok olasıdır.</a:t>
            </a:r>
          </a:p>
          <a:p>
            <a:r>
              <a:rPr lang="tr-TR" dirty="0" smtClean="0"/>
              <a:t>Aksine örnek için bir sonraki slayttaki resim güzel bir örnek.</a:t>
            </a:r>
          </a:p>
          <a:p>
            <a:r>
              <a:rPr lang="tr-TR" dirty="0" smtClean="0"/>
              <a:t>Farklı bir şeyler denememiz lazım.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785794"/>
            <a:ext cx="8229600" cy="5124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143000"/>
          </a:xfrm>
        </p:spPr>
        <p:txBody>
          <a:bodyPr/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Anahtar Gözlem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500034" y="1643050"/>
            <a:ext cx="8229600" cy="4572032"/>
          </a:xfrm>
        </p:spPr>
        <p:txBody>
          <a:bodyPr>
            <a:normAutofit/>
          </a:bodyPr>
          <a:lstStyle/>
          <a:p>
            <a:r>
              <a:rPr lang="tr-TR" dirty="0" smtClean="0"/>
              <a:t>Eğer negatif ağırlıklı </a:t>
            </a:r>
            <a:r>
              <a:rPr lang="tr-TR" dirty="0" err="1" smtClean="0"/>
              <a:t>cycle</a:t>
            </a:r>
            <a:r>
              <a:rPr lang="tr-TR" dirty="0" smtClean="0"/>
              <a:t> (döngü-çevrim) yoksa, öyleyse S </a:t>
            </a:r>
            <a:r>
              <a:rPr lang="tr-TR" dirty="0" err="1" smtClean="0"/>
              <a:t>node'undan</a:t>
            </a:r>
            <a:r>
              <a:rPr lang="tr-TR" dirty="0" smtClean="0"/>
              <a:t> diğer tüm T </a:t>
            </a:r>
            <a:r>
              <a:rPr lang="tr-TR" dirty="0" err="1" smtClean="0"/>
              <a:t>node'larına</a:t>
            </a:r>
            <a:r>
              <a:rPr lang="tr-TR" dirty="0" smtClean="0"/>
              <a:t> giden yollar </a:t>
            </a:r>
            <a:r>
              <a:rPr lang="tr-TR" dirty="0" err="1" smtClean="0"/>
              <a:t>simple'dır</a:t>
            </a:r>
            <a:r>
              <a:rPr lang="tr-TR" dirty="0" smtClean="0"/>
              <a:t>. (Bir </a:t>
            </a:r>
            <a:r>
              <a:rPr lang="tr-TR" dirty="0" err="1" smtClean="0"/>
              <a:t>node'dan</a:t>
            </a:r>
            <a:r>
              <a:rPr lang="tr-TR" dirty="0" smtClean="0"/>
              <a:t> en fazla bir defa geçer)</a:t>
            </a:r>
          </a:p>
          <a:p>
            <a:r>
              <a:rPr lang="tr-TR" dirty="0" smtClean="0"/>
              <a:t>Aynı zamanda bütün bu yollar en fazla (N-1) </a:t>
            </a:r>
            <a:r>
              <a:rPr lang="tr-TR" dirty="0" err="1" smtClean="0"/>
              <a:t>edge</a:t>
            </a:r>
            <a:r>
              <a:rPr lang="tr-TR" dirty="0" smtClean="0"/>
              <a:t> içerir. </a:t>
            </a:r>
          </a:p>
          <a:p>
            <a:r>
              <a:rPr lang="tr-TR" dirty="0" smtClean="0"/>
              <a:t>(Bu gözlemi farklı bir yolla ileride gelecek olan </a:t>
            </a:r>
            <a:r>
              <a:rPr lang="tr-TR" dirty="0" err="1" smtClean="0"/>
              <a:t>FloydWarshall'da</a:t>
            </a:r>
            <a:r>
              <a:rPr lang="tr-TR" dirty="0" smtClean="0"/>
              <a:t> da kullanacağız.)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Neden?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Çünkü N-1 den fazla </a:t>
            </a:r>
            <a:r>
              <a:rPr lang="tr-TR" dirty="0" err="1" smtClean="0"/>
              <a:t>edge</a:t>
            </a:r>
            <a:r>
              <a:rPr lang="tr-TR" dirty="0" smtClean="0"/>
              <a:t> içeren bir yol en az bir </a:t>
            </a:r>
            <a:r>
              <a:rPr lang="tr-TR" dirty="0" err="1" smtClean="0"/>
              <a:t>node'dan</a:t>
            </a:r>
            <a:r>
              <a:rPr lang="tr-TR" dirty="0" smtClean="0"/>
              <a:t> birden fazla kez geçmek zorundadır. </a:t>
            </a:r>
          </a:p>
          <a:p>
            <a:r>
              <a:rPr lang="tr-TR" dirty="0" smtClean="0"/>
              <a:t>Bu da o </a:t>
            </a:r>
            <a:r>
              <a:rPr lang="tr-TR" dirty="0" err="1" smtClean="0"/>
              <a:t>node'a</a:t>
            </a:r>
            <a:r>
              <a:rPr lang="tr-TR" dirty="0" smtClean="0"/>
              <a:t> ilk gelişimizle ikinci gelişimiz arasında bir </a:t>
            </a:r>
            <a:r>
              <a:rPr lang="tr-TR" dirty="0" err="1" smtClean="0"/>
              <a:t>cycle</a:t>
            </a:r>
            <a:r>
              <a:rPr lang="tr-TR" dirty="0" smtClean="0"/>
              <a:t> olduğunu gösterir. </a:t>
            </a:r>
          </a:p>
          <a:p>
            <a:r>
              <a:rPr lang="tr-TR" dirty="0" smtClean="0"/>
              <a:t>Negatif uzunluklu </a:t>
            </a:r>
            <a:r>
              <a:rPr lang="tr-TR" dirty="0" err="1" smtClean="0"/>
              <a:t>cycle</a:t>
            </a:r>
            <a:r>
              <a:rPr lang="tr-TR" dirty="0" smtClean="0"/>
              <a:t> olmadığına göre, bu </a:t>
            </a:r>
            <a:r>
              <a:rPr lang="tr-TR" dirty="0" err="1" smtClean="0"/>
              <a:t>cycle'ı</a:t>
            </a:r>
            <a:r>
              <a:rPr lang="tr-TR" dirty="0" smtClean="0"/>
              <a:t> sildiğimizde sonucumuz hiçbir zaman daha kötüye gidemez. </a:t>
            </a:r>
          </a:p>
          <a:p>
            <a:r>
              <a:rPr lang="tr-TR" dirty="0" smtClean="0"/>
              <a:t>Örneğin 1-4-3-6-2-4-5 şeklinde bir yol takip ediyorsak,bunun yerine 1-4-5 i takip etmemiz daha uygun olacaktır.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/>
            </a:r>
            <a:b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</a:br>
            <a:r>
              <a:rPr lang="tr-TR" dirty="0" err="1" smtClean="0">
                <a:solidFill>
                  <a:srgbClr val="7030A0"/>
                </a:solidFill>
                <a:latin typeface="Bodoni MT Black" pitchFamily="18" charset="0"/>
              </a:rPr>
              <a:t>Bellman</a:t>
            </a:r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-Ford Algoritması</a:t>
            </a:r>
            <a:b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</a:b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2000240"/>
            <a:ext cx="8229600" cy="4429156"/>
          </a:xfrm>
        </p:spPr>
        <p:txBody>
          <a:bodyPr>
            <a:normAutofit fontScale="77500" lnSpcReduction="20000"/>
          </a:bodyPr>
          <a:lstStyle/>
          <a:p>
            <a:r>
              <a:rPr lang="tr-TR" dirty="0" smtClean="0"/>
              <a:t>Tüm </a:t>
            </a:r>
            <a:r>
              <a:rPr lang="tr-TR" dirty="0" err="1" smtClean="0"/>
              <a:t>node'lar</a:t>
            </a:r>
            <a:r>
              <a:rPr lang="tr-TR" dirty="0" smtClean="0"/>
              <a:t> için o </a:t>
            </a:r>
            <a:r>
              <a:rPr lang="tr-TR" dirty="0" err="1" smtClean="0"/>
              <a:t>node'a</a:t>
            </a:r>
            <a:r>
              <a:rPr lang="tr-TR" dirty="0" smtClean="0"/>
              <a:t> başlangıç </a:t>
            </a:r>
            <a:r>
              <a:rPr lang="tr-TR" dirty="0" err="1" smtClean="0"/>
              <a:t>node'undan</a:t>
            </a:r>
            <a:r>
              <a:rPr lang="tr-TR" dirty="0" smtClean="0"/>
              <a:t> gelişimizi tutalım. (mark[i])</a:t>
            </a:r>
          </a:p>
          <a:p>
            <a:r>
              <a:rPr lang="tr-TR" dirty="0" smtClean="0"/>
              <a:t>Başlangıç </a:t>
            </a:r>
            <a:r>
              <a:rPr lang="tr-TR" dirty="0" err="1" smtClean="0"/>
              <a:t>node'una</a:t>
            </a:r>
            <a:r>
              <a:rPr lang="tr-TR" dirty="0" smtClean="0"/>
              <a:t> gelişimizi sıfır, diğerlerini sonsuz yapalım. (mark[s]=0;mark[i]=</a:t>
            </a:r>
            <a:r>
              <a:rPr lang="tr-TR" dirty="0" err="1" smtClean="0"/>
              <a:t>inf</a:t>
            </a:r>
            <a:r>
              <a:rPr lang="tr-TR" dirty="0" smtClean="0"/>
              <a:t>;)</a:t>
            </a:r>
          </a:p>
          <a:p>
            <a:r>
              <a:rPr lang="tr-TR" dirty="0" smtClean="0"/>
              <a:t>Sonra </a:t>
            </a:r>
            <a:r>
              <a:rPr lang="tr-TR" dirty="0" err="1" smtClean="0"/>
              <a:t>node</a:t>
            </a:r>
            <a:r>
              <a:rPr lang="tr-TR" dirty="0" smtClean="0"/>
              <a:t> sayısı kadar tekrarlayalım, her tekrarda bütün </a:t>
            </a:r>
            <a:r>
              <a:rPr lang="tr-TR" dirty="0" err="1" smtClean="0"/>
              <a:t>edge'leri</a:t>
            </a:r>
            <a:r>
              <a:rPr lang="tr-TR" dirty="0" smtClean="0"/>
              <a:t>, bu </a:t>
            </a:r>
            <a:r>
              <a:rPr lang="tr-TR" dirty="0" err="1" smtClean="0"/>
              <a:t>edge'i</a:t>
            </a:r>
            <a:r>
              <a:rPr lang="tr-TR" dirty="0" smtClean="0"/>
              <a:t> kullanmak mantıklı mı diye deneyelim.</a:t>
            </a:r>
          </a:p>
          <a:p>
            <a:r>
              <a:rPr lang="tr-TR" dirty="0" smtClean="0"/>
              <a:t>Yani bu </a:t>
            </a:r>
            <a:r>
              <a:rPr lang="tr-TR" dirty="0" err="1" smtClean="0"/>
              <a:t>edge'i</a:t>
            </a:r>
            <a:r>
              <a:rPr lang="tr-TR" dirty="0" smtClean="0"/>
              <a:t> kullandığımızda </a:t>
            </a:r>
            <a:r>
              <a:rPr lang="tr-TR" dirty="0" err="1" smtClean="0"/>
              <a:t>edge'in</a:t>
            </a:r>
            <a:r>
              <a:rPr lang="tr-TR" dirty="0" smtClean="0"/>
              <a:t> uçlarından birinin maliyeti azalıyorsa oranın maliyetini güncelleyelim.</a:t>
            </a:r>
          </a:p>
          <a:p>
            <a:r>
              <a:rPr lang="tr-TR" dirty="0" smtClean="0"/>
              <a:t>Örneğin bir </a:t>
            </a:r>
            <a:r>
              <a:rPr lang="tr-TR" dirty="0" err="1" smtClean="0"/>
              <a:t>edge</a:t>
            </a:r>
            <a:r>
              <a:rPr lang="tr-TR" dirty="0" smtClean="0"/>
              <a:t> A ve B </a:t>
            </a:r>
            <a:r>
              <a:rPr lang="tr-TR" dirty="0" err="1" smtClean="0"/>
              <a:t>node'larını</a:t>
            </a:r>
            <a:r>
              <a:rPr lang="tr-TR" dirty="0" smtClean="0"/>
              <a:t> bağlıyor olsun ve ağırlığı x olsun. Eğer mark[a]+x &lt; mark[b] ise mark[b] </a:t>
            </a:r>
            <a:r>
              <a:rPr lang="tr-TR" dirty="0" err="1" smtClean="0"/>
              <a:t>yi</a:t>
            </a:r>
            <a:r>
              <a:rPr lang="tr-TR" dirty="0" smtClean="0"/>
              <a:t> mark[a]+x yapabiliriz.</a:t>
            </a:r>
          </a:p>
          <a:p>
            <a:r>
              <a:rPr lang="tr-TR" dirty="0" smtClean="0"/>
              <a:t>Çünkü o </a:t>
            </a:r>
            <a:r>
              <a:rPr lang="tr-TR" dirty="0" err="1" smtClean="0"/>
              <a:t>edge'i</a:t>
            </a:r>
            <a:r>
              <a:rPr lang="tr-TR" dirty="0" smtClean="0"/>
              <a:t> kullanarak bunu elde edebiliriz.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/>
          <a:lstStyle/>
          <a:p>
            <a:r>
              <a:rPr lang="tr-TR" sz="2800" dirty="0" smtClean="0"/>
              <a:t>T inci tekrardan sonra tüm </a:t>
            </a:r>
            <a:r>
              <a:rPr lang="tr-TR" sz="2800" dirty="0" err="1" smtClean="0"/>
              <a:t>SP'lerin</a:t>
            </a:r>
            <a:r>
              <a:rPr lang="tr-TR" sz="2800" dirty="0" smtClean="0"/>
              <a:t> ilk T adımı tamamlanmış olacaktır. Bir daha da değişmeyecektir. (birazdan kısaca ispatlayacağız)</a:t>
            </a:r>
          </a:p>
          <a:p>
            <a:r>
              <a:rPr lang="tr-TR" sz="2800" dirty="0" smtClean="0"/>
              <a:t>Bütün </a:t>
            </a:r>
            <a:r>
              <a:rPr lang="tr-TR" sz="2800" dirty="0" err="1" smtClean="0"/>
              <a:t>SP'ler</a:t>
            </a:r>
            <a:r>
              <a:rPr lang="tr-TR" sz="2800" dirty="0" smtClean="0"/>
              <a:t> </a:t>
            </a:r>
            <a:r>
              <a:rPr lang="tr-TR" sz="2800" dirty="0" err="1" smtClean="0"/>
              <a:t>simple</a:t>
            </a:r>
            <a:r>
              <a:rPr lang="tr-TR" sz="2800" dirty="0" smtClean="0"/>
              <a:t> olduğu için, en fazla N-1 tekrar sonra hepsini bulmuş oluruz. (bundan bahsetmiştik hatırlayın)</a:t>
            </a:r>
          </a:p>
          <a:p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286124"/>
            <a:ext cx="7181850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Hipotez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 Herhangi bir t </a:t>
            </a:r>
            <a:r>
              <a:rPr lang="tr-TR" dirty="0" err="1" smtClean="0"/>
              <a:t>node'u</a:t>
            </a:r>
            <a:r>
              <a:rPr lang="tr-TR" dirty="0" smtClean="0"/>
              <a:t> için SP v0,v1,...,</a:t>
            </a:r>
            <a:r>
              <a:rPr lang="tr-TR" dirty="0" err="1" smtClean="0"/>
              <a:t>vk</a:t>
            </a:r>
            <a:r>
              <a:rPr lang="tr-TR" dirty="0" smtClean="0"/>
              <a:t> </a:t>
            </a:r>
            <a:r>
              <a:rPr lang="tr-TR" dirty="0" err="1" smtClean="0"/>
              <a:t>node'larından</a:t>
            </a:r>
            <a:r>
              <a:rPr lang="tr-TR" dirty="0" smtClean="0"/>
              <a:t> oluşsun. Burada v0=s ve </a:t>
            </a:r>
            <a:r>
              <a:rPr lang="tr-TR" dirty="0" err="1" smtClean="0"/>
              <a:t>vk</a:t>
            </a:r>
            <a:r>
              <a:rPr lang="tr-TR" dirty="0" smtClean="0"/>
              <a:t>=t </a:t>
            </a:r>
            <a:r>
              <a:rPr lang="tr-TR" dirty="0" err="1" smtClean="0"/>
              <a:t>dir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Bellman</a:t>
            </a:r>
            <a:r>
              <a:rPr lang="tr-TR" dirty="0" smtClean="0"/>
              <a:t> Ford'un p. tekrarından sonra (p&lt;=k) v0,v1,v2,...,</a:t>
            </a:r>
            <a:r>
              <a:rPr lang="tr-TR" dirty="0" err="1" smtClean="0"/>
              <a:t>vp</a:t>
            </a:r>
            <a:r>
              <a:rPr lang="tr-TR" dirty="0" smtClean="0"/>
              <a:t> </a:t>
            </a:r>
            <a:r>
              <a:rPr lang="tr-TR" dirty="0" err="1" smtClean="0"/>
              <a:t>node'larının</a:t>
            </a:r>
            <a:r>
              <a:rPr lang="tr-TR" dirty="0" smtClean="0"/>
              <a:t> SP </a:t>
            </a:r>
            <a:r>
              <a:rPr lang="tr-TR" dirty="0" err="1" smtClean="0"/>
              <a:t>leri</a:t>
            </a:r>
            <a:r>
              <a:rPr lang="tr-TR" dirty="0" smtClean="0"/>
              <a:t> bulunmuş olur.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rgbClr val="7030A0"/>
                </a:solidFill>
                <a:latin typeface="Bodoni MT Black" pitchFamily="18" charset="0"/>
              </a:rPr>
              <a:t>Ispat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625989"/>
          </a:xfrm>
        </p:spPr>
        <p:txBody>
          <a:bodyPr>
            <a:normAutofit fontScale="92500" lnSpcReduction="20000"/>
          </a:bodyPr>
          <a:lstStyle/>
          <a:p>
            <a:r>
              <a:rPr lang="tr-TR" dirty="0" smtClean="0"/>
              <a:t>Bunu açıklarken önce basit durumdan başlayalım:</a:t>
            </a:r>
          </a:p>
          <a:p>
            <a:r>
              <a:rPr lang="tr-TR" dirty="0"/>
              <a:t>p</a:t>
            </a:r>
            <a:r>
              <a:rPr lang="tr-TR" dirty="0" smtClean="0"/>
              <a:t>=0 iken, s </a:t>
            </a:r>
            <a:r>
              <a:rPr lang="tr-TR" dirty="0" err="1" smtClean="0"/>
              <a:t>node'undan</a:t>
            </a:r>
            <a:r>
              <a:rPr lang="tr-TR" dirty="0" smtClean="0"/>
              <a:t> kendine giden en kısa yol sıfırdır, bu veriyi baştan biliyoruz zaten.</a:t>
            </a:r>
          </a:p>
          <a:p>
            <a:r>
              <a:rPr lang="tr-TR" dirty="0" smtClean="0"/>
              <a:t>Sonra bunu genişletip </a:t>
            </a:r>
            <a:r>
              <a:rPr lang="tr-TR" dirty="0" err="1" smtClean="0"/>
              <a:t>tümevaralım</a:t>
            </a:r>
            <a:r>
              <a:rPr lang="tr-TR" dirty="0" smtClean="0"/>
              <a:t>. J adım sonra </a:t>
            </a:r>
            <a:r>
              <a:rPr lang="tr-TR" dirty="0" err="1" smtClean="0"/>
              <a:t>vj</a:t>
            </a:r>
            <a:r>
              <a:rPr lang="tr-TR" dirty="0" smtClean="0"/>
              <a:t> ye giden SP bulunmuştur. Biz de </a:t>
            </a:r>
            <a:r>
              <a:rPr lang="tr-TR" dirty="0" err="1" smtClean="0"/>
              <a:t>vj'ye</a:t>
            </a:r>
            <a:r>
              <a:rPr lang="tr-TR" dirty="0" smtClean="0"/>
              <a:t> komşu olanların değerini güncelleriz.</a:t>
            </a:r>
          </a:p>
          <a:p>
            <a:r>
              <a:rPr lang="tr-TR" dirty="0" smtClean="0"/>
              <a:t>Böylece v(j+1) i buluruz. Burada </a:t>
            </a:r>
            <a:r>
              <a:rPr lang="tr-TR" dirty="0" err="1" smtClean="0"/>
              <a:t>BellmanFord</a:t>
            </a:r>
            <a:r>
              <a:rPr lang="tr-TR" dirty="0" smtClean="0"/>
              <a:t> algoritmasının güncelleme yaparken elimizde olandan büyük sonuçları önemsemeyeceğini ve gerçek sonuçtan küçük bir sonuç asla bulamayacağını unutmayın.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Negatif </a:t>
            </a:r>
            <a:r>
              <a:rPr lang="tr-TR" dirty="0" err="1" smtClean="0">
                <a:solidFill>
                  <a:srgbClr val="7030A0"/>
                </a:solidFill>
                <a:latin typeface="Bodoni MT Black" pitchFamily="18" charset="0"/>
              </a:rPr>
              <a:t>Cycle’lar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Negatif </a:t>
            </a:r>
            <a:r>
              <a:rPr lang="tr-TR" dirty="0" err="1" smtClean="0"/>
              <a:t>cycle</a:t>
            </a:r>
            <a:r>
              <a:rPr lang="tr-TR" dirty="0" smtClean="0"/>
              <a:t> olmayacağından tüm </a:t>
            </a:r>
            <a:r>
              <a:rPr lang="tr-TR" dirty="0" err="1" smtClean="0"/>
              <a:t>SP'lerin</a:t>
            </a:r>
            <a:r>
              <a:rPr lang="tr-TR" dirty="0" smtClean="0"/>
              <a:t> en fazla N-1 </a:t>
            </a:r>
            <a:r>
              <a:rPr lang="tr-TR" dirty="0" err="1" smtClean="0"/>
              <a:t>edge</a:t>
            </a:r>
            <a:r>
              <a:rPr lang="tr-TR" dirty="0" smtClean="0"/>
              <a:t> içereceğini söylemiştik.</a:t>
            </a:r>
          </a:p>
          <a:p>
            <a:r>
              <a:rPr lang="tr-TR" dirty="0" smtClean="0"/>
              <a:t>Yani </a:t>
            </a:r>
            <a:r>
              <a:rPr lang="tr-TR" dirty="0" err="1" smtClean="0"/>
              <a:t>BellmanFord</a:t>
            </a:r>
            <a:r>
              <a:rPr lang="tr-TR" dirty="0" smtClean="0"/>
              <a:t> N-1 tekrardan sonra tüm </a:t>
            </a:r>
            <a:r>
              <a:rPr lang="tr-TR" dirty="0" err="1" smtClean="0"/>
              <a:t>SP'leri</a:t>
            </a:r>
            <a:r>
              <a:rPr lang="tr-TR" dirty="0" smtClean="0"/>
              <a:t> bulmuş olur.</a:t>
            </a:r>
          </a:p>
          <a:p>
            <a:r>
              <a:rPr lang="tr-TR" dirty="0" smtClean="0"/>
              <a:t>Eğer bulamadıysa negatif </a:t>
            </a:r>
            <a:r>
              <a:rPr lang="tr-TR" dirty="0" err="1" smtClean="0"/>
              <a:t>cycle</a:t>
            </a:r>
            <a:r>
              <a:rPr lang="tr-TR" dirty="0" smtClean="0"/>
              <a:t> var demektir.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Negatif </a:t>
            </a:r>
            <a:r>
              <a:rPr lang="tr-TR" dirty="0" err="1" smtClean="0">
                <a:solidFill>
                  <a:srgbClr val="7030A0"/>
                </a:solidFill>
                <a:latin typeface="Bodoni MT Black" pitchFamily="18" charset="0"/>
              </a:rPr>
              <a:t>Cycle</a:t>
            </a:r>
            <a:r>
              <a:rPr lang="tr-TR" dirty="0" smtClean="0">
                <a:solidFill>
                  <a:srgbClr val="7030A0"/>
                </a:solidFill>
                <a:latin typeface="Bodoni MT Black" pitchFamily="18" charset="0"/>
              </a:rPr>
              <a:t> Nasıl Bulunur?</a:t>
            </a:r>
            <a:endParaRPr lang="tr-TR" dirty="0">
              <a:solidFill>
                <a:srgbClr val="7030A0"/>
              </a:solidFill>
              <a:latin typeface="Bodoni MT Black" pitchFamily="18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57784"/>
          </a:xfrm>
        </p:spPr>
        <p:txBody>
          <a:bodyPr>
            <a:normAutofit fontScale="85000" lnSpcReduction="20000"/>
          </a:bodyPr>
          <a:lstStyle/>
          <a:p>
            <a:r>
              <a:rPr lang="tr-TR" dirty="0" err="1" smtClean="0"/>
              <a:t>BellmanFord</a:t>
            </a:r>
            <a:r>
              <a:rPr lang="tr-TR" dirty="0" smtClean="0"/>
              <a:t> algoritmasını N-1 kez tüm </a:t>
            </a:r>
            <a:r>
              <a:rPr lang="tr-TR" dirty="0" err="1" smtClean="0"/>
              <a:t>edge'leri</a:t>
            </a:r>
            <a:r>
              <a:rPr lang="tr-TR" dirty="0" smtClean="0"/>
              <a:t> deneyecek şekilde çalıştıralım.</a:t>
            </a:r>
          </a:p>
          <a:p>
            <a:r>
              <a:rPr lang="tr-TR" dirty="0" smtClean="0"/>
              <a:t>Daha sonra bir defa daha tüm </a:t>
            </a:r>
            <a:r>
              <a:rPr lang="tr-TR" dirty="0" err="1" smtClean="0"/>
              <a:t>edge'lere</a:t>
            </a:r>
            <a:r>
              <a:rPr lang="tr-TR" dirty="0" smtClean="0"/>
              <a:t> bakıp kullanmak mantıklı mı diye soralım. </a:t>
            </a:r>
          </a:p>
          <a:p>
            <a:r>
              <a:rPr lang="tr-TR" dirty="0" smtClean="0"/>
              <a:t>Eğer hala bir yerlerden daha iyi bir sonuç elde edebiliyorsak negatif </a:t>
            </a:r>
            <a:r>
              <a:rPr lang="tr-TR" dirty="0" err="1" smtClean="0"/>
              <a:t>cycle</a:t>
            </a:r>
            <a:r>
              <a:rPr lang="tr-TR" dirty="0" smtClean="0"/>
              <a:t> vardır.</a:t>
            </a:r>
          </a:p>
          <a:p>
            <a:r>
              <a:rPr lang="tr-TR" dirty="0" smtClean="0"/>
              <a:t>Ayrıca N-1 tekrarın her birinde, bu tekrar sırasında hiç güncelleme yapıldı mı diye kontrol edelim.</a:t>
            </a:r>
          </a:p>
          <a:p>
            <a:r>
              <a:rPr lang="tr-TR" dirty="0" smtClean="0"/>
              <a:t>Eğer yapılmadıysa bir daha hiçbir sonuç iyileşmeyecektir. Algoritmanın daha fazla çalışmasına gerek yoktur. Break yapıp zamandan tasarruf yapabiliriz.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97472" cy="614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Metin kutusu"/>
          <p:cNvSpPr txBox="1"/>
          <p:nvPr/>
        </p:nvSpPr>
        <p:spPr>
          <a:xfrm>
            <a:off x="0" y="614364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Anlaşılmayan yerler, sorular için </a:t>
            </a:r>
            <a:r>
              <a:rPr lang="tr-TR" dirty="0" err="1" smtClean="0">
                <a:hlinkClick r:id="rId3"/>
              </a:rPr>
              <a:t>afgedemenli</a:t>
            </a:r>
            <a:r>
              <a:rPr lang="tr-TR" dirty="0" smtClean="0">
                <a:hlinkClick r:id="rId3"/>
              </a:rPr>
              <a:t>@</a:t>
            </a:r>
            <a:r>
              <a:rPr lang="tr-TR" dirty="0" err="1" smtClean="0">
                <a:hlinkClick r:id="rId3"/>
              </a:rPr>
              <a:t>gmail</a:t>
            </a:r>
            <a:r>
              <a:rPr lang="tr-TR" dirty="0" smtClean="0">
                <a:hlinkClick r:id="rId3"/>
              </a:rPr>
              <a:t>.com</a:t>
            </a:r>
            <a:endParaRPr lang="tr-TR" dirty="0" smtClean="0"/>
          </a:p>
          <a:p>
            <a:r>
              <a:rPr lang="tr-TR" smtClean="0"/>
              <a:t>Kolay gelsin…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675</Words>
  <Application>Microsoft Office PowerPoint</Application>
  <PresentationFormat>Ekran Gösterisi (4:3)</PresentationFormat>
  <Paragraphs>58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Ofis Teması</vt:lpstr>
      <vt:lpstr>SINGLE SOURCE SHORTEST PATH (TEK KAYNAKLI SP)</vt:lpstr>
      <vt:lpstr>Problem</vt:lpstr>
      <vt:lpstr>Edge’leri pozitife çevirmek?</vt:lpstr>
      <vt:lpstr>YANLIS</vt:lpstr>
      <vt:lpstr>Slayt 5</vt:lpstr>
      <vt:lpstr>Anahtar Gözlem</vt:lpstr>
      <vt:lpstr>Neden?</vt:lpstr>
      <vt:lpstr> Bellman-Ford Algoritması </vt:lpstr>
      <vt:lpstr>Slayt 9</vt:lpstr>
      <vt:lpstr>Hipotez</vt:lpstr>
      <vt:lpstr>Ispat</vt:lpstr>
      <vt:lpstr>Negatif Cycle’lar</vt:lpstr>
      <vt:lpstr>Negatif Cycle Nasıl Bulunur?</vt:lpstr>
      <vt:lpstr>Slayt 14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SOURCE SHORTEST PATH (TEK KAYNAKLI SP)</dc:title>
  <dc:creator>Ahmet</dc:creator>
  <cp:lastModifiedBy>Ahmet</cp:lastModifiedBy>
  <cp:revision>18</cp:revision>
  <dcterms:created xsi:type="dcterms:W3CDTF">2013-08-03T23:54:09Z</dcterms:created>
  <dcterms:modified xsi:type="dcterms:W3CDTF">2013-08-04T00:48:06Z</dcterms:modified>
</cp:coreProperties>
</file>