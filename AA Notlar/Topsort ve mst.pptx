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392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80C04-B3C3-473E-B2EF-A98FB5F46D7E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EC119-E756-4DC1-BE8F-3EB3BB4E7E69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5D3E95-24DE-469D-92D1-E9EF337E9505}" type="slidenum">
              <a:rPr lang="en-US"/>
              <a:pPr/>
              <a:t>8</a:t>
            </a:fld>
            <a:endParaRPr lang="en-US"/>
          </a:p>
        </p:txBody>
      </p:sp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980" y="4343709"/>
            <a:ext cx="5030040" cy="4113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F1677E-6662-45ED-ACF8-FD3DFD0CA19C}" type="slidenum">
              <a:rPr lang="en-US"/>
              <a:pPr/>
              <a:t>9</a:t>
            </a:fld>
            <a:endParaRPr lang="en-US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980" y="4343709"/>
            <a:ext cx="5030040" cy="4113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2AD6E-7AB2-4433-B8DA-7F2071EB8D3F}" type="datetimeFigureOut">
              <a:rPr lang="tr-TR" smtClean="0"/>
              <a:pPr/>
              <a:t>4.8.2013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B808E-81B9-4D0D-A5EE-44E4BD15D84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90600"/>
            <a:ext cx="7772400" cy="1905000"/>
          </a:xfrm>
        </p:spPr>
        <p:txBody>
          <a:bodyPr/>
          <a:lstStyle/>
          <a:p>
            <a:r>
              <a:rPr lang="en-US" dirty="0" smtClean="0"/>
              <a:t>Topological Sort </a:t>
            </a:r>
            <a:r>
              <a:rPr lang="en-US" dirty="0" err="1" smtClean="0"/>
              <a:t>ve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Minimum Spanning </a:t>
            </a:r>
            <a:r>
              <a:rPr lang="en-US" dirty="0" smtClean="0"/>
              <a:t>Tree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3DE26ECE-5E43-428F-A207-4558C425D2F3}" type="slidenum">
              <a:rPr lang="en-US"/>
              <a:pPr/>
              <a:t>2</a:t>
            </a:fld>
            <a:endParaRPr lang="en-US"/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Konular</a:t>
            </a:r>
            <a:endParaRPr lang="en-US" dirty="0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1619250"/>
            <a:ext cx="7772400" cy="4114800"/>
          </a:xfrm>
        </p:spPr>
        <p:txBody>
          <a:bodyPr/>
          <a:lstStyle/>
          <a:p>
            <a:r>
              <a:rPr lang="en-US" dirty="0" smtClean="0"/>
              <a:t>Graph </a:t>
            </a:r>
            <a:r>
              <a:rPr lang="en-US" dirty="0" err="1" smtClean="0"/>
              <a:t>Terminoloji</a:t>
            </a:r>
            <a:endParaRPr lang="en-US" dirty="0"/>
          </a:p>
          <a:p>
            <a:r>
              <a:rPr lang="en-US" dirty="0"/>
              <a:t>Topological sort</a:t>
            </a:r>
          </a:p>
          <a:p>
            <a:r>
              <a:rPr lang="en-US" dirty="0" smtClean="0"/>
              <a:t>Minimal </a:t>
            </a:r>
            <a:r>
              <a:rPr lang="en-US" dirty="0"/>
              <a:t>Spanning </a:t>
            </a:r>
            <a:r>
              <a:rPr lang="en-US" dirty="0" smtClean="0"/>
              <a:t>Tree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2776538" y="2438400"/>
            <a:ext cx="3071675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4000" i="1" dirty="0">
                <a:solidFill>
                  <a:srgbClr val="CC3300"/>
                </a:solidFill>
                <a:latin typeface="Verdana" pitchFamily="34" charset="0"/>
              </a:rPr>
              <a:t>Graph</a:t>
            </a:r>
          </a:p>
          <a:p>
            <a:pPr algn="ctr"/>
            <a:r>
              <a:rPr lang="en-US" sz="4000" i="1" dirty="0" err="1" smtClean="0">
                <a:solidFill>
                  <a:srgbClr val="CC3300"/>
                </a:solidFill>
                <a:latin typeface="Verdana" pitchFamily="34" charset="0"/>
              </a:rPr>
              <a:t>Terminoloji</a:t>
            </a:r>
            <a:endParaRPr kumimoji="1" lang="en-US" dirty="0"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A4C0FFDF-141B-4CFE-AFA8-210835DBB177}" type="slidenum">
              <a:rPr lang="en-US"/>
              <a:pPr/>
              <a:t>4</a:t>
            </a:fld>
            <a:endParaRPr lang="en-US"/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 </a:t>
            </a:r>
            <a:r>
              <a:rPr lang="en-US" dirty="0" err="1" smtClean="0"/>
              <a:t>ve</a:t>
            </a:r>
            <a:r>
              <a:rPr lang="en-US" dirty="0" smtClean="0"/>
              <a:t> cycle</a:t>
            </a:r>
            <a:endParaRPr lang="en-US" dirty="0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7550"/>
            <a:ext cx="7772400" cy="380365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 i="1" dirty="0" smtClean="0">
                <a:solidFill>
                  <a:srgbClr val="3366FF"/>
                </a:solidFill>
              </a:rPr>
              <a:t>path</a:t>
            </a:r>
            <a:r>
              <a:rPr lang="en-US" sz="2400" dirty="0" smtClean="0"/>
              <a:t> node </a:t>
            </a:r>
            <a:r>
              <a:rPr lang="en-US" sz="2400" dirty="0" err="1" smtClean="0"/>
              <a:t>lar</a:t>
            </a:r>
            <a:r>
              <a:rPr lang="en-US" sz="2400" dirty="0" smtClean="0"/>
              <a:t> </a:t>
            </a:r>
            <a:r>
              <a:rPr lang="en-US" sz="2400" dirty="0" err="1" smtClean="0"/>
              <a:t>dizisidir</a:t>
            </a:r>
            <a:r>
              <a:rPr lang="en-US" sz="2400" dirty="0" smtClean="0"/>
              <a:t>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v</a:t>
            </a:r>
            <a:r>
              <a:rPr lang="en-US" sz="2400" baseline="-25000" dirty="0"/>
              <a:t>1</a:t>
            </a:r>
            <a:r>
              <a:rPr lang="en-US" sz="2400" dirty="0"/>
              <a:t>, v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v</a:t>
            </a:r>
            <a:r>
              <a:rPr lang="en-US" sz="2400" baseline="-25000" dirty="0" err="1"/>
              <a:t>N</a:t>
            </a:r>
            <a:r>
              <a:rPr lang="en-US" sz="2400" dirty="0"/>
              <a:t> </a:t>
            </a:r>
            <a:r>
              <a:rPr lang="en-US" sz="2400" dirty="0" err="1" smtClean="0"/>
              <a:t>ancak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sart</a:t>
            </a:r>
            <a:r>
              <a:rPr lang="en-US" sz="2400" dirty="0" smtClean="0"/>
              <a:t> </a:t>
            </a:r>
            <a:r>
              <a:rPr lang="en-US" sz="2400" dirty="0" err="1" smtClean="0"/>
              <a:t>saglanmalidir</a:t>
            </a:r>
            <a:r>
              <a:rPr lang="en-US" sz="2400" dirty="0" smtClean="0"/>
              <a:t>      (v</a:t>
            </a:r>
            <a:r>
              <a:rPr lang="en-US" sz="2400" i="1" baseline="-25000" dirty="0" smtClean="0"/>
              <a:t>i</a:t>
            </a:r>
            <a:r>
              <a:rPr lang="en-US" sz="2400" dirty="0" smtClean="0"/>
              <a:t>,v</a:t>
            </a:r>
            <a:r>
              <a:rPr lang="en-US" sz="2400" i="1" baseline="-25000" dirty="0" smtClean="0"/>
              <a:t>i</a:t>
            </a:r>
            <a:r>
              <a:rPr lang="en-US" sz="2400" baseline="-25000" dirty="0" smtClean="0"/>
              <a:t>+1</a:t>
            </a:r>
            <a:r>
              <a:rPr lang="en-US" sz="2400" dirty="0"/>
              <a:t>)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dirty="0"/>
              <a:t>E for 0&lt;</a:t>
            </a:r>
            <a:r>
              <a:rPr lang="en-US" sz="2400" i="1" dirty="0" err="1"/>
              <a:t>i</a:t>
            </a:r>
            <a:r>
              <a:rPr lang="en-US" sz="2400" dirty="0"/>
              <a:t>&lt;N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dirty="0" smtClean="0"/>
              <a:t>Bu path in </a:t>
            </a:r>
            <a:r>
              <a:rPr lang="en-US" dirty="0" err="1" smtClean="0"/>
              <a:t>uzunlugu</a:t>
            </a:r>
            <a:r>
              <a:rPr lang="en-US" dirty="0" smtClean="0"/>
              <a:t> N-1 dir.</a:t>
            </a:r>
            <a:endParaRPr lang="en-US" dirty="0"/>
          </a:p>
          <a:p>
            <a:pPr lvl="1" algn="just">
              <a:lnSpc>
                <a:spcPct val="80000"/>
              </a:lnSpc>
            </a:pPr>
            <a:r>
              <a:rPr lang="en-US" i="1" dirty="0" smtClean="0">
                <a:solidFill>
                  <a:srgbClr val="3366FF"/>
                </a:solidFill>
              </a:rPr>
              <a:t>Simple(</a:t>
            </a:r>
            <a:r>
              <a:rPr lang="en-US" i="1" dirty="0" err="1" smtClean="0">
                <a:solidFill>
                  <a:srgbClr val="3366FF"/>
                </a:solidFill>
              </a:rPr>
              <a:t>basit</a:t>
            </a:r>
            <a:r>
              <a:rPr lang="en-US" i="1" dirty="0" smtClean="0">
                <a:solidFill>
                  <a:srgbClr val="3366FF"/>
                </a:solidFill>
              </a:rPr>
              <a:t>) path</a:t>
            </a:r>
            <a:r>
              <a:rPr lang="en-US" dirty="0" smtClean="0"/>
              <a:t>: </a:t>
            </a:r>
            <a:r>
              <a:rPr lang="en-US" dirty="0" err="1" smtClean="0"/>
              <a:t>gezdigi</a:t>
            </a:r>
            <a:r>
              <a:rPr lang="en-US" dirty="0" smtClean="0"/>
              <a:t> </a:t>
            </a:r>
            <a:r>
              <a:rPr lang="en-US" dirty="0" err="1" smtClean="0"/>
              <a:t>tum</a:t>
            </a:r>
            <a:r>
              <a:rPr lang="en-US" dirty="0" smtClean="0"/>
              <a:t> node </a:t>
            </a:r>
            <a:r>
              <a:rPr lang="en-US" dirty="0" err="1" smtClean="0"/>
              <a:t>lar</a:t>
            </a:r>
            <a:r>
              <a:rPr lang="en-US" dirty="0" smtClean="0"/>
              <a:t> </a:t>
            </a:r>
            <a:r>
              <a:rPr lang="en-US" dirty="0" err="1" smtClean="0"/>
              <a:t>farkli</a:t>
            </a:r>
            <a:r>
              <a:rPr lang="en-US" dirty="0" smtClean="0"/>
              <a:t> </a:t>
            </a:r>
            <a:r>
              <a:rPr lang="en-US" dirty="0" err="1" smtClean="0"/>
              <a:t>olan</a:t>
            </a:r>
            <a:r>
              <a:rPr lang="en-US" dirty="0" smtClean="0"/>
              <a:t> </a:t>
            </a:r>
            <a:endParaRPr lang="en-US" dirty="0"/>
          </a:p>
          <a:p>
            <a:pPr>
              <a:lnSpc>
                <a:spcPct val="80000"/>
              </a:lnSpc>
              <a:spcBef>
                <a:spcPct val="200000"/>
              </a:spcBef>
            </a:pPr>
            <a:r>
              <a:rPr lang="en-US" sz="2400" i="1" dirty="0" smtClean="0">
                <a:solidFill>
                  <a:srgbClr val="3366FF"/>
                </a:solidFill>
              </a:rPr>
              <a:t>Cycle </a:t>
            </a:r>
            <a:r>
              <a:rPr lang="en-US" sz="2400" dirty="0" smtClean="0"/>
              <a:t>v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</a:t>
            </a:r>
            <a:r>
              <a:rPr lang="en-US" sz="2400" dirty="0" err="1" smtClean="0"/>
              <a:t>v</a:t>
            </a:r>
            <a:r>
              <a:rPr lang="en-US" sz="2400" baseline="-25000" dirty="0" err="1" smtClean="0"/>
              <a:t>N</a:t>
            </a:r>
            <a:r>
              <a:rPr lang="en-US" sz="2400" baseline="-25000" dirty="0" smtClean="0"/>
              <a:t> </a:t>
            </a:r>
            <a:r>
              <a:rPr lang="en-US" sz="2400" dirty="0" err="1" smtClean="0"/>
              <a:t>olan</a:t>
            </a:r>
            <a:r>
              <a:rPr lang="en-US" sz="2400" dirty="0" smtClean="0"/>
              <a:t> path dir.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 </a:t>
            </a:r>
            <a:r>
              <a:rPr lang="en-US" i="1" dirty="0" smtClean="0">
                <a:solidFill>
                  <a:srgbClr val="3366FF"/>
                </a:solidFill>
              </a:rPr>
              <a:t>acyclic</a:t>
            </a:r>
            <a:r>
              <a:rPr lang="en-US" dirty="0" smtClean="0"/>
              <a:t> graph cycle </a:t>
            </a:r>
            <a:r>
              <a:rPr lang="en-US" dirty="0" err="1" smtClean="0"/>
              <a:t>icermeyen</a:t>
            </a:r>
            <a:r>
              <a:rPr lang="en-US" dirty="0" smtClean="0"/>
              <a:t> graph </a:t>
            </a:r>
            <a:r>
              <a:rPr lang="en-US" dirty="0" err="1" smtClean="0"/>
              <a:t>tir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559ACC4A-7DB2-454D-81B2-3812AEF04446}" type="slidenum">
              <a:rPr lang="en-US"/>
              <a:pPr/>
              <a:t>5</a:t>
            </a:fld>
            <a:endParaRPr lang="en-US"/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Cycle</a:t>
            </a:r>
            <a:endParaRPr lang="en-US" dirty="0"/>
          </a:p>
        </p:txBody>
      </p:sp>
      <p:sp>
        <p:nvSpPr>
          <p:cNvPr id="140291" name="Oval 3"/>
          <p:cNvSpPr>
            <a:spLocks noChangeArrowheads="1"/>
          </p:cNvSpPr>
          <p:nvPr/>
        </p:nvSpPr>
        <p:spPr bwMode="auto">
          <a:xfrm>
            <a:off x="5943600" y="3200400"/>
            <a:ext cx="762000" cy="762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dirty="0" smtClean="0">
                <a:latin typeface="Verdana" pitchFamily="34" charset="0"/>
              </a:rPr>
              <a:t>4</a:t>
            </a:r>
            <a:endParaRPr lang="en-US" sz="2400" dirty="0">
              <a:latin typeface="Verdana" pitchFamily="34" charset="0"/>
            </a:endParaRPr>
          </a:p>
        </p:txBody>
      </p:sp>
      <p:sp>
        <p:nvSpPr>
          <p:cNvPr id="140292" name="Oval 4"/>
          <p:cNvSpPr>
            <a:spLocks noChangeArrowheads="1"/>
          </p:cNvSpPr>
          <p:nvPr/>
        </p:nvSpPr>
        <p:spPr bwMode="auto">
          <a:xfrm>
            <a:off x="7162800" y="1752600"/>
            <a:ext cx="762000" cy="762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dirty="0" smtClean="0">
                <a:latin typeface="Verdana" pitchFamily="34" charset="0"/>
              </a:rPr>
              <a:t>6</a:t>
            </a:r>
            <a:endParaRPr lang="en-US" sz="2400" dirty="0">
              <a:latin typeface="Verdana" pitchFamily="34" charset="0"/>
            </a:endParaRPr>
          </a:p>
        </p:txBody>
      </p:sp>
      <p:sp>
        <p:nvSpPr>
          <p:cNvPr id="140293" name="Oval 5"/>
          <p:cNvSpPr>
            <a:spLocks noChangeArrowheads="1"/>
          </p:cNvSpPr>
          <p:nvPr/>
        </p:nvSpPr>
        <p:spPr bwMode="auto">
          <a:xfrm>
            <a:off x="7620000" y="3733800"/>
            <a:ext cx="762000" cy="762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dirty="0" smtClean="0">
                <a:latin typeface="Verdana" pitchFamily="34" charset="0"/>
              </a:rPr>
              <a:t>5</a:t>
            </a:r>
            <a:endParaRPr lang="en-US" sz="2400" dirty="0">
              <a:latin typeface="Verdana" pitchFamily="34" charset="0"/>
            </a:endParaRPr>
          </a:p>
        </p:txBody>
      </p:sp>
      <p:sp>
        <p:nvSpPr>
          <p:cNvPr id="140294" name="Oval 6"/>
          <p:cNvSpPr>
            <a:spLocks noChangeArrowheads="1"/>
          </p:cNvSpPr>
          <p:nvPr/>
        </p:nvSpPr>
        <p:spPr bwMode="auto">
          <a:xfrm>
            <a:off x="4572000" y="2362200"/>
            <a:ext cx="762000" cy="762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dirty="0" smtClean="0">
                <a:latin typeface="Verdana" pitchFamily="34" charset="0"/>
              </a:rPr>
              <a:t>3</a:t>
            </a:r>
            <a:endParaRPr lang="en-US" sz="2400" dirty="0">
              <a:latin typeface="Verdana" pitchFamily="34" charset="0"/>
            </a:endParaRPr>
          </a:p>
        </p:txBody>
      </p:sp>
      <p:sp>
        <p:nvSpPr>
          <p:cNvPr id="140295" name="Oval 7"/>
          <p:cNvSpPr>
            <a:spLocks noChangeArrowheads="1"/>
          </p:cNvSpPr>
          <p:nvPr/>
        </p:nvSpPr>
        <p:spPr bwMode="auto">
          <a:xfrm>
            <a:off x="1371600" y="4876800"/>
            <a:ext cx="762000" cy="762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dirty="0" smtClean="0">
                <a:solidFill>
                  <a:srgbClr val="969696"/>
                </a:solidFill>
                <a:latin typeface="Verdana" pitchFamily="34" charset="0"/>
              </a:rPr>
              <a:t>2</a:t>
            </a:r>
            <a:endParaRPr lang="en-US" sz="2400" dirty="0">
              <a:latin typeface="Verdana" pitchFamily="34" charset="0"/>
            </a:endParaRPr>
          </a:p>
        </p:txBody>
      </p:sp>
      <p:sp>
        <p:nvSpPr>
          <p:cNvPr id="140296" name="Oval 8"/>
          <p:cNvSpPr>
            <a:spLocks noChangeArrowheads="1"/>
          </p:cNvSpPr>
          <p:nvPr/>
        </p:nvSpPr>
        <p:spPr bwMode="auto">
          <a:xfrm>
            <a:off x="990600" y="2514600"/>
            <a:ext cx="762000" cy="762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rgbClr val="969696"/>
                </a:solidFill>
                <a:latin typeface="Verdana" pitchFamily="34" charset="0"/>
              </a:rPr>
              <a:t>1</a:t>
            </a:r>
            <a:endParaRPr lang="en-US" sz="2400" dirty="0">
              <a:latin typeface="Verdana" pitchFamily="34" charset="0"/>
            </a:endParaRPr>
          </a:p>
        </p:txBody>
      </p:sp>
      <p:cxnSp>
        <p:nvCxnSpPr>
          <p:cNvPr id="140297" name="AutoShape 9"/>
          <p:cNvCxnSpPr>
            <a:cxnSpLocks noChangeShapeType="1"/>
            <a:stCxn id="140294" idx="5"/>
            <a:endCxn id="140291" idx="1"/>
          </p:cNvCxnSpPr>
          <p:nvPr/>
        </p:nvCxnSpPr>
        <p:spPr bwMode="auto">
          <a:xfrm>
            <a:off x="5222875" y="3013075"/>
            <a:ext cx="831850" cy="298450"/>
          </a:xfrm>
          <a:prstGeom prst="straightConnector1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298" name="AutoShape 10"/>
          <p:cNvCxnSpPr>
            <a:cxnSpLocks noChangeShapeType="1"/>
            <a:stCxn id="140294" idx="6"/>
            <a:endCxn id="140292" idx="2"/>
          </p:cNvCxnSpPr>
          <p:nvPr/>
        </p:nvCxnSpPr>
        <p:spPr bwMode="auto">
          <a:xfrm flipV="1">
            <a:off x="5334000" y="2133600"/>
            <a:ext cx="1828800" cy="609600"/>
          </a:xfrm>
          <a:prstGeom prst="straightConnector1">
            <a:avLst/>
          </a:prstGeom>
          <a:noFill/>
          <a:ln w="25400">
            <a:solidFill>
              <a:srgbClr val="CC0000"/>
            </a:solidFill>
            <a:round/>
            <a:headEnd type="triangle" w="med" len="med"/>
            <a:tailEnd/>
          </a:ln>
          <a:effectLst/>
        </p:spPr>
      </p:cxnSp>
      <p:cxnSp>
        <p:nvCxnSpPr>
          <p:cNvPr id="140299" name="AutoShape 11"/>
          <p:cNvCxnSpPr>
            <a:cxnSpLocks noChangeShapeType="1"/>
            <a:stCxn id="140291" idx="2"/>
            <a:endCxn id="140296" idx="6"/>
          </p:cNvCxnSpPr>
          <p:nvPr/>
        </p:nvCxnSpPr>
        <p:spPr bwMode="auto">
          <a:xfrm flipH="1" flipV="1">
            <a:off x="1752600" y="2895600"/>
            <a:ext cx="4191000" cy="685800"/>
          </a:xfrm>
          <a:prstGeom prst="straightConnector1">
            <a:avLst/>
          </a:prstGeom>
          <a:noFill/>
          <a:ln w="25400">
            <a:solidFill>
              <a:srgbClr val="969696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0" name="AutoShape 12"/>
          <p:cNvCxnSpPr>
            <a:cxnSpLocks noChangeShapeType="1"/>
            <a:stCxn id="140296" idx="4"/>
            <a:endCxn id="140295" idx="0"/>
          </p:cNvCxnSpPr>
          <p:nvPr/>
        </p:nvCxnSpPr>
        <p:spPr bwMode="auto">
          <a:xfrm>
            <a:off x="1371600" y="3276600"/>
            <a:ext cx="381000" cy="1600200"/>
          </a:xfrm>
          <a:prstGeom prst="straightConnector1">
            <a:avLst/>
          </a:prstGeom>
          <a:noFill/>
          <a:ln w="25400">
            <a:solidFill>
              <a:srgbClr val="969696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1" name="AutoShape 13"/>
          <p:cNvCxnSpPr>
            <a:cxnSpLocks noChangeShapeType="1"/>
            <a:stCxn id="140293" idx="2"/>
            <a:endCxn id="140295" idx="6"/>
          </p:cNvCxnSpPr>
          <p:nvPr/>
        </p:nvCxnSpPr>
        <p:spPr bwMode="auto">
          <a:xfrm flipH="1">
            <a:off x="2133600" y="4114800"/>
            <a:ext cx="5486400" cy="1143000"/>
          </a:xfrm>
          <a:prstGeom prst="straightConnector1">
            <a:avLst/>
          </a:prstGeom>
          <a:noFill/>
          <a:ln w="25400">
            <a:solidFill>
              <a:srgbClr val="969696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2" name="AutoShape 14"/>
          <p:cNvCxnSpPr>
            <a:cxnSpLocks noChangeShapeType="1"/>
            <a:stCxn id="140293" idx="0"/>
            <a:endCxn id="140292" idx="4"/>
          </p:cNvCxnSpPr>
          <p:nvPr/>
        </p:nvCxnSpPr>
        <p:spPr bwMode="auto">
          <a:xfrm flipH="1" flipV="1">
            <a:off x="7543800" y="2514600"/>
            <a:ext cx="457200" cy="1219200"/>
          </a:xfrm>
          <a:prstGeom prst="straightConnector1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3" name="AutoShape 15"/>
          <p:cNvCxnSpPr>
            <a:cxnSpLocks noChangeShapeType="1"/>
            <a:stCxn id="140291" idx="3"/>
            <a:endCxn id="140295" idx="6"/>
          </p:cNvCxnSpPr>
          <p:nvPr/>
        </p:nvCxnSpPr>
        <p:spPr bwMode="auto">
          <a:xfrm flipH="1">
            <a:off x="2133600" y="3851275"/>
            <a:ext cx="3921125" cy="1406525"/>
          </a:xfrm>
          <a:prstGeom prst="straightConnector1">
            <a:avLst/>
          </a:prstGeom>
          <a:noFill/>
          <a:ln w="25400">
            <a:solidFill>
              <a:srgbClr val="969696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4" name="AutoShape 16"/>
          <p:cNvCxnSpPr>
            <a:cxnSpLocks noChangeShapeType="1"/>
            <a:stCxn id="140294" idx="3"/>
            <a:endCxn id="140295" idx="7"/>
          </p:cNvCxnSpPr>
          <p:nvPr/>
        </p:nvCxnSpPr>
        <p:spPr bwMode="auto">
          <a:xfrm flipH="1">
            <a:off x="2022475" y="3013075"/>
            <a:ext cx="2660650" cy="1974850"/>
          </a:xfrm>
          <a:prstGeom prst="straightConnector1">
            <a:avLst/>
          </a:prstGeom>
          <a:noFill/>
          <a:ln w="25400">
            <a:solidFill>
              <a:srgbClr val="969696"/>
            </a:solidFill>
            <a:round/>
            <a:headEnd/>
            <a:tailEnd type="triangle" w="med" len="med"/>
          </a:ln>
          <a:effectLst/>
        </p:spPr>
      </p:cxnSp>
      <p:cxnSp>
        <p:nvCxnSpPr>
          <p:cNvPr id="140305" name="AutoShape 17"/>
          <p:cNvCxnSpPr>
            <a:cxnSpLocks noChangeShapeType="1"/>
            <a:stCxn id="140291" idx="6"/>
            <a:endCxn id="140293" idx="1"/>
          </p:cNvCxnSpPr>
          <p:nvPr/>
        </p:nvCxnSpPr>
        <p:spPr bwMode="auto">
          <a:xfrm>
            <a:off x="6705600" y="3581400"/>
            <a:ext cx="1025525" cy="263525"/>
          </a:xfrm>
          <a:prstGeom prst="straightConnector1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5105400" y="4895850"/>
            <a:ext cx="3324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3-4-5-6-3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cycledir</a:t>
            </a:r>
            <a:endParaRPr lang="tr-TR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941DECF-9234-44A0-9E84-4F7071151EB4}" type="slidenum">
              <a:rPr lang="en-US"/>
              <a:pPr/>
              <a:t>6</a:t>
            </a:fld>
            <a:endParaRPr lang="en-US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Kullanisli</a:t>
            </a:r>
            <a:r>
              <a:rPr lang="en-US" dirty="0" smtClean="0"/>
              <a:t> </a:t>
            </a:r>
            <a:r>
              <a:rPr lang="en-US" dirty="0" err="1"/>
              <a:t>B</a:t>
            </a:r>
            <a:r>
              <a:rPr lang="en-US" dirty="0" err="1" smtClean="0"/>
              <a:t>aska</a:t>
            </a:r>
            <a:r>
              <a:rPr lang="en-US" dirty="0" smtClean="0"/>
              <a:t> </a:t>
            </a:r>
            <a:r>
              <a:rPr lang="en-US" dirty="0" err="1"/>
              <a:t>T</a:t>
            </a:r>
            <a:r>
              <a:rPr lang="en-US" dirty="0" err="1" smtClean="0"/>
              <a:t>animlar</a:t>
            </a:r>
            <a:endParaRPr lang="en-US" dirty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Yonlu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graph </a:t>
            </a:r>
            <a:r>
              <a:rPr lang="en-US" dirty="0" err="1" smtClean="0"/>
              <a:t>ta</a:t>
            </a:r>
            <a:r>
              <a:rPr lang="en-US" dirty="0" smtClean="0"/>
              <a:t>:</a:t>
            </a:r>
            <a:endParaRPr lang="en-US" dirty="0"/>
          </a:p>
          <a:p>
            <a:endParaRPr lang="en-US" dirty="0"/>
          </a:p>
          <a:p>
            <a:pPr>
              <a:spcBef>
                <a:spcPct val="100000"/>
              </a:spcBef>
            </a:pPr>
            <a:r>
              <a:rPr lang="en-US" i="1" dirty="0" err="1" smtClean="0">
                <a:solidFill>
                  <a:srgbClr val="3366FF"/>
                </a:solidFill>
              </a:rPr>
              <a:t>indegree</a:t>
            </a:r>
            <a:r>
              <a:rPr lang="en-US" dirty="0" smtClean="0"/>
              <a:t> v node u </a:t>
            </a:r>
            <a:r>
              <a:rPr lang="en-US" dirty="0" err="1" smtClean="0"/>
              <a:t>icin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/>
              <a:t>w,v</a:t>
            </a:r>
            <a:r>
              <a:rPr lang="en-US" dirty="0"/>
              <a:t>)</a:t>
            </a:r>
            <a:r>
              <a:rPr lang="en-US" b="1" dirty="0">
                <a:sym typeface="Symbol" pitchFamily="18" charset="2"/>
              </a:rPr>
              <a:t></a:t>
            </a:r>
            <a:r>
              <a:rPr lang="en-US" dirty="0" smtClean="0"/>
              <a:t>E </a:t>
            </a:r>
            <a:r>
              <a:rPr lang="en-US" dirty="0" err="1" smtClean="0"/>
              <a:t>seklindeki</a:t>
            </a:r>
            <a:r>
              <a:rPr lang="en-US" dirty="0" smtClean="0"/>
              <a:t> edge </a:t>
            </a:r>
            <a:r>
              <a:rPr lang="en-US" dirty="0" err="1" smtClean="0"/>
              <a:t>lerin</a:t>
            </a:r>
            <a:r>
              <a:rPr lang="en-US" dirty="0" smtClean="0"/>
              <a:t> </a:t>
            </a:r>
            <a:r>
              <a:rPr lang="en-US" dirty="0" err="1" smtClean="0"/>
              <a:t>sayisidir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i="1" dirty="0" err="1" smtClean="0">
                <a:solidFill>
                  <a:srgbClr val="3366FF"/>
                </a:solidFill>
              </a:rPr>
              <a:t>outdegree</a:t>
            </a:r>
            <a:r>
              <a:rPr lang="en-US" dirty="0" smtClean="0"/>
              <a:t> v node u </a:t>
            </a:r>
            <a:r>
              <a:rPr lang="en-US" dirty="0" err="1" smtClean="0"/>
              <a:t>icin</a:t>
            </a:r>
            <a:r>
              <a:rPr lang="en-US" dirty="0" smtClean="0"/>
              <a:t> (</a:t>
            </a:r>
            <a:r>
              <a:rPr lang="en-US" dirty="0" err="1" smtClean="0"/>
              <a:t>v,w</a:t>
            </a:r>
            <a:r>
              <a:rPr lang="en-US" dirty="0"/>
              <a:t>)</a:t>
            </a:r>
            <a:r>
              <a:rPr lang="en-US" b="1" dirty="0">
                <a:sym typeface="Symbol" pitchFamily="18" charset="2"/>
              </a:rPr>
              <a:t></a:t>
            </a:r>
            <a:r>
              <a:rPr lang="en-US" dirty="0" smtClean="0">
                <a:sym typeface="Symbol" pitchFamily="18" charset="2"/>
              </a:rPr>
              <a:t>E </a:t>
            </a:r>
            <a:r>
              <a:rPr lang="en-US" dirty="0" err="1" smtClean="0">
                <a:sym typeface="Symbol" pitchFamily="18" charset="2"/>
              </a:rPr>
              <a:t>seklideki</a:t>
            </a:r>
            <a:r>
              <a:rPr lang="en-US" dirty="0" smtClean="0">
                <a:sym typeface="Symbol" pitchFamily="18" charset="2"/>
              </a:rPr>
              <a:t> edge </a:t>
            </a:r>
            <a:r>
              <a:rPr lang="en-US" dirty="0" err="1" smtClean="0">
                <a:sym typeface="Symbol" pitchFamily="18" charset="2"/>
              </a:rPr>
              <a:t>lerin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err="1" smtClean="0">
                <a:sym typeface="Symbol" pitchFamily="18" charset="2"/>
              </a:rPr>
              <a:t>sayisidir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/>
          </a:p>
          <a:p>
            <a:pPr>
              <a:spcBef>
                <a:spcPct val="100000"/>
              </a:spcBef>
            </a:pPr>
            <a:r>
              <a:rPr lang="en-US" dirty="0" err="1" smtClean="0"/>
              <a:t>indegree</a:t>
            </a:r>
            <a:r>
              <a:rPr lang="en-US" dirty="0" smtClean="0"/>
              <a:t> </a:t>
            </a:r>
            <a:r>
              <a:rPr lang="en-US" dirty="0" err="1" smtClean="0"/>
              <a:t>degeri</a:t>
            </a:r>
            <a:r>
              <a:rPr lang="en-US" dirty="0" smtClean="0"/>
              <a:t> 0 </a:t>
            </a:r>
            <a:r>
              <a:rPr lang="en-US" dirty="0" err="1" smtClean="0"/>
              <a:t>olan</a:t>
            </a:r>
            <a:r>
              <a:rPr lang="en-US" dirty="0" smtClean="0"/>
              <a:t> node </a:t>
            </a:r>
            <a:r>
              <a:rPr lang="en-US" i="1" dirty="0" smtClean="0">
                <a:solidFill>
                  <a:srgbClr val="3333CC"/>
                </a:solidFill>
              </a:rPr>
              <a:t>root(</a:t>
            </a:r>
            <a:r>
              <a:rPr lang="en-US" i="1" dirty="0" err="1" smtClean="0">
                <a:solidFill>
                  <a:srgbClr val="3333CC"/>
                </a:solidFill>
              </a:rPr>
              <a:t>kok</a:t>
            </a:r>
            <a:r>
              <a:rPr lang="en-US" i="1" dirty="0" smtClean="0">
                <a:solidFill>
                  <a:srgbClr val="3333CC"/>
                </a:solidFill>
              </a:rPr>
              <a:t>) </a:t>
            </a:r>
            <a:r>
              <a:rPr lang="en-US" i="1" dirty="0" err="1" smtClean="0">
                <a:solidFill>
                  <a:srgbClr val="3333CC"/>
                </a:solidFill>
              </a:rPr>
              <a:t>tur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D1EA7ECA-C44B-4658-AFC0-82C3358BE607}" type="slidenum">
              <a:rPr lang="en-US"/>
              <a:pPr/>
              <a:t>7</a:t>
            </a:fld>
            <a:endParaRPr lang="en-US"/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 </a:t>
            </a:r>
            <a:r>
              <a:rPr lang="en-US" dirty="0" err="1" smtClean="0"/>
              <a:t>ve</a:t>
            </a:r>
            <a:r>
              <a:rPr lang="en-US" dirty="0" smtClean="0"/>
              <a:t> graph</a:t>
            </a:r>
            <a:endParaRPr lang="en-US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0"/>
              </a:spcBef>
            </a:pPr>
            <a:r>
              <a:rPr lang="en-US" i="1" dirty="0" smtClean="0">
                <a:solidFill>
                  <a:srgbClr val="3366FF"/>
                </a:solidFill>
              </a:rPr>
              <a:t>dag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3333CC"/>
                </a:solidFill>
              </a:rPr>
              <a:t>d</a:t>
            </a:r>
            <a:r>
              <a:rPr lang="en-US" dirty="0" smtClean="0"/>
              <a:t>irected </a:t>
            </a:r>
            <a:r>
              <a:rPr lang="en-US" dirty="0">
                <a:solidFill>
                  <a:srgbClr val="3333CC"/>
                </a:solidFill>
              </a:rPr>
              <a:t>a</a:t>
            </a:r>
            <a:r>
              <a:rPr lang="en-US" dirty="0"/>
              <a:t>cyclic </a:t>
            </a:r>
            <a:r>
              <a:rPr lang="en-US" dirty="0" smtClean="0">
                <a:solidFill>
                  <a:srgbClr val="3333CC"/>
                </a:solidFill>
              </a:rPr>
              <a:t>g</a:t>
            </a:r>
            <a:r>
              <a:rPr lang="en-US" dirty="0" smtClean="0"/>
              <a:t>raph(</a:t>
            </a:r>
            <a:r>
              <a:rPr lang="en-US" dirty="0" err="1" smtClean="0"/>
              <a:t>yonlu</a:t>
            </a:r>
            <a:r>
              <a:rPr lang="en-US" dirty="0" smtClean="0"/>
              <a:t> cycle </a:t>
            </a:r>
            <a:r>
              <a:rPr lang="en-US" dirty="0" err="1" smtClean="0"/>
              <a:t>icermeyen</a:t>
            </a:r>
            <a:r>
              <a:rPr lang="en-US" dirty="0" smtClean="0"/>
              <a:t> graph).</a:t>
            </a:r>
            <a:endParaRPr lang="en-US" dirty="0"/>
          </a:p>
          <a:p>
            <a:pPr>
              <a:spcBef>
                <a:spcPct val="100000"/>
              </a:spcBef>
            </a:pPr>
            <a:r>
              <a:rPr lang="en-US" i="1" dirty="0" smtClean="0">
                <a:solidFill>
                  <a:srgbClr val="3366FF"/>
                </a:solidFill>
              </a:rPr>
              <a:t>tree</a:t>
            </a:r>
            <a:r>
              <a:rPr lang="en-US" dirty="0" smtClean="0"/>
              <a:t> </a:t>
            </a:r>
            <a:r>
              <a:rPr lang="en-US" dirty="0" err="1" smtClean="0"/>
              <a:t>bagli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cycle </a:t>
            </a:r>
            <a:r>
              <a:rPr lang="en-US" dirty="0" err="1" smtClean="0"/>
              <a:t>icermeyen</a:t>
            </a:r>
            <a:r>
              <a:rPr lang="en-US" dirty="0" smtClean="0"/>
              <a:t> </a:t>
            </a:r>
            <a:r>
              <a:rPr lang="en-US" dirty="0" err="1" smtClean="0"/>
              <a:t>yonsuz</a:t>
            </a:r>
            <a:r>
              <a:rPr lang="en-US" dirty="0" smtClean="0"/>
              <a:t> </a:t>
            </a:r>
            <a:r>
              <a:rPr lang="en-US" dirty="0" err="1" smtClean="0"/>
              <a:t>graphtir</a:t>
            </a:r>
            <a:r>
              <a:rPr lang="en-US" dirty="0" smtClean="0"/>
              <a:t>.</a:t>
            </a:r>
            <a:endParaRPr lang="en-US" dirty="0"/>
          </a:p>
          <a:p>
            <a:pPr>
              <a:spcBef>
                <a:spcPct val="100000"/>
              </a:spcBef>
            </a:pPr>
            <a:r>
              <a:rPr lang="en-US" i="1" dirty="0" smtClean="0">
                <a:solidFill>
                  <a:srgbClr val="3366FF"/>
                </a:solidFill>
              </a:rPr>
              <a:t>forest</a:t>
            </a:r>
            <a:r>
              <a:rPr lang="en-US" dirty="0" smtClean="0"/>
              <a:t> </a:t>
            </a:r>
            <a:r>
              <a:rPr lang="en-US" dirty="0" err="1" smtClean="0"/>
              <a:t>bagli</a:t>
            </a:r>
            <a:r>
              <a:rPr lang="en-US" dirty="0" smtClean="0"/>
              <a:t> </a:t>
            </a:r>
            <a:r>
              <a:rPr lang="en-US" dirty="0" err="1" smtClean="0"/>
              <a:t>olma</a:t>
            </a:r>
            <a:r>
              <a:rPr lang="en-US" dirty="0" smtClean="0"/>
              <a:t> </a:t>
            </a:r>
            <a:r>
              <a:rPr lang="en-US" dirty="0" err="1" smtClean="0"/>
              <a:t>sarti</a:t>
            </a:r>
            <a:r>
              <a:rPr lang="en-US" dirty="0" smtClean="0"/>
              <a:t> </a:t>
            </a:r>
            <a:r>
              <a:rPr lang="en-US" dirty="0" err="1" smtClean="0"/>
              <a:t>olmayan</a:t>
            </a:r>
            <a:r>
              <a:rPr lang="en-US" dirty="0" smtClean="0"/>
              <a:t> cycle </a:t>
            </a:r>
            <a:r>
              <a:rPr lang="en-US" dirty="0" err="1" smtClean="0"/>
              <a:t>icermeyen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yonsuz</a:t>
            </a:r>
            <a:r>
              <a:rPr lang="en-US" dirty="0" smtClean="0"/>
              <a:t> </a:t>
            </a:r>
            <a:r>
              <a:rPr lang="en-US" dirty="0" err="1" smtClean="0"/>
              <a:t>graphtir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423E9D49-383D-47A5-A75C-CE96B41C97C1}" type="slidenum">
              <a:rPr lang="en-US"/>
              <a:pPr/>
              <a:t>8</a:t>
            </a:fld>
            <a:endParaRPr lang="en-US"/>
          </a:p>
        </p:txBody>
      </p:sp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Ornek</a:t>
            </a:r>
            <a:r>
              <a:rPr lang="en-US" dirty="0" smtClean="0"/>
              <a:t> </a:t>
            </a:r>
            <a:r>
              <a:rPr lang="en-US" dirty="0"/>
              <a:t>DAG</a:t>
            </a:r>
          </a:p>
        </p:txBody>
      </p:sp>
      <p:sp>
        <p:nvSpPr>
          <p:cNvPr id="168963" name="AutoShape 3"/>
          <p:cNvSpPr>
            <a:spLocks noChangeArrowheads="1"/>
          </p:cNvSpPr>
          <p:nvPr/>
        </p:nvSpPr>
        <p:spPr bwMode="auto">
          <a:xfrm>
            <a:off x="6496050" y="2333625"/>
            <a:ext cx="11430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dirty="0"/>
              <a:t>Watch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1999" y="1600200"/>
            <a:ext cx="5391151" cy="4038600"/>
            <a:chOff x="288" y="960"/>
            <a:chExt cx="2784" cy="2544"/>
          </a:xfrm>
        </p:grpSpPr>
        <p:sp>
          <p:nvSpPr>
            <p:cNvPr id="168965" name="AutoShape 5"/>
            <p:cNvSpPr>
              <a:spLocks noChangeArrowheads="1"/>
            </p:cNvSpPr>
            <p:nvPr/>
          </p:nvSpPr>
          <p:spPr bwMode="auto">
            <a:xfrm>
              <a:off x="2496" y="1152"/>
              <a:ext cx="57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 err="1" smtClean="0"/>
                <a:t>Corap</a:t>
              </a:r>
              <a:endParaRPr lang="en-US" sz="2400" dirty="0"/>
            </a:p>
          </p:txBody>
        </p:sp>
        <p:sp>
          <p:nvSpPr>
            <p:cNvPr id="168966" name="AutoShape 6"/>
            <p:cNvSpPr>
              <a:spLocks noChangeArrowheads="1"/>
            </p:cNvSpPr>
            <p:nvPr/>
          </p:nvSpPr>
          <p:spPr bwMode="auto">
            <a:xfrm>
              <a:off x="2496" y="1728"/>
              <a:ext cx="57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 err="1" smtClean="0"/>
                <a:t>Ayakkabi</a:t>
              </a:r>
              <a:endParaRPr lang="en-US" sz="2400" dirty="0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288" y="960"/>
              <a:ext cx="1920" cy="2544"/>
              <a:chOff x="288" y="1200"/>
              <a:chExt cx="1920" cy="2544"/>
            </a:xfrm>
          </p:grpSpPr>
          <p:sp>
            <p:nvSpPr>
              <p:cNvPr id="168968" name="AutoShape 8"/>
              <p:cNvSpPr>
                <a:spLocks noChangeArrowheads="1"/>
              </p:cNvSpPr>
              <p:nvPr/>
            </p:nvSpPr>
            <p:spPr bwMode="auto">
              <a:xfrm>
                <a:off x="288" y="1200"/>
                <a:ext cx="1008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Ic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camasiri</a:t>
                </a:r>
                <a:endParaRPr lang="en-US" sz="2400" dirty="0"/>
              </a:p>
            </p:txBody>
          </p:sp>
          <p:sp>
            <p:nvSpPr>
              <p:cNvPr id="168969" name="AutoShape 9"/>
              <p:cNvSpPr>
                <a:spLocks noChangeArrowheads="1"/>
              </p:cNvSpPr>
              <p:nvPr/>
            </p:nvSpPr>
            <p:spPr bwMode="auto">
              <a:xfrm>
                <a:off x="432" y="2016"/>
                <a:ext cx="672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Pantolon</a:t>
                </a:r>
                <a:endParaRPr lang="en-US" sz="2400" dirty="0"/>
              </a:p>
            </p:txBody>
          </p:sp>
          <p:sp>
            <p:nvSpPr>
              <p:cNvPr id="168970" name="AutoShape 10"/>
              <p:cNvSpPr>
                <a:spLocks noChangeArrowheads="1"/>
              </p:cNvSpPr>
              <p:nvPr/>
            </p:nvSpPr>
            <p:spPr bwMode="auto">
              <a:xfrm>
                <a:off x="528" y="2784"/>
                <a:ext cx="528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Kemer</a:t>
                </a:r>
                <a:endParaRPr lang="en-US" sz="2400" dirty="0"/>
              </a:p>
            </p:txBody>
          </p:sp>
          <p:sp>
            <p:nvSpPr>
              <p:cNvPr id="168971" name="AutoShape 11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528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Kravat</a:t>
                </a:r>
                <a:endParaRPr lang="en-US" sz="2400" dirty="0"/>
              </a:p>
            </p:txBody>
          </p:sp>
          <p:sp>
            <p:nvSpPr>
              <p:cNvPr id="168972" name="AutoShape 12"/>
              <p:cNvSpPr>
                <a:spLocks noChangeArrowheads="1"/>
              </p:cNvSpPr>
              <p:nvPr/>
            </p:nvSpPr>
            <p:spPr bwMode="auto">
              <a:xfrm>
                <a:off x="1488" y="2256"/>
                <a:ext cx="720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Gomlek</a:t>
                </a:r>
                <a:r>
                  <a:rPr lang="en-US" sz="2400" dirty="0" smtClean="0"/>
                  <a:t> </a:t>
                </a:r>
                <a:endParaRPr lang="en-US" sz="2400" dirty="0"/>
              </a:p>
            </p:txBody>
          </p:sp>
          <p:sp>
            <p:nvSpPr>
              <p:cNvPr id="168973" name="AutoShape 13"/>
              <p:cNvSpPr>
                <a:spLocks noChangeArrowheads="1"/>
              </p:cNvSpPr>
              <p:nvPr/>
            </p:nvSpPr>
            <p:spPr bwMode="auto">
              <a:xfrm>
                <a:off x="1488" y="3456"/>
                <a:ext cx="720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Ceket</a:t>
                </a:r>
                <a:endParaRPr lang="en-US" sz="2400" dirty="0"/>
              </a:p>
            </p:txBody>
          </p:sp>
          <p:sp>
            <p:nvSpPr>
              <p:cNvPr id="168974" name="Line 14"/>
              <p:cNvSpPr>
                <a:spLocks noChangeShapeType="1"/>
              </p:cNvSpPr>
              <p:nvPr/>
            </p:nvSpPr>
            <p:spPr bwMode="auto">
              <a:xfrm>
                <a:off x="768" y="1488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68975" name="Line 15"/>
              <p:cNvSpPr>
                <a:spLocks noChangeShapeType="1"/>
              </p:cNvSpPr>
              <p:nvPr/>
            </p:nvSpPr>
            <p:spPr bwMode="auto">
              <a:xfrm>
                <a:off x="768" y="2304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68976" name="Line 16"/>
              <p:cNvSpPr>
                <a:spLocks noChangeShapeType="1"/>
              </p:cNvSpPr>
              <p:nvPr/>
            </p:nvSpPr>
            <p:spPr bwMode="auto">
              <a:xfrm>
                <a:off x="1824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68977" name="Line 17"/>
              <p:cNvSpPr>
                <a:spLocks noChangeShapeType="1"/>
              </p:cNvSpPr>
              <p:nvPr/>
            </p:nvSpPr>
            <p:spPr bwMode="auto">
              <a:xfrm>
                <a:off x="1824" y="3120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68978" name="Line 18"/>
              <p:cNvSpPr>
                <a:spLocks noChangeShapeType="1"/>
              </p:cNvSpPr>
              <p:nvPr/>
            </p:nvSpPr>
            <p:spPr bwMode="auto">
              <a:xfrm flipH="1">
                <a:off x="1008" y="2544"/>
                <a:ext cx="528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68979" name="Line 19"/>
              <p:cNvSpPr>
                <a:spLocks noChangeShapeType="1"/>
              </p:cNvSpPr>
              <p:nvPr/>
            </p:nvSpPr>
            <p:spPr bwMode="auto">
              <a:xfrm>
                <a:off x="1056" y="3024"/>
                <a:ext cx="48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168980" name="Line 20"/>
            <p:cNvSpPr>
              <a:spLocks noChangeShapeType="1"/>
            </p:cNvSpPr>
            <p:nvPr/>
          </p:nvSpPr>
          <p:spPr bwMode="auto">
            <a:xfrm>
              <a:off x="2784" y="144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68981" name="Line 21"/>
            <p:cNvSpPr>
              <a:spLocks noChangeShapeType="1"/>
            </p:cNvSpPr>
            <p:nvPr/>
          </p:nvSpPr>
          <p:spPr bwMode="auto">
            <a:xfrm flipV="1">
              <a:off x="1104" y="1920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68982" name="Text Box 22"/>
          <p:cNvSpPr txBox="1">
            <a:spLocks noChangeArrowheads="1"/>
          </p:cNvSpPr>
          <p:nvPr/>
        </p:nvSpPr>
        <p:spPr bwMode="auto">
          <a:xfrm>
            <a:off x="4267200" y="3733800"/>
            <a:ext cx="4673074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 smtClean="0">
                <a:latin typeface="Arial" charset="0"/>
              </a:rPr>
              <a:t>DAG </a:t>
            </a:r>
            <a:r>
              <a:rPr lang="en-US" b="1" dirty="0" err="1" smtClean="0">
                <a:latin typeface="Arial" charset="0"/>
              </a:rPr>
              <a:t>eylemler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arasinda</a:t>
            </a:r>
            <a:endParaRPr lang="en-US" b="1" dirty="0" smtClean="0">
              <a:latin typeface="Arial" charset="0"/>
            </a:endParaRPr>
          </a:p>
          <a:p>
            <a:r>
              <a:rPr lang="en-US" b="1" dirty="0" err="1" smtClean="0">
                <a:latin typeface="Arial" charset="0"/>
              </a:rPr>
              <a:t>bir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oncelik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belirtir</a:t>
            </a:r>
            <a:r>
              <a:rPr lang="en-US" b="1" dirty="0" smtClean="0">
                <a:latin typeface="Arial" charset="0"/>
              </a:rPr>
              <a:t>.</a:t>
            </a:r>
            <a:endParaRPr lang="en-US" b="1" dirty="0">
              <a:latin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31601274-D878-4988-91E8-6E234E249F78}" type="slidenum">
              <a:rPr lang="en-US"/>
              <a:pPr/>
              <a:t>9</a:t>
            </a:fld>
            <a:endParaRPr lang="en-US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Ornek</a:t>
            </a:r>
            <a:r>
              <a:rPr lang="en-US" dirty="0" smtClean="0"/>
              <a:t> </a:t>
            </a:r>
            <a:r>
              <a:rPr lang="en-US" dirty="0"/>
              <a:t>DAG</a:t>
            </a:r>
          </a:p>
        </p:txBody>
      </p:sp>
      <p:sp>
        <p:nvSpPr>
          <p:cNvPr id="171011" name="AutoShape 3"/>
          <p:cNvSpPr>
            <a:spLocks noChangeArrowheads="1"/>
          </p:cNvSpPr>
          <p:nvPr/>
        </p:nvSpPr>
        <p:spPr bwMode="auto">
          <a:xfrm>
            <a:off x="6915150" y="2352675"/>
            <a:ext cx="11430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dirty="0"/>
              <a:t>Watch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1999" y="1600200"/>
            <a:ext cx="5572125" cy="4038600"/>
            <a:chOff x="288" y="960"/>
            <a:chExt cx="2784" cy="2544"/>
          </a:xfrm>
        </p:grpSpPr>
        <p:sp>
          <p:nvSpPr>
            <p:cNvPr id="171013" name="AutoShape 5"/>
            <p:cNvSpPr>
              <a:spLocks noChangeArrowheads="1"/>
            </p:cNvSpPr>
            <p:nvPr/>
          </p:nvSpPr>
          <p:spPr bwMode="auto">
            <a:xfrm>
              <a:off x="2496" y="1152"/>
              <a:ext cx="57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 err="1" smtClean="0"/>
                <a:t>Corap</a:t>
              </a:r>
              <a:endParaRPr lang="en-US" sz="2400" dirty="0"/>
            </a:p>
          </p:txBody>
        </p:sp>
        <p:sp>
          <p:nvSpPr>
            <p:cNvPr id="171014" name="AutoShape 6"/>
            <p:cNvSpPr>
              <a:spLocks noChangeArrowheads="1"/>
            </p:cNvSpPr>
            <p:nvPr/>
          </p:nvSpPr>
          <p:spPr bwMode="auto">
            <a:xfrm>
              <a:off x="2496" y="1728"/>
              <a:ext cx="57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 err="1" smtClean="0"/>
                <a:t>Ayakkabi</a:t>
              </a:r>
              <a:endParaRPr lang="en-US" sz="2400" dirty="0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288" y="960"/>
              <a:ext cx="1920" cy="2544"/>
              <a:chOff x="288" y="1200"/>
              <a:chExt cx="1920" cy="2544"/>
            </a:xfrm>
          </p:grpSpPr>
          <p:sp>
            <p:nvSpPr>
              <p:cNvPr id="171016" name="AutoShape 8"/>
              <p:cNvSpPr>
                <a:spLocks noChangeArrowheads="1"/>
              </p:cNvSpPr>
              <p:nvPr/>
            </p:nvSpPr>
            <p:spPr bwMode="auto">
              <a:xfrm>
                <a:off x="288" y="1200"/>
                <a:ext cx="1008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Ic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camasiri</a:t>
                </a:r>
                <a:endParaRPr lang="en-US" sz="2400" dirty="0"/>
              </a:p>
            </p:txBody>
          </p:sp>
          <p:sp>
            <p:nvSpPr>
              <p:cNvPr id="171017" name="AutoShape 9"/>
              <p:cNvSpPr>
                <a:spLocks noChangeArrowheads="1"/>
              </p:cNvSpPr>
              <p:nvPr/>
            </p:nvSpPr>
            <p:spPr bwMode="auto">
              <a:xfrm>
                <a:off x="432" y="2016"/>
                <a:ext cx="672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Pantolon</a:t>
                </a:r>
                <a:endParaRPr lang="en-US" sz="2400" dirty="0"/>
              </a:p>
            </p:txBody>
          </p:sp>
          <p:sp>
            <p:nvSpPr>
              <p:cNvPr id="171018" name="AutoShape 10"/>
              <p:cNvSpPr>
                <a:spLocks noChangeArrowheads="1"/>
              </p:cNvSpPr>
              <p:nvPr/>
            </p:nvSpPr>
            <p:spPr bwMode="auto">
              <a:xfrm>
                <a:off x="528" y="2784"/>
                <a:ext cx="528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Kemer</a:t>
                </a:r>
                <a:endParaRPr lang="en-US" sz="2400" dirty="0"/>
              </a:p>
            </p:txBody>
          </p:sp>
          <p:sp>
            <p:nvSpPr>
              <p:cNvPr id="171019" name="AutoShape 11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528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Kravat</a:t>
                </a:r>
                <a:endParaRPr lang="en-US" sz="2400" dirty="0"/>
              </a:p>
            </p:txBody>
          </p:sp>
          <p:sp>
            <p:nvSpPr>
              <p:cNvPr id="171020" name="AutoShape 12"/>
              <p:cNvSpPr>
                <a:spLocks noChangeArrowheads="1"/>
              </p:cNvSpPr>
              <p:nvPr/>
            </p:nvSpPr>
            <p:spPr bwMode="auto">
              <a:xfrm>
                <a:off x="1488" y="2256"/>
                <a:ext cx="720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Gomlek</a:t>
                </a:r>
                <a:endParaRPr lang="en-US" sz="2400" dirty="0"/>
              </a:p>
            </p:txBody>
          </p:sp>
          <p:sp>
            <p:nvSpPr>
              <p:cNvPr id="171021" name="AutoShape 13"/>
              <p:cNvSpPr>
                <a:spLocks noChangeArrowheads="1"/>
              </p:cNvSpPr>
              <p:nvPr/>
            </p:nvSpPr>
            <p:spPr bwMode="auto">
              <a:xfrm>
                <a:off x="1488" y="3456"/>
                <a:ext cx="720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 err="1" smtClean="0"/>
                  <a:t>Ceket</a:t>
                </a:r>
                <a:endParaRPr lang="en-US" sz="2400" dirty="0"/>
              </a:p>
            </p:txBody>
          </p:sp>
          <p:sp>
            <p:nvSpPr>
              <p:cNvPr id="171022" name="Line 14"/>
              <p:cNvSpPr>
                <a:spLocks noChangeShapeType="1"/>
              </p:cNvSpPr>
              <p:nvPr/>
            </p:nvSpPr>
            <p:spPr bwMode="auto">
              <a:xfrm>
                <a:off x="768" y="1488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71023" name="Line 15"/>
              <p:cNvSpPr>
                <a:spLocks noChangeShapeType="1"/>
              </p:cNvSpPr>
              <p:nvPr/>
            </p:nvSpPr>
            <p:spPr bwMode="auto">
              <a:xfrm>
                <a:off x="768" y="2304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71024" name="Line 16"/>
              <p:cNvSpPr>
                <a:spLocks noChangeShapeType="1"/>
              </p:cNvSpPr>
              <p:nvPr/>
            </p:nvSpPr>
            <p:spPr bwMode="auto">
              <a:xfrm>
                <a:off x="1824" y="254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71025" name="Line 17"/>
              <p:cNvSpPr>
                <a:spLocks noChangeShapeType="1"/>
              </p:cNvSpPr>
              <p:nvPr/>
            </p:nvSpPr>
            <p:spPr bwMode="auto">
              <a:xfrm>
                <a:off x="1824" y="3120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71026" name="Line 18"/>
              <p:cNvSpPr>
                <a:spLocks noChangeShapeType="1"/>
              </p:cNvSpPr>
              <p:nvPr/>
            </p:nvSpPr>
            <p:spPr bwMode="auto">
              <a:xfrm flipH="1">
                <a:off x="1008" y="2544"/>
                <a:ext cx="528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71027" name="Line 19"/>
              <p:cNvSpPr>
                <a:spLocks noChangeShapeType="1"/>
              </p:cNvSpPr>
              <p:nvPr/>
            </p:nvSpPr>
            <p:spPr bwMode="auto">
              <a:xfrm>
                <a:off x="1056" y="3024"/>
                <a:ext cx="48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171028" name="Line 20"/>
            <p:cNvSpPr>
              <a:spLocks noChangeShapeType="1"/>
            </p:cNvSpPr>
            <p:nvPr/>
          </p:nvSpPr>
          <p:spPr bwMode="auto">
            <a:xfrm>
              <a:off x="2784" y="144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71029" name="Line 21"/>
            <p:cNvSpPr>
              <a:spLocks noChangeShapeType="1"/>
            </p:cNvSpPr>
            <p:nvPr/>
          </p:nvSpPr>
          <p:spPr bwMode="auto">
            <a:xfrm flipV="1">
              <a:off x="1104" y="1920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171030" name="Text Box 22"/>
          <p:cNvSpPr txBox="1">
            <a:spLocks noChangeArrowheads="1"/>
          </p:cNvSpPr>
          <p:nvPr/>
        </p:nvSpPr>
        <p:spPr bwMode="auto">
          <a:xfrm>
            <a:off x="4881562" y="3733800"/>
            <a:ext cx="4262438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Arial" charset="0"/>
              </a:rPr>
              <a:t>Daha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karisik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bir</a:t>
            </a:r>
            <a:r>
              <a:rPr lang="en-US" b="1" dirty="0" smtClean="0">
                <a:latin typeface="Arial" charset="0"/>
              </a:rPr>
              <a:t> dag </a:t>
            </a:r>
            <a:r>
              <a:rPr lang="en-US" b="1" dirty="0" err="1" smtClean="0">
                <a:latin typeface="Arial" charset="0"/>
              </a:rPr>
              <a:t>te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oncelik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listesini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bulmak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kolay</a:t>
            </a:r>
            <a:r>
              <a:rPr lang="en-US" b="1" dirty="0" smtClean="0">
                <a:latin typeface="Arial" charset="0"/>
              </a:rPr>
              <a:t> </a:t>
            </a:r>
            <a:r>
              <a:rPr lang="en-US" b="1" dirty="0" err="1" smtClean="0">
                <a:latin typeface="Arial" charset="0"/>
              </a:rPr>
              <a:t>olmayabilir</a:t>
            </a:r>
            <a:r>
              <a:rPr lang="en-US" b="1" dirty="0" smtClean="0">
                <a:latin typeface="Arial" charset="0"/>
              </a:rPr>
              <a:t>.</a:t>
            </a:r>
            <a:endParaRPr lang="en-US" b="1" dirty="0">
              <a:latin typeface="Arial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2222500" y="2895600"/>
            <a:ext cx="42941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4000" i="1" dirty="0">
                <a:solidFill>
                  <a:srgbClr val="CC3300"/>
                </a:solidFill>
                <a:latin typeface="Verdana" pitchFamily="34" charset="0"/>
              </a:rPr>
              <a:t>Topological Sort</a:t>
            </a:r>
            <a:endParaRPr kumimoji="1" lang="en-US" dirty="0"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3BF20772-C1FA-4274-BEFB-6E243DE86A23}" type="slidenum">
              <a:rPr lang="en-US"/>
              <a:pPr/>
              <a:t>11</a:t>
            </a:fld>
            <a:endParaRPr lang="en-US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Topological Sort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Verilen</a:t>
            </a:r>
            <a:r>
              <a:rPr lang="en-US" dirty="0" smtClean="0"/>
              <a:t> directed </a:t>
            </a:r>
            <a:r>
              <a:rPr lang="en-US" dirty="0"/>
              <a:t>acyclic </a:t>
            </a:r>
            <a:r>
              <a:rPr lang="en-US" dirty="0" smtClean="0"/>
              <a:t>graph </a:t>
            </a:r>
            <a:r>
              <a:rPr lang="en-US" dirty="0" err="1" smtClean="0"/>
              <a:t>icin</a:t>
            </a:r>
            <a:r>
              <a:rPr lang="en-US" dirty="0" smtClean="0"/>
              <a:t> </a:t>
            </a:r>
            <a:r>
              <a:rPr lang="en-US" dirty="0"/>
              <a:t>G = (V,E)</a:t>
            </a:r>
          </a:p>
          <a:p>
            <a:r>
              <a:rPr lang="en-US" dirty="0" smtClean="0"/>
              <a:t>Topological </a:t>
            </a:r>
            <a:r>
              <a:rPr lang="en-US" dirty="0"/>
              <a:t>sort </a:t>
            </a:r>
            <a:r>
              <a:rPr lang="en-US" dirty="0" err="1" smtClean="0"/>
              <a:t>G’nin</a:t>
            </a:r>
            <a:r>
              <a:rPr lang="en-US" dirty="0" smtClean="0"/>
              <a:t> node </a:t>
            </a:r>
            <a:r>
              <a:rPr lang="en-US" dirty="0" err="1" smtClean="0"/>
              <a:t>lari</a:t>
            </a:r>
            <a:r>
              <a:rPr lang="en-US" dirty="0" smtClean="0"/>
              <a:t> </a:t>
            </a:r>
            <a:r>
              <a:rPr lang="en-US" dirty="0" err="1" smtClean="0"/>
              <a:t>arasindaki</a:t>
            </a:r>
            <a:r>
              <a:rPr lang="en-US" dirty="0" smtClean="0"/>
              <a:t> </a:t>
            </a:r>
            <a:r>
              <a:rPr lang="en-US" dirty="0" err="1" smtClean="0"/>
              <a:t>oncelik</a:t>
            </a:r>
            <a:r>
              <a:rPr lang="en-US" dirty="0" smtClean="0"/>
              <a:t> </a:t>
            </a:r>
            <a:r>
              <a:rPr lang="en-US" dirty="0" err="1" smtClean="0"/>
              <a:t>sirasini</a:t>
            </a:r>
            <a:r>
              <a:rPr lang="en-US" dirty="0" smtClean="0"/>
              <a:t> </a:t>
            </a:r>
            <a:r>
              <a:rPr lang="en-US" dirty="0" err="1" smtClean="0"/>
              <a:t>belirler</a:t>
            </a:r>
            <a:r>
              <a:rPr lang="en-US" dirty="0" smtClean="0"/>
              <a:t> </a:t>
            </a:r>
            <a:r>
              <a:rPr lang="en-US" dirty="0"/>
              <a:t>v</a:t>
            </a:r>
            <a:r>
              <a:rPr lang="en-US" baseline="-25000" dirty="0"/>
              <a:t>1</a:t>
            </a:r>
            <a:r>
              <a:rPr lang="en-US" dirty="0"/>
              <a:t>, v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v</a:t>
            </a:r>
            <a:r>
              <a:rPr lang="en-US" baseline="-25000" dirty="0" err="1"/>
              <a:t>n</a:t>
            </a:r>
            <a:r>
              <a:rPr lang="en-US" dirty="0"/>
              <a:t>  </a:t>
            </a:r>
            <a:r>
              <a:rPr lang="en-US" dirty="0" err="1" smtClean="0"/>
              <a:t>seklinde</a:t>
            </a:r>
            <a:endParaRPr lang="en-US" dirty="0"/>
          </a:p>
          <a:p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b="1" dirty="0" err="1" smtClean="0">
                <a:solidFill>
                  <a:srgbClr val="000099"/>
                </a:solidFill>
              </a:rPr>
              <a:t>Mantiksal</a:t>
            </a:r>
            <a:r>
              <a:rPr lang="en-US" dirty="0" smtClean="0"/>
              <a:t>: </a:t>
            </a:r>
            <a:r>
              <a:rPr lang="en-US" dirty="0" err="1" smtClean="0"/>
              <a:t>i</a:t>
            </a:r>
            <a:r>
              <a:rPr lang="en-US" dirty="0" smtClean="0"/>
              <a:t>&lt;k </a:t>
            </a:r>
            <a:r>
              <a:rPr lang="en-US" dirty="0" err="1" smtClean="0"/>
              <a:t>icin</a:t>
            </a:r>
            <a:r>
              <a:rPr lang="en-US" dirty="0" smtClean="0"/>
              <a:t> her edge (v</a:t>
            </a:r>
            <a:r>
              <a:rPr lang="en-US" baseline="-25000" dirty="0" smtClean="0"/>
              <a:t>i</a:t>
            </a:r>
            <a:r>
              <a:rPr lang="en-US" dirty="0" smtClean="0"/>
              <a:t> ,</a:t>
            </a:r>
            <a:r>
              <a:rPr lang="en-US" dirty="0" err="1" smtClean="0"/>
              <a:t>v</a:t>
            </a:r>
            <a:r>
              <a:rPr lang="en-US" baseline="-25000" dirty="0" err="1" smtClean="0"/>
              <a:t>k</a:t>
            </a:r>
            <a:r>
              <a:rPr lang="en-US" dirty="0" smtClean="0"/>
              <a:t>) </a:t>
            </a:r>
            <a:r>
              <a:rPr lang="en-US" dirty="0" err="1" smtClean="0"/>
              <a:t>seklinde</a:t>
            </a:r>
            <a:r>
              <a:rPr lang="en-US" dirty="0" smtClean="0"/>
              <a:t> </a:t>
            </a:r>
            <a:r>
              <a:rPr lang="en-US" dirty="0" err="1" smtClean="0"/>
              <a:t>olmali</a:t>
            </a:r>
            <a:r>
              <a:rPr lang="en-US" dirty="0" smtClean="0"/>
              <a:t>.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b="1" dirty="0" err="1" smtClean="0">
                <a:solidFill>
                  <a:srgbClr val="000099"/>
                </a:solidFill>
              </a:rPr>
              <a:t>Gorsel</a:t>
            </a:r>
            <a:r>
              <a:rPr lang="en-US" dirty="0" smtClean="0"/>
              <a:t>: </a:t>
            </a:r>
            <a:r>
              <a:rPr lang="en-US" dirty="0" err="1" smtClean="0"/>
              <a:t>tum</a:t>
            </a:r>
            <a:r>
              <a:rPr lang="en-US" dirty="0" smtClean="0"/>
              <a:t> </a:t>
            </a:r>
            <a:r>
              <a:rPr lang="en-US" dirty="0" err="1" smtClean="0"/>
              <a:t>yol</a:t>
            </a:r>
            <a:r>
              <a:rPr lang="en-US" dirty="0" smtClean="0"/>
              <a:t> </a:t>
            </a:r>
            <a:r>
              <a:rPr lang="en-US" dirty="0" err="1" smtClean="0"/>
              <a:t>lar</a:t>
            </a:r>
            <a:r>
              <a:rPr lang="en-US" dirty="0" smtClean="0"/>
              <a:t> </a:t>
            </a:r>
            <a:r>
              <a:rPr lang="en-US" dirty="0" err="1" smtClean="0"/>
              <a:t>dizi</a:t>
            </a:r>
            <a:r>
              <a:rPr lang="en-US" dirty="0" smtClean="0"/>
              <a:t> </a:t>
            </a:r>
            <a:r>
              <a:rPr lang="en-US" dirty="0" err="1" smtClean="0"/>
              <a:t>uzerinde</a:t>
            </a:r>
            <a:r>
              <a:rPr lang="en-US" dirty="0" smtClean="0"/>
              <a:t> </a:t>
            </a:r>
            <a:r>
              <a:rPr lang="en-US" dirty="0" err="1" smtClean="0"/>
              <a:t>soldan</a:t>
            </a:r>
            <a:r>
              <a:rPr lang="en-US" dirty="0" smtClean="0"/>
              <a:t> saga </a:t>
            </a:r>
            <a:r>
              <a:rPr lang="en-US" dirty="0" err="1" smtClean="0"/>
              <a:t>olmali</a:t>
            </a:r>
            <a:r>
              <a:rPr lang="en-US" dirty="0" smtClean="0"/>
              <a:t>.</a:t>
            </a:r>
            <a:endParaRPr lang="en-US" dirty="0">
              <a:cs typeface="Arial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A349F578-5C8F-4C2B-AE20-62EBA8DA8AD7}" type="slidenum">
              <a:rPr lang="en-US"/>
              <a:pPr/>
              <a:t>12</a:t>
            </a:fld>
            <a:endParaRPr lang="en-US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Topological sort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 smtClean="0"/>
              <a:t>Bir</a:t>
            </a:r>
            <a:r>
              <a:rPr lang="en-US" dirty="0" smtClean="0"/>
              <a:t> DAG </a:t>
            </a:r>
            <a:r>
              <a:rPr lang="en-US" dirty="0" err="1" smtClean="0"/>
              <a:t>icin</a:t>
            </a:r>
            <a:r>
              <a:rPr lang="en-US" dirty="0" smtClean="0"/>
              <a:t> </a:t>
            </a:r>
            <a:r>
              <a:rPr lang="en-US" dirty="0" err="1" smtClean="0"/>
              <a:t>genellikle</a:t>
            </a:r>
            <a:r>
              <a:rPr lang="en-US" dirty="0" smtClean="0"/>
              <a:t> </a:t>
            </a:r>
            <a:r>
              <a:rPr lang="en-US" dirty="0" err="1" smtClean="0"/>
              <a:t>birden</a:t>
            </a:r>
            <a:r>
              <a:rPr lang="en-US" dirty="0" smtClean="0"/>
              <a:t> </a:t>
            </a:r>
            <a:r>
              <a:rPr lang="en-US" dirty="0" err="1" smtClean="0"/>
              <a:t>fazla</a:t>
            </a:r>
            <a:r>
              <a:rPr lang="en-US" dirty="0" smtClean="0"/>
              <a:t> </a:t>
            </a:r>
            <a:r>
              <a:rPr lang="en-US" dirty="0" err="1" smtClean="0"/>
              <a:t>sirali</a:t>
            </a:r>
            <a:r>
              <a:rPr lang="en-US" dirty="0" smtClean="0"/>
              <a:t> </a:t>
            </a:r>
            <a:r>
              <a:rPr lang="en-US" dirty="0" err="1" smtClean="0"/>
              <a:t>dizi</a:t>
            </a:r>
            <a:r>
              <a:rPr lang="en-US" dirty="0" smtClean="0"/>
              <a:t> </a:t>
            </a:r>
            <a:r>
              <a:rPr lang="en-US" dirty="0" err="1" smtClean="0"/>
              <a:t>vardir</a:t>
            </a:r>
            <a:r>
              <a:rPr lang="en-US" dirty="0" smtClean="0"/>
              <a:t>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Topological </a:t>
            </a:r>
            <a:r>
              <a:rPr lang="en-US" dirty="0" err="1" smtClean="0"/>
              <a:t>siralar</a:t>
            </a:r>
            <a:r>
              <a:rPr lang="en-US" dirty="0" smtClean="0"/>
              <a:t> </a:t>
            </a:r>
            <a:r>
              <a:rPr lang="en-US" dirty="0" err="1" smtClean="0"/>
              <a:t>bu</a:t>
            </a:r>
            <a:r>
              <a:rPr lang="en-US" dirty="0" smtClean="0"/>
              <a:t> DAG </a:t>
            </a:r>
            <a:r>
              <a:rPr lang="en-US" dirty="0" err="1" smtClean="0"/>
              <a:t>icin</a:t>
            </a:r>
            <a:r>
              <a:rPr lang="en-US" dirty="0" smtClean="0">
                <a:solidFill>
                  <a:srgbClr val="000099"/>
                </a:solidFill>
              </a:rPr>
              <a:t> </a:t>
            </a:r>
            <a:r>
              <a:rPr lang="en-US" dirty="0"/>
              <a:t>:</a:t>
            </a:r>
          </a:p>
          <a:p>
            <a:pPr lvl="2">
              <a:lnSpc>
                <a:spcPct val="90000"/>
              </a:lnSpc>
            </a:pP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1,2,5,4,3,6,7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2,1,5,4,7,3,6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2,5,1,4,7,3,6</a:t>
            </a:r>
          </a:p>
          <a:p>
            <a:pPr lvl="2">
              <a:lnSpc>
                <a:spcPct val="90000"/>
              </a:lnSpc>
            </a:pPr>
            <a:r>
              <a:rPr lang="en-US" i="1" dirty="0" smtClean="0"/>
              <a:t>Vs.</a:t>
            </a:r>
            <a:endParaRPr lang="en-US" i="1" dirty="0"/>
          </a:p>
          <a:p>
            <a:pPr>
              <a:lnSpc>
                <a:spcPct val="90000"/>
              </a:lnSpc>
              <a:spcBef>
                <a:spcPct val="100000"/>
              </a:spcBef>
            </a:pPr>
            <a:r>
              <a:rPr lang="en-US" dirty="0" err="1" smtClean="0"/>
              <a:t>Tum</a:t>
            </a:r>
            <a:r>
              <a:rPr lang="en-US" dirty="0" smtClean="0"/>
              <a:t> topological </a:t>
            </a:r>
            <a:r>
              <a:rPr lang="en-US" dirty="0" err="1" smtClean="0"/>
              <a:t>siralar</a:t>
            </a:r>
            <a:r>
              <a:rPr lang="en-US" dirty="0" smtClean="0"/>
              <a:t> </a:t>
            </a:r>
            <a:r>
              <a:rPr lang="en-US" i="1" dirty="0" err="1" smtClean="0">
                <a:solidFill>
                  <a:srgbClr val="003399"/>
                </a:solidFill>
              </a:rPr>
              <a:t>gecerlidir</a:t>
            </a:r>
            <a:r>
              <a:rPr lang="en-US" dirty="0" smtClean="0"/>
              <a:t>.</a:t>
            </a: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419600" y="3048000"/>
            <a:ext cx="3990975" cy="1676400"/>
            <a:chOff x="238" y="2475"/>
            <a:chExt cx="2514" cy="1446"/>
          </a:xfrm>
        </p:grpSpPr>
        <p:sp>
          <p:nvSpPr>
            <p:cNvPr id="144389" name="Oval 5"/>
            <p:cNvSpPr>
              <a:spLocks noChangeArrowheads="1"/>
            </p:cNvSpPr>
            <p:nvPr/>
          </p:nvSpPr>
          <p:spPr bwMode="auto">
            <a:xfrm>
              <a:off x="814" y="2475"/>
              <a:ext cx="338" cy="29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Verdana" pitchFamily="34" charset="0"/>
                </a:rPr>
                <a:t>1</a:t>
              </a:r>
            </a:p>
          </p:txBody>
        </p:sp>
        <p:sp>
          <p:nvSpPr>
            <p:cNvPr id="144390" name="Oval 6"/>
            <p:cNvSpPr>
              <a:spLocks noChangeArrowheads="1"/>
            </p:cNvSpPr>
            <p:nvPr/>
          </p:nvSpPr>
          <p:spPr bwMode="auto">
            <a:xfrm>
              <a:off x="1326" y="3049"/>
              <a:ext cx="338" cy="29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Verdana" pitchFamily="34" charset="0"/>
                </a:rPr>
                <a:t>4</a:t>
              </a:r>
            </a:p>
          </p:txBody>
        </p:sp>
        <p:sp>
          <p:nvSpPr>
            <p:cNvPr id="144391" name="Oval 7"/>
            <p:cNvSpPr>
              <a:spLocks noChangeArrowheads="1"/>
            </p:cNvSpPr>
            <p:nvPr/>
          </p:nvSpPr>
          <p:spPr bwMode="auto">
            <a:xfrm>
              <a:off x="1769" y="3630"/>
              <a:ext cx="338" cy="29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Verdana" pitchFamily="34" charset="0"/>
                </a:rPr>
                <a:t>7</a:t>
              </a:r>
            </a:p>
          </p:txBody>
        </p:sp>
        <p:sp>
          <p:nvSpPr>
            <p:cNvPr id="144392" name="Oval 8"/>
            <p:cNvSpPr>
              <a:spLocks noChangeArrowheads="1"/>
            </p:cNvSpPr>
            <p:nvPr/>
          </p:nvSpPr>
          <p:spPr bwMode="auto">
            <a:xfrm>
              <a:off x="794" y="3622"/>
              <a:ext cx="338" cy="29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Verdana" pitchFamily="34" charset="0"/>
                </a:rPr>
                <a:t>6</a:t>
              </a:r>
            </a:p>
          </p:txBody>
        </p:sp>
        <p:sp>
          <p:nvSpPr>
            <p:cNvPr id="144393" name="Oval 9"/>
            <p:cNvSpPr>
              <a:spLocks noChangeArrowheads="1"/>
            </p:cNvSpPr>
            <p:nvPr/>
          </p:nvSpPr>
          <p:spPr bwMode="auto">
            <a:xfrm>
              <a:off x="238" y="3027"/>
              <a:ext cx="338" cy="29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Verdana" pitchFamily="34" charset="0"/>
                </a:rPr>
                <a:t>3</a:t>
              </a:r>
            </a:p>
          </p:txBody>
        </p:sp>
        <p:sp>
          <p:nvSpPr>
            <p:cNvPr id="144394" name="Oval 10"/>
            <p:cNvSpPr>
              <a:spLocks noChangeArrowheads="1"/>
            </p:cNvSpPr>
            <p:nvPr/>
          </p:nvSpPr>
          <p:spPr bwMode="auto">
            <a:xfrm>
              <a:off x="2414" y="3071"/>
              <a:ext cx="338" cy="29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Verdana" pitchFamily="34" charset="0"/>
                </a:rPr>
                <a:t>5</a:t>
              </a:r>
            </a:p>
          </p:txBody>
        </p:sp>
        <p:sp>
          <p:nvSpPr>
            <p:cNvPr id="144395" name="Oval 11"/>
            <p:cNvSpPr>
              <a:spLocks noChangeArrowheads="1"/>
            </p:cNvSpPr>
            <p:nvPr/>
          </p:nvSpPr>
          <p:spPr bwMode="auto">
            <a:xfrm>
              <a:off x="1786" y="2482"/>
              <a:ext cx="338" cy="291"/>
            </a:xfrm>
            <a:prstGeom prst="ellipse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Verdana" pitchFamily="34" charset="0"/>
                </a:rPr>
                <a:t>2</a:t>
              </a:r>
            </a:p>
          </p:txBody>
        </p:sp>
        <p:sp>
          <p:nvSpPr>
            <p:cNvPr id="144396" name="Line 12"/>
            <p:cNvSpPr>
              <a:spLocks noChangeShapeType="1"/>
            </p:cNvSpPr>
            <p:nvPr/>
          </p:nvSpPr>
          <p:spPr bwMode="auto">
            <a:xfrm flipH="1">
              <a:off x="528" y="2732"/>
              <a:ext cx="338" cy="3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397" name="Line 13"/>
            <p:cNvSpPr>
              <a:spLocks noChangeShapeType="1"/>
            </p:cNvSpPr>
            <p:nvPr/>
          </p:nvSpPr>
          <p:spPr bwMode="auto">
            <a:xfrm flipH="1">
              <a:off x="2081" y="3337"/>
              <a:ext cx="386" cy="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398" name="Line 14"/>
            <p:cNvSpPr>
              <a:spLocks noChangeShapeType="1"/>
            </p:cNvSpPr>
            <p:nvPr/>
          </p:nvSpPr>
          <p:spPr bwMode="auto">
            <a:xfrm flipH="1">
              <a:off x="1563" y="2739"/>
              <a:ext cx="300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399" name="Line 15"/>
            <p:cNvSpPr>
              <a:spLocks noChangeShapeType="1"/>
            </p:cNvSpPr>
            <p:nvPr/>
          </p:nvSpPr>
          <p:spPr bwMode="auto">
            <a:xfrm>
              <a:off x="1069" y="2750"/>
              <a:ext cx="309" cy="3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400" name="Line 16"/>
            <p:cNvSpPr>
              <a:spLocks noChangeShapeType="1"/>
            </p:cNvSpPr>
            <p:nvPr/>
          </p:nvSpPr>
          <p:spPr bwMode="auto">
            <a:xfrm>
              <a:off x="1564" y="3336"/>
              <a:ext cx="309" cy="3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401" name="Line 17"/>
            <p:cNvSpPr>
              <a:spLocks noChangeShapeType="1"/>
            </p:cNvSpPr>
            <p:nvPr/>
          </p:nvSpPr>
          <p:spPr bwMode="auto">
            <a:xfrm flipH="1">
              <a:off x="1074" y="3320"/>
              <a:ext cx="300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402" name="Line 18"/>
            <p:cNvSpPr>
              <a:spLocks noChangeShapeType="1"/>
            </p:cNvSpPr>
            <p:nvPr/>
          </p:nvSpPr>
          <p:spPr bwMode="auto">
            <a:xfrm flipH="1" flipV="1">
              <a:off x="1665" y="3220"/>
              <a:ext cx="748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403" name="Line 19"/>
            <p:cNvSpPr>
              <a:spLocks noChangeShapeType="1"/>
            </p:cNvSpPr>
            <p:nvPr/>
          </p:nvSpPr>
          <p:spPr bwMode="auto">
            <a:xfrm flipH="1" flipV="1">
              <a:off x="575" y="3192"/>
              <a:ext cx="758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404" name="Line 20"/>
            <p:cNvSpPr>
              <a:spLocks noChangeShapeType="1"/>
            </p:cNvSpPr>
            <p:nvPr/>
          </p:nvSpPr>
          <p:spPr bwMode="auto">
            <a:xfrm>
              <a:off x="2084" y="2727"/>
              <a:ext cx="385" cy="3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44405" name="Line 21"/>
            <p:cNvSpPr>
              <a:spLocks noChangeShapeType="1"/>
            </p:cNvSpPr>
            <p:nvPr/>
          </p:nvSpPr>
          <p:spPr bwMode="auto">
            <a:xfrm>
              <a:off x="509" y="3285"/>
              <a:ext cx="385" cy="3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3CA1BB20-0648-41B0-B9A4-EB8B6665BAAE}" type="slidenum">
              <a:rPr lang="en-US"/>
              <a:pPr/>
              <a:t>13</a:t>
            </a:fld>
            <a:endParaRPr lang="en-US"/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Topological Sorts </a:t>
            </a:r>
            <a:r>
              <a:rPr lang="en-US" dirty="0" err="1" smtClean="0"/>
              <a:t>ve</a:t>
            </a:r>
            <a:r>
              <a:rPr lang="en-US" dirty="0" smtClean="0"/>
              <a:t> Cycle </a:t>
            </a:r>
            <a:r>
              <a:rPr lang="en-US" dirty="0" err="1" smtClean="0"/>
              <a:t>Iceren</a:t>
            </a:r>
            <a:r>
              <a:rPr lang="en-US" dirty="0" smtClean="0"/>
              <a:t> </a:t>
            </a:r>
            <a:r>
              <a:rPr lang="en-US" dirty="0" err="1" smtClean="0"/>
              <a:t>Graphlar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133600"/>
            <a:ext cx="3276600" cy="1447800"/>
          </a:xfrm>
        </p:spPr>
        <p:txBody>
          <a:bodyPr/>
          <a:lstStyle/>
          <a:p>
            <a:pPr>
              <a:buFontTx/>
              <a:buNone/>
            </a:pPr>
            <a:r>
              <a:rPr lang="en-US" sz="3200" b="1" dirty="0" err="1" smtClean="0">
                <a:solidFill>
                  <a:srgbClr val="CC0000"/>
                </a:solidFill>
                <a:cs typeface="Arial" charset="0"/>
              </a:rPr>
              <a:t>Imkansiz</a:t>
            </a:r>
            <a:r>
              <a:rPr lang="en-US" sz="3200" b="1" dirty="0" smtClean="0">
                <a:solidFill>
                  <a:srgbClr val="CC0000"/>
                </a:solidFill>
                <a:cs typeface="Arial" charset="0"/>
              </a:rPr>
              <a:t>!</a:t>
            </a:r>
            <a:endParaRPr lang="en-US" sz="3200" b="1" dirty="0">
              <a:solidFill>
                <a:srgbClr val="CC0000"/>
              </a:solidFill>
              <a:cs typeface="Arial" charset="0"/>
            </a:endParaRPr>
          </a:p>
          <a:p>
            <a:pPr>
              <a:buFontTx/>
              <a:buNone/>
            </a:pPr>
            <a:endParaRPr lang="en-US" sz="3200" b="1" dirty="0">
              <a:solidFill>
                <a:srgbClr val="CC0000"/>
              </a:solidFill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6172200" y="1828800"/>
            <a:ext cx="1752600" cy="1371600"/>
            <a:chOff x="3456" y="2784"/>
            <a:chExt cx="1104" cy="864"/>
          </a:xfrm>
        </p:grpSpPr>
        <p:sp>
          <p:nvSpPr>
            <p:cNvPr id="156684" name="Line 12"/>
            <p:cNvSpPr>
              <a:spLocks noChangeShapeType="1"/>
            </p:cNvSpPr>
            <p:nvPr/>
          </p:nvSpPr>
          <p:spPr bwMode="auto">
            <a:xfrm>
              <a:off x="3600" y="3024"/>
              <a:ext cx="288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56686" name="Line 14"/>
            <p:cNvSpPr>
              <a:spLocks noChangeShapeType="1"/>
            </p:cNvSpPr>
            <p:nvPr/>
          </p:nvSpPr>
          <p:spPr bwMode="auto">
            <a:xfrm flipH="1" flipV="1">
              <a:off x="3696" y="2880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56687" name="Line 15"/>
            <p:cNvSpPr>
              <a:spLocks noChangeShapeType="1"/>
            </p:cNvSpPr>
            <p:nvPr/>
          </p:nvSpPr>
          <p:spPr bwMode="auto">
            <a:xfrm flipV="1">
              <a:off x="4128" y="3024"/>
              <a:ext cx="288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156688" name="Oval 16"/>
            <p:cNvSpPr>
              <a:spLocks noChangeArrowheads="1"/>
            </p:cNvSpPr>
            <p:nvPr/>
          </p:nvSpPr>
          <p:spPr bwMode="auto">
            <a:xfrm>
              <a:off x="3456" y="278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1</a:t>
              </a:r>
            </a:p>
          </p:txBody>
        </p:sp>
        <p:sp>
          <p:nvSpPr>
            <p:cNvPr id="156689" name="Oval 17"/>
            <p:cNvSpPr>
              <a:spLocks noChangeArrowheads="1"/>
            </p:cNvSpPr>
            <p:nvPr/>
          </p:nvSpPr>
          <p:spPr bwMode="auto">
            <a:xfrm>
              <a:off x="4320" y="278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2</a:t>
              </a:r>
            </a:p>
          </p:txBody>
        </p:sp>
        <p:sp>
          <p:nvSpPr>
            <p:cNvPr id="156690" name="Oval 18"/>
            <p:cNvSpPr>
              <a:spLocks noChangeArrowheads="1"/>
            </p:cNvSpPr>
            <p:nvPr/>
          </p:nvSpPr>
          <p:spPr bwMode="auto">
            <a:xfrm>
              <a:off x="3888" y="340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/>
                <a:t>3</a:t>
              </a:r>
            </a:p>
          </p:txBody>
        </p:sp>
      </p:grpSp>
      <p:sp>
        <p:nvSpPr>
          <p:cNvPr id="156694" name="Text Box 22"/>
          <p:cNvSpPr txBox="1">
            <a:spLocks noChangeArrowheads="1"/>
          </p:cNvSpPr>
          <p:nvPr/>
        </p:nvSpPr>
        <p:spPr bwMode="auto">
          <a:xfrm>
            <a:off x="685800" y="3657600"/>
            <a:ext cx="7696200" cy="227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Arial" charset="0"/>
                <a:cs typeface="Arial" charset="0"/>
              </a:rPr>
              <a:t>  </a:t>
            </a:r>
            <a:r>
              <a:rPr lang="en-US" sz="2800" dirty="0" smtClean="0">
                <a:latin typeface="Arial" charset="0"/>
                <a:cs typeface="Arial" charset="0"/>
              </a:rPr>
              <a:t>v </a:t>
            </a:r>
            <a:r>
              <a:rPr lang="en-US" sz="2800" dirty="0" err="1" smtClean="0">
                <a:latin typeface="Arial" charset="0"/>
                <a:cs typeface="Arial" charset="0"/>
              </a:rPr>
              <a:t>ve</a:t>
            </a:r>
            <a:r>
              <a:rPr lang="en-US" sz="2800" dirty="0" smtClean="0">
                <a:latin typeface="Arial" charset="0"/>
                <a:cs typeface="Arial" charset="0"/>
              </a:rPr>
              <a:t> w cycle </a:t>
            </a:r>
            <a:r>
              <a:rPr lang="en-US" sz="2800" dirty="0" err="1" smtClean="0">
                <a:latin typeface="Arial" charset="0"/>
                <a:cs typeface="Arial" charset="0"/>
              </a:rPr>
              <a:t>uzerindeki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iki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farkli</a:t>
            </a:r>
            <a:r>
              <a:rPr lang="en-US" sz="2800" dirty="0" smtClean="0">
                <a:latin typeface="Arial" charset="0"/>
                <a:cs typeface="Arial" charset="0"/>
              </a:rPr>
              <a:t> node </a:t>
            </a:r>
            <a:r>
              <a:rPr lang="en-US" sz="2800" dirty="0" err="1" smtClean="0">
                <a:latin typeface="Arial" charset="0"/>
                <a:cs typeface="Arial" charset="0"/>
              </a:rPr>
              <a:t>olsun</a:t>
            </a:r>
            <a:r>
              <a:rPr lang="en-US" sz="2800" dirty="0" smtClean="0">
                <a:latin typeface="Arial" charset="0"/>
                <a:cs typeface="Arial" charset="0"/>
              </a:rPr>
              <a:t> v den w ye </a:t>
            </a:r>
            <a:r>
              <a:rPr lang="en-US" sz="2800" dirty="0" err="1" smtClean="0">
                <a:latin typeface="Arial" charset="0"/>
                <a:cs typeface="Arial" charset="0"/>
              </a:rPr>
              <a:t>bir</a:t>
            </a:r>
            <a:r>
              <a:rPr lang="en-US" sz="2800" dirty="0" smtClean="0">
                <a:latin typeface="Arial" charset="0"/>
                <a:cs typeface="Arial" charset="0"/>
              </a:rPr>
              <a:t> simple path </a:t>
            </a:r>
            <a:r>
              <a:rPr lang="en-US" sz="2800" dirty="0" err="1" smtClean="0">
                <a:latin typeface="Arial" charset="0"/>
                <a:cs typeface="Arial" charset="0"/>
              </a:rPr>
              <a:t>ve</a:t>
            </a:r>
            <a:r>
              <a:rPr lang="en-US" sz="2800" dirty="0" smtClean="0">
                <a:latin typeface="Arial" charset="0"/>
                <a:cs typeface="Arial" charset="0"/>
              </a:rPr>
              <a:t> w den v ye </a:t>
            </a:r>
            <a:r>
              <a:rPr lang="en-US" sz="2800" dirty="0" err="1" smtClean="0">
                <a:latin typeface="Arial" charset="0"/>
                <a:cs typeface="Arial" charset="0"/>
              </a:rPr>
              <a:t>bir</a:t>
            </a:r>
            <a:r>
              <a:rPr lang="en-US" sz="2800" dirty="0" smtClean="0">
                <a:latin typeface="Arial" charset="0"/>
                <a:cs typeface="Arial" charset="0"/>
              </a:rPr>
              <a:t> simple path </a:t>
            </a:r>
            <a:r>
              <a:rPr lang="en-US" sz="2800" dirty="0" err="1" smtClean="0">
                <a:latin typeface="Arial" charset="0"/>
                <a:cs typeface="Arial" charset="0"/>
              </a:rPr>
              <a:t>olsun</a:t>
            </a:r>
            <a:r>
              <a:rPr lang="en-US" sz="2800" dirty="0" smtClean="0">
                <a:latin typeface="Arial" charset="0"/>
                <a:cs typeface="Arial" charset="0"/>
              </a:rPr>
              <a:t>. </a:t>
            </a:r>
            <a:endParaRPr lang="en-US" sz="2800" dirty="0">
              <a:latin typeface="Arial" charset="0"/>
              <a:cs typeface="Arial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Herhangi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bir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sira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iki</a:t>
            </a:r>
            <a:r>
              <a:rPr lang="en-US" sz="2800" dirty="0" smtClean="0">
                <a:latin typeface="Arial" charset="0"/>
                <a:cs typeface="Arial" charset="0"/>
              </a:rPr>
              <a:t> path den </a:t>
            </a:r>
            <a:r>
              <a:rPr lang="en-US" sz="2800" dirty="0" err="1" smtClean="0">
                <a:latin typeface="Arial" charset="0"/>
                <a:cs typeface="Arial" charset="0"/>
              </a:rPr>
              <a:t>biri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ile</a:t>
            </a:r>
            <a:r>
              <a:rPr lang="en-US" sz="2800" dirty="0" smtClean="0"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latin typeface="Arial" charset="0"/>
                <a:cs typeface="Arial" charset="0"/>
              </a:rPr>
              <a:t>celisir</a:t>
            </a:r>
            <a:r>
              <a:rPr lang="en-US" sz="2800" dirty="0" smtClean="0">
                <a:latin typeface="Arial" charset="0"/>
                <a:cs typeface="Arial" charset="0"/>
              </a:rPr>
              <a:t>.</a:t>
            </a:r>
            <a:endParaRPr lang="en-US" sz="2800" dirty="0">
              <a:latin typeface="Arial" charset="0"/>
              <a:cs typeface="Arial" charset="0"/>
            </a:endParaRP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 autoUpdateAnimBg="0"/>
      <p:bldP spid="15669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9CEA9097-1C94-407E-931F-37C2E598C4F8}" type="slidenum">
              <a:rPr lang="en-US"/>
              <a:pPr/>
              <a:t>14</a:t>
            </a:fld>
            <a:endParaRPr lang="en-US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</a:t>
            </a:r>
            <a:r>
              <a:rPr lang="en-US" dirty="0" smtClean="0"/>
              <a:t>Sort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 err="1" smtClean="0"/>
              <a:t>Algoritma</a:t>
            </a:r>
            <a:endParaRPr lang="en-US" dirty="0"/>
          </a:p>
          <a:p>
            <a:pPr lvl="1">
              <a:spcBef>
                <a:spcPct val="40000"/>
              </a:spcBef>
            </a:pPr>
            <a:r>
              <a:rPr lang="en-US" dirty="0" err="1" smtClean="0"/>
              <a:t>Tum</a:t>
            </a:r>
            <a:r>
              <a:rPr lang="en-US" dirty="0" smtClean="0"/>
              <a:t> node </a:t>
            </a:r>
            <a:r>
              <a:rPr lang="en-US" dirty="0" err="1" smtClean="0"/>
              <a:t>lari</a:t>
            </a:r>
            <a:r>
              <a:rPr lang="en-US" dirty="0" smtClean="0"/>
              <a:t> </a:t>
            </a:r>
            <a:r>
              <a:rPr lang="en-US" dirty="0" err="1" smtClean="0"/>
              <a:t>indegree</a:t>
            </a:r>
            <a:r>
              <a:rPr lang="en-US" dirty="0" smtClean="0"/>
              <a:t> </a:t>
            </a:r>
            <a:r>
              <a:rPr lang="en-US" dirty="0" err="1" smtClean="0"/>
              <a:t>degerleri</a:t>
            </a:r>
            <a:r>
              <a:rPr lang="en-US" dirty="0" smtClean="0"/>
              <a:t> </a:t>
            </a:r>
            <a:r>
              <a:rPr lang="en-US" dirty="0" err="1" smtClean="0"/>
              <a:t>ile</a:t>
            </a:r>
            <a:r>
              <a:rPr lang="en-US" dirty="0" smtClean="0"/>
              <a:t> </a:t>
            </a:r>
            <a:r>
              <a:rPr lang="en-US" dirty="0" err="1" smtClean="0"/>
              <a:t>saklayalim</a:t>
            </a:r>
            <a:r>
              <a:rPr lang="en-US" dirty="0" smtClean="0"/>
              <a:t>.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 smtClean="0"/>
              <a:t>Node 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oldugu</a:t>
            </a:r>
            <a:r>
              <a:rPr lang="en-US" dirty="0" smtClean="0"/>
              <a:t> </a:t>
            </a:r>
            <a:r>
              <a:rPr lang="en-US" dirty="0" err="1" smtClean="0"/>
              <a:t>surece</a:t>
            </a:r>
            <a:r>
              <a:rPr lang="en-US" dirty="0" smtClean="0"/>
              <a:t> </a:t>
            </a:r>
            <a:r>
              <a:rPr lang="en-US" dirty="0" err="1" smtClean="0"/>
              <a:t>devam</a:t>
            </a:r>
            <a:r>
              <a:rPr lang="en-US" dirty="0" smtClean="0"/>
              <a:t> et: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dirty="0" smtClean="0"/>
              <a:t>Root sec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onu</a:t>
            </a:r>
            <a:r>
              <a:rPr lang="en-US" dirty="0" smtClean="0"/>
              <a:t> </a:t>
            </a:r>
            <a:r>
              <a:rPr lang="en-US" dirty="0" err="1" smtClean="0"/>
              <a:t>ciktiya</a:t>
            </a:r>
            <a:r>
              <a:rPr lang="en-US" dirty="0" smtClean="0"/>
              <a:t> bas(root </a:t>
            </a:r>
            <a:r>
              <a:rPr lang="en-US" dirty="0" err="1" smtClean="0"/>
              <a:t>indegree</a:t>
            </a:r>
            <a:r>
              <a:rPr lang="en-US" dirty="0" smtClean="0"/>
              <a:t> </a:t>
            </a:r>
            <a:r>
              <a:rPr lang="en-US" dirty="0" err="1" smtClean="0"/>
              <a:t>degeri</a:t>
            </a:r>
            <a:r>
              <a:rPr lang="en-US" dirty="0" smtClean="0"/>
              <a:t> 0 </a:t>
            </a:r>
            <a:r>
              <a:rPr lang="en-US" dirty="0" err="1" smtClean="0"/>
              <a:t>olan</a:t>
            </a:r>
            <a:r>
              <a:rPr lang="en-US" dirty="0" smtClean="0"/>
              <a:t> node </a:t>
            </a:r>
            <a:r>
              <a:rPr lang="en-US" dirty="0" err="1" smtClean="0"/>
              <a:t>demekti</a:t>
            </a:r>
            <a:r>
              <a:rPr lang="en-US" dirty="0" smtClean="0"/>
              <a:t> 6.slayt).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dirty="0" smtClean="0"/>
              <a:t>Root u </a:t>
            </a:r>
            <a:r>
              <a:rPr lang="en-US" dirty="0" err="1" smtClean="0"/>
              <a:t>sil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onun</a:t>
            </a:r>
            <a:r>
              <a:rPr lang="en-US" dirty="0" smtClean="0"/>
              <a:t> </a:t>
            </a:r>
            <a:r>
              <a:rPr lang="en-US" dirty="0" err="1" smtClean="0"/>
              <a:t>komsu</a:t>
            </a:r>
            <a:r>
              <a:rPr lang="en-US" dirty="0" smtClean="0"/>
              <a:t> </a:t>
            </a:r>
            <a:r>
              <a:rPr lang="en-US" dirty="0" err="1" smtClean="0"/>
              <a:t>oldugu</a:t>
            </a:r>
            <a:r>
              <a:rPr lang="en-US" dirty="0" smtClean="0"/>
              <a:t> edge </a:t>
            </a:r>
            <a:r>
              <a:rPr lang="en-US" dirty="0" err="1" smtClean="0"/>
              <a:t>leri</a:t>
            </a:r>
            <a:r>
              <a:rPr lang="en-US" dirty="0" smtClean="0"/>
              <a:t> de </a:t>
            </a:r>
            <a:r>
              <a:rPr lang="en-US" dirty="0" err="1" smtClean="0"/>
              <a:t>sil</a:t>
            </a:r>
            <a:endParaRPr lang="en-US" dirty="0"/>
          </a:p>
          <a:p>
            <a:pPr>
              <a:lnSpc>
                <a:spcPct val="80000"/>
              </a:lnSpc>
              <a:spcBef>
                <a:spcPct val="130000"/>
              </a:spcBef>
            </a:pPr>
            <a:r>
              <a:rPr lang="en-US" dirty="0" err="1" smtClean="0"/>
              <a:t>Performans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/>
              <a:t>O(V</a:t>
            </a:r>
            <a:r>
              <a:rPr lang="en-US" baseline="30000" dirty="0"/>
              <a:t>2 +</a:t>
            </a:r>
            <a:r>
              <a:rPr lang="en-US" dirty="0"/>
              <a:t> E</a:t>
            </a:r>
            <a:r>
              <a:rPr lang="en-US" dirty="0" smtClean="0"/>
              <a:t>),</a:t>
            </a:r>
            <a:r>
              <a:rPr lang="en-US" dirty="0" err="1" smtClean="0"/>
              <a:t>eger</a:t>
            </a:r>
            <a:r>
              <a:rPr lang="en-US" dirty="0" smtClean="0"/>
              <a:t> root u </a:t>
            </a:r>
            <a:r>
              <a:rPr lang="en-US" dirty="0" err="1" smtClean="0"/>
              <a:t>bulmak</a:t>
            </a:r>
            <a:r>
              <a:rPr lang="en-US" dirty="0" smtClean="0"/>
              <a:t> </a:t>
            </a:r>
            <a:r>
              <a:rPr lang="en-US" dirty="0" err="1" smtClean="0"/>
              <a:t>icin</a:t>
            </a:r>
            <a:r>
              <a:rPr lang="en-US" dirty="0" smtClean="0"/>
              <a:t> linear search </a:t>
            </a:r>
            <a:r>
              <a:rPr lang="en-US" dirty="0" err="1" smtClean="0"/>
              <a:t>yaparsak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B851D633-53A4-4C2D-B331-E01B1DD95981}" type="slidenum">
              <a:rPr lang="en-US"/>
              <a:pPr/>
              <a:t>15</a:t>
            </a:fld>
            <a:endParaRPr lang="en-US"/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Daha</a:t>
            </a:r>
            <a:r>
              <a:rPr lang="en-US" dirty="0" smtClean="0"/>
              <a:t> </a:t>
            </a:r>
            <a:r>
              <a:rPr lang="en-US" dirty="0" err="1" smtClean="0"/>
              <a:t>iyi</a:t>
            </a:r>
            <a:r>
              <a:rPr lang="en-US" dirty="0" smtClean="0"/>
              <a:t> </a:t>
            </a:r>
            <a:r>
              <a:rPr lang="en-US" dirty="0"/>
              <a:t>topological sort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58200" cy="50292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Algoritma</a:t>
            </a:r>
            <a:r>
              <a:rPr lang="en-US" dirty="0" smtClean="0"/>
              <a:t>:</a:t>
            </a:r>
            <a:endParaRPr lang="en-US" dirty="0"/>
          </a:p>
          <a:p>
            <a:pPr lvl="1">
              <a:spcBef>
                <a:spcPct val="40000"/>
              </a:spcBef>
            </a:pPr>
            <a:r>
              <a:rPr lang="en-US" dirty="0" err="1" smtClean="0"/>
              <a:t>Tum</a:t>
            </a:r>
            <a:r>
              <a:rPr lang="en-US" dirty="0"/>
              <a:t> </a:t>
            </a:r>
            <a:r>
              <a:rPr lang="en-US" dirty="0" smtClean="0"/>
              <a:t>node </a:t>
            </a:r>
            <a:r>
              <a:rPr lang="en-US" dirty="0" err="1" smtClean="0"/>
              <a:t>lari</a:t>
            </a:r>
            <a:r>
              <a:rPr lang="en-US" dirty="0" smtClean="0"/>
              <a:t> </a:t>
            </a:r>
            <a:r>
              <a:rPr lang="en-US" dirty="0" err="1" smtClean="0"/>
              <a:t>tara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root </a:t>
            </a:r>
            <a:r>
              <a:rPr lang="en-US" dirty="0" err="1" smtClean="0"/>
              <a:t>lari</a:t>
            </a:r>
            <a:r>
              <a:rPr lang="en-US" dirty="0" smtClean="0"/>
              <a:t> stack e at.</a:t>
            </a:r>
            <a:endParaRPr lang="en-US" dirty="0"/>
          </a:p>
          <a:p>
            <a:pPr lvl="1">
              <a:spcBef>
                <a:spcPct val="40000"/>
              </a:spcBef>
            </a:pPr>
            <a:r>
              <a:rPr lang="en-US" dirty="0" smtClean="0"/>
              <a:t>Stack </a:t>
            </a:r>
            <a:r>
              <a:rPr lang="en-US" dirty="0" err="1" smtClean="0"/>
              <a:t>bos</a:t>
            </a:r>
            <a:r>
              <a:rPr lang="en-US" dirty="0" smtClean="0"/>
              <a:t> </a:t>
            </a:r>
            <a:r>
              <a:rPr lang="en-US" dirty="0" err="1" smtClean="0"/>
              <a:t>olmadigi</a:t>
            </a:r>
            <a:r>
              <a:rPr lang="en-US" dirty="0" smtClean="0"/>
              <a:t> </a:t>
            </a:r>
            <a:r>
              <a:rPr lang="en-US" dirty="0" err="1" smtClean="0"/>
              <a:t>surece</a:t>
            </a:r>
            <a:r>
              <a:rPr lang="en-US" dirty="0" smtClean="0"/>
              <a:t>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 smtClean="0"/>
              <a:t>islemi</a:t>
            </a:r>
            <a:r>
              <a:rPr lang="en-US" dirty="0" smtClean="0"/>
              <a:t> yap:</a:t>
            </a:r>
            <a:endParaRPr lang="en-US" dirty="0"/>
          </a:p>
          <a:p>
            <a:pPr lvl="2"/>
            <a:r>
              <a:rPr lang="en-US" dirty="0" smtClean="0"/>
              <a:t>Stack ten r root </a:t>
            </a:r>
            <a:r>
              <a:rPr lang="en-US" dirty="0" err="1" smtClean="0"/>
              <a:t>unu</a:t>
            </a:r>
            <a:r>
              <a:rPr lang="en-US" dirty="0" smtClean="0"/>
              <a:t> </a:t>
            </a:r>
            <a:r>
              <a:rPr lang="en-US" dirty="0" err="1" smtClean="0"/>
              <a:t>cikar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ciktiya</a:t>
            </a:r>
            <a:r>
              <a:rPr lang="en-US" dirty="0" smtClean="0"/>
              <a:t> bas.</a:t>
            </a:r>
            <a:endParaRPr lang="en-US" dirty="0"/>
          </a:p>
          <a:p>
            <a:pPr lvl="2"/>
            <a:r>
              <a:rPr lang="en-US" dirty="0" err="1" smtClean="0"/>
              <a:t>Tum</a:t>
            </a:r>
            <a:r>
              <a:rPr lang="en-US" dirty="0" smtClean="0"/>
              <a:t> (</a:t>
            </a:r>
            <a:r>
              <a:rPr lang="en-US" dirty="0" err="1" smtClean="0"/>
              <a:t>r,n</a:t>
            </a:r>
            <a:r>
              <a:rPr lang="en-US" dirty="0" smtClean="0"/>
              <a:t>) </a:t>
            </a:r>
            <a:r>
              <a:rPr lang="en-US" dirty="0" err="1" smtClean="0"/>
              <a:t>seklinde</a:t>
            </a:r>
            <a:r>
              <a:rPr lang="en-US" dirty="0" smtClean="0"/>
              <a:t> </a:t>
            </a:r>
            <a:r>
              <a:rPr lang="en-US" dirty="0" err="1" smtClean="0"/>
              <a:t>olan</a:t>
            </a:r>
            <a:r>
              <a:rPr lang="en-US" dirty="0" smtClean="0"/>
              <a:t> </a:t>
            </a:r>
            <a:r>
              <a:rPr lang="en-US" dirty="0" err="1" smtClean="0"/>
              <a:t>edgeler</a:t>
            </a:r>
            <a:r>
              <a:rPr lang="en-US" dirty="0" smtClean="0"/>
              <a:t> </a:t>
            </a:r>
            <a:r>
              <a:rPr lang="en-US" dirty="0" err="1" smtClean="0"/>
              <a:t>icin</a:t>
            </a:r>
            <a:r>
              <a:rPr lang="en-US" dirty="0" smtClean="0"/>
              <a:t>, n </a:t>
            </a:r>
            <a:r>
              <a:rPr lang="en-US" dirty="0" err="1" smtClean="0"/>
              <a:t>nin</a:t>
            </a:r>
            <a:r>
              <a:rPr lang="en-US" dirty="0" smtClean="0"/>
              <a:t> </a:t>
            </a:r>
            <a:r>
              <a:rPr lang="en-US" dirty="0" err="1" smtClean="0"/>
              <a:t>indegree</a:t>
            </a:r>
            <a:r>
              <a:rPr lang="en-US" dirty="0" smtClean="0"/>
              <a:t> </a:t>
            </a:r>
            <a:r>
              <a:rPr lang="en-US" dirty="0" err="1" smtClean="0"/>
              <a:t>degerini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azalt</a:t>
            </a:r>
            <a:r>
              <a:rPr lang="en-US" dirty="0" smtClean="0"/>
              <a:t>.  Eger n </a:t>
            </a:r>
            <a:r>
              <a:rPr lang="en-US" dirty="0" err="1" smtClean="0"/>
              <a:t>nin</a:t>
            </a:r>
            <a:r>
              <a:rPr lang="en-US" dirty="0" smtClean="0"/>
              <a:t> in degree </a:t>
            </a:r>
            <a:r>
              <a:rPr lang="en-US" dirty="0" err="1" smtClean="0"/>
              <a:t>degeri</a:t>
            </a:r>
            <a:r>
              <a:rPr lang="en-US" dirty="0" smtClean="0"/>
              <a:t> 0 </a:t>
            </a:r>
            <a:r>
              <a:rPr lang="en-US" dirty="0" err="1" smtClean="0"/>
              <a:t>olduysa</a:t>
            </a:r>
            <a:r>
              <a:rPr lang="en-US" dirty="0" smtClean="0"/>
              <a:t> stack e at.</a:t>
            </a:r>
            <a:endParaRPr lang="en-US" dirty="0"/>
          </a:p>
          <a:p>
            <a:r>
              <a:rPr lang="en-US" dirty="0">
                <a:cs typeface="Arial" charset="0"/>
              </a:rPr>
              <a:t>O( V + E )</a:t>
            </a:r>
            <a:r>
              <a:rPr lang="en-US" dirty="0"/>
              <a:t>, </a:t>
            </a:r>
            <a:r>
              <a:rPr lang="en-US" dirty="0" smtClean="0"/>
              <a:t>en </a:t>
            </a:r>
            <a:r>
              <a:rPr lang="en-US" dirty="0" err="1" smtClean="0"/>
              <a:t>kotu</a:t>
            </a:r>
            <a:r>
              <a:rPr lang="en-US" dirty="0" smtClean="0"/>
              <a:t> </a:t>
            </a:r>
            <a:r>
              <a:rPr lang="en-US" dirty="0" err="1" smtClean="0"/>
              <a:t>durumda</a:t>
            </a:r>
            <a:r>
              <a:rPr lang="en-US" dirty="0" smtClean="0"/>
              <a:t> </a:t>
            </a:r>
            <a:r>
              <a:rPr lang="en-US" dirty="0" err="1" smtClean="0"/>
              <a:t>hala</a:t>
            </a:r>
            <a:r>
              <a:rPr lang="en-US" dirty="0" smtClean="0"/>
              <a:t> </a:t>
            </a:r>
            <a:r>
              <a:rPr lang="en-US" i="1" dirty="0" smtClean="0"/>
              <a:t>O</a:t>
            </a:r>
            <a:r>
              <a:rPr lang="en-US" dirty="0" smtClean="0"/>
              <a:t>(V</a:t>
            </a:r>
            <a:r>
              <a:rPr lang="en-US" baseline="30000" dirty="0" smtClean="0"/>
              <a:t>2</a:t>
            </a:r>
            <a:r>
              <a:rPr lang="en-US" dirty="0" smtClean="0"/>
              <a:t>) </a:t>
            </a:r>
            <a:r>
              <a:rPr lang="en-US" dirty="0" err="1" smtClean="0"/>
              <a:t>acnak</a:t>
            </a:r>
            <a:r>
              <a:rPr lang="en-US" dirty="0" smtClean="0"/>
              <a:t> </a:t>
            </a:r>
            <a:r>
              <a:rPr lang="en-US" dirty="0" err="1" smtClean="0"/>
              <a:t>seyrek</a:t>
            </a:r>
            <a:r>
              <a:rPr lang="en-US" dirty="0" smtClean="0"/>
              <a:t> </a:t>
            </a:r>
            <a:r>
              <a:rPr lang="en-US" dirty="0" err="1" smtClean="0"/>
              <a:t>graphlarda</a:t>
            </a:r>
            <a:r>
              <a:rPr lang="en-US" dirty="0" smtClean="0"/>
              <a:t> </a:t>
            </a:r>
            <a:r>
              <a:rPr lang="en-US" dirty="0" err="1" smtClean="0"/>
              <a:t>daha</a:t>
            </a:r>
            <a:r>
              <a:rPr lang="en-US" dirty="0" smtClean="0"/>
              <a:t> </a:t>
            </a:r>
            <a:r>
              <a:rPr lang="en-US" dirty="0" err="1" smtClean="0"/>
              <a:t>iyi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sonuc</a:t>
            </a:r>
            <a:r>
              <a:rPr lang="en-US" dirty="0" smtClean="0"/>
              <a:t> </a:t>
            </a:r>
            <a:r>
              <a:rPr lang="en-US" dirty="0" err="1" smtClean="0"/>
              <a:t>verir</a:t>
            </a:r>
            <a:r>
              <a:rPr lang="en-US" dirty="0" smtClean="0"/>
              <a:t>.</a:t>
            </a:r>
            <a:endParaRPr lang="en-US" dirty="0"/>
          </a:p>
          <a:p>
            <a:pPr>
              <a:lnSpc>
                <a:spcPct val="80000"/>
              </a:lnSpc>
              <a:spcBef>
                <a:spcPct val="100000"/>
              </a:spcBef>
            </a:pPr>
            <a:r>
              <a:rPr lang="en-US" i="1" dirty="0">
                <a:solidFill>
                  <a:srgbClr val="FF0000"/>
                </a:solidFill>
              </a:rPr>
              <a:t>Q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 smtClean="0">
                <a:solidFill>
                  <a:srgbClr val="FF0000"/>
                </a:solidFill>
              </a:rPr>
              <a:t>Neden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algoritma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dogru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  <a:endParaRPr lang="en-US" dirty="0">
              <a:cs typeface="Arial" charset="0"/>
            </a:endParaRPr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64EA27B-83C4-40C0-9987-15BEF0EAFBF7}" type="slidenum">
              <a:rPr lang="en-US"/>
              <a:pPr/>
              <a:t>16</a:t>
            </a:fld>
            <a:endParaRPr lang="en-US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Dogruluk</a:t>
            </a:r>
            <a:endParaRPr lang="en-US" dirty="0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cs typeface="Arial" charset="0"/>
              </a:rPr>
              <a:t>Bu </a:t>
            </a:r>
            <a:r>
              <a:rPr lang="en-US" dirty="0" err="1" smtClean="0">
                <a:cs typeface="Arial" charset="0"/>
              </a:rPr>
              <a:t>algoritmanin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bulacagi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dizinin</a:t>
            </a:r>
            <a:r>
              <a:rPr lang="en-US" dirty="0" smtClean="0">
                <a:cs typeface="Arial" charset="0"/>
              </a:rPr>
              <a:t> topological </a:t>
            </a:r>
            <a:r>
              <a:rPr lang="en-US" dirty="0" err="1" smtClean="0">
                <a:cs typeface="Arial" charset="0"/>
              </a:rPr>
              <a:t>sira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olacagi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acik</a:t>
            </a:r>
            <a:endParaRPr lang="en-US" dirty="0">
              <a:cs typeface="Arial" charset="0"/>
            </a:endParaRPr>
          </a:p>
          <a:p>
            <a:endParaRPr lang="en-US" dirty="0">
              <a:cs typeface="Arial" charset="0"/>
            </a:endParaRPr>
          </a:p>
          <a:p>
            <a:pPr>
              <a:buFontTx/>
              <a:buNone/>
            </a:pPr>
            <a:r>
              <a:rPr lang="en-US" i="1" dirty="0">
                <a:solidFill>
                  <a:srgbClr val="CC0000"/>
                </a:solidFill>
                <a:cs typeface="Arial" charset="0"/>
              </a:rPr>
              <a:t>   </a:t>
            </a:r>
            <a:r>
              <a:rPr lang="en-US" b="1" i="1" dirty="0" err="1" smtClean="0">
                <a:solidFill>
                  <a:srgbClr val="CC0000"/>
                </a:solidFill>
                <a:cs typeface="Arial" charset="0"/>
              </a:rPr>
              <a:t>Ancak</a:t>
            </a:r>
            <a:r>
              <a:rPr lang="en-US" b="1" i="1" dirty="0" smtClean="0">
                <a:solidFill>
                  <a:srgbClr val="CC0000"/>
                </a:solidFill>
                <a:cs typeface="Arial" charset="0"/>
              </a:rPr>
              <a:t>...</a:t>
            </a:r>
            <a:r>
              <a:rPr lang="en-US" dirty="0" smtClean="0">
                <a:solidFill>
                  <a:srgbClr val="CC0000"/>
                </a:solidFill>
                <a:cs typeface="Arial" charset="0"/>
              </a:rPr>
              <a:t> </a:t>
            </a:r>
            <a:endParaRPr lang="en-US" dirty="0">
              <a:solidFill>
                <a:srgbClr val="CC0000"/>
              </a:solidFill>
              <a:cs typeface="Arial" charset="0"/>
            </a:endParaRPr>
          </a:p>
          <a:p>
            <a:endParaRPr lang="en-US" dirty="0">
              <a:solidFill>
                <a:srgbClr val="CC0000"/>
              </a:solidFill>
              <a:cs typeface="Arial" charset="0"/>
            </a:endParaRPr>
          </a:p>
          <a:p>
            <a:r>
              <a:rPr lang="en-US" dirty="0" smtClean="0">
                <a:cs typeface="Arial" charset="0"/>
              </a:rPr>
              <a:t>Her DAG topological </a:t>
            </a:r>
            <a:r>
              <a:rPr lang="en-US" dirty="0" err="1" smtClean="0">
                <a:cs typeface="Arial" charset="0"/>
              </a:rPr>
              <a:t>siraya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sahip</a:t>
            </a:r>
            <a:r>
              <a:rPr lang="en-US" dirty="0" smtClean="0">
                <a:cs typeface="Arial" charset="0"/>
              </a:rPr>
              <a:t> mi </a:t>
            </a:r>
            <a:r>
              <a:rPr lang="en-US" dirty="0" err="1" smtClean="0">
                <a:cs typeface="Arial" charset="0"/>
              </a:rPr>
              <a:t>ve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bu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algoritmanin</a:t>
            </a:r>
            <a:r>
              <a:rPr lang="en-US" dirty="0" smtClean="0">
                <a:cs typeface="Arial" charset="0"/>
              </a:rPr>
              <a:t> her DAG </a:t>
            </a:r>
            <a:r>
              <a:rPr lang="en-US" dirty="0" err="1" smtClean="0">
                <a:cs typeface="Arial" charset="0"/>
              </a:rPr>
              <a:t>icin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bulacagi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garanti</a:t>
            </a:r>
            <a:r>
              <a:rPr lang="en-US" dirty="0" smtClean="0">
                <a:cs typeface="Arial" charset="0"/>
              </a:rPr>
              <a:t> mi?</a:t>
            </a:r>
            <a:endParaRPr lang="en-US" dirty="0">
              <a:cs typeface="Arial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A27DA246-A0EC-4C7C-8035-E3E0494DC8ED}" type="slidenum">
              <a:rPr lang="en-US"/>
              <a:pPr/>
              <a:t>17</a:t>
            </a:fld>
            <a:endParaRPr lang="en-US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6553200" cy="4038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err="1" smtClean="0">
                <a:cs typeface="Arial" charset="0"/>
              </a:rPr>
              <a:t>Iddia</a:t>
            </a:r>
            <a:r>
              <a:rPr lang="en-US" dirty="0" smtClean="0">
                <a:cs typeface="Arial" charset="0"/>
              </a:rPr>
              <a:t>:</a:t>
            </a:r>
            <a:endParaRPr lang="en-US" dirty="0"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 dirty="0" smtClean="0">
                <a:cs typeface="Arial" charset="0"/>
              </a:rPr>
              <a:t>Bu </a:t>
            </a:r>
            <a:r>
              <a:rPr lang="en-US" dirty="0" err="1" smtClean="0">
                <a:cs typeface="Arial" charset="0"/>
              </a:rPr>
              <a:t>algoritma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yanilmaz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cunku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eger</a:t>
            </a:r>
            <a:r>
              <a:rPr lang="en-US" dirty="0" smtClean="0">
                <a:cs typeface="Arial" charset="0"/>
              </a:rPr>
              <a:t> graph </a:t>
            </a:r>
            <a:r>
              <a:rPr lang="en-US" dirty="0" err="1" smtClean="0">
                <a:cs typeface="Arial" charset="0"/>
              </a:rPr>
              <a:t>ta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gezilmemis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bir</a:t>
            </a:r>
            <a:r>
              <a:rPr lang="en-US" dirty="0" smtClean="0">
                <a:cs typeface="Arial" charset="0"/>
              </a:rPr>
              <a:t> node </a:t>
            </a:r>
            <a:r>
              <a:rPr lang="en-US" dirty="0" err="1" smtClean="0">
                <a:cs typeface="Arial" charset="0"/>
              </a:rPr>
              <a:t>varsa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indegree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degeri</a:t>
            </a:r>
            <a:r>
              <a:rPr lang="en-US" dirty="0" smtClean="0">
                <a:cs typeface="Arial" charset="0"/>
              </a:rPr>
              <a:t> 0 </a:t>
            </a:r>
            <a:r>
              <a:rPr lang="en-US" dirty="0" err="1" smtClean="0">
                <a:cs typeface="Arial" charset="0"/>
              </a:rPr>
              <a:t>olan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bir</a:t>
            </a:r>
            <a:r>
              <a:rPr lang="en-US" dirty="0" smtClean="0">
                <a:cs typeface="Arial" charset="0"/>
              </a:rPr>
              <a:t> node </a:t>
            </a:r>
            <a:r>
              <a:rPr lang="en-US" dirty="0" err="1" smtClean="0">
                <a:cs typeface="Arial" charset="0"/>
              </a:rPr>
              <a:t>kesinlikle</a:t>
            </a:r>
            <a:r>
              <a:rPr lang="en-US" dirty="0" smtClean="0">
                <a:cs typeface="Arial" charset="0"/>
              </a:rPr>
              <a:t> </a:t>
            </a:r>
            <a:r>
              <a:rPr lang="en-US" dirty="0" err="1" smtClean="0">
                <a:cs typeface="Arial" charset="0"/>
              </a:rPr>
              <a:t>vardir</a:t>
            </a:r>
            <a:r>
              <a:rPr lang="en-US" dirty="0" smtClean="0">
                <a:cs typeface="Arial" charset="0"/>
              </a:rPr>
              <a:t>.</a:t>
            </a:r>
            <a:endParaRPr lang="en-US" dirty="0">
              <a:cs typeface="Arial" charset="0"/>
            </a:endParaRPr>
          </a:p>
          <a:p>
            <a:pPr lvl="1">
              <a:lnSpc>
                <a:spcPct val="90000"/>
              </a:lnSpc>
            </a:pPr>
            <a:endParaRPr 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dirty="0" err="1" smtClean="0"/>
              <a:t>Ipucu</a:t>
            </a:r>
            <a:r>
              <a:rPr lang="en-US" dirty="0" smtClean="0"/>
              <a:t>: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Eger </a:t>
            </a:r>
            <a:r>
              <a:rPr lang="en-US" dirty="0" err="1" smtClean="0"/>
              <a:t>bir</a:t>
            </a:r>
            <a:r>
              <a:rPr lang="en-US" dirty="0" smtClean="0"/>
              <a:t> graph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indegree</a:t>
            </a:r>
            <a:r>
              <a:rPr lang="en-US" dirty="0" smtClean="0"/>
              <a:t> </a:t>
            </a:r>
            <a:r>
              <a:rPr lang="en-US" dirty="0" err="1" smtClean="0"/>
              <a:t>degeri</a:t>
            </a:r>
            <a:r>
              <a:rPr lang="en-US" dirty="0" smtClean="0"/>
              <a:t> 0 </a:t>
            </a:r>
            <a:r>
              <a:rPr lang="en-US" dirty="0" err="1" smtClean="0"/>
              <a:t>olan</a:t>
            </a:r>
            <a:r>
              <a:rPr lang="en-US" dirty="0" smtClean="0"/>
              <a:t> node </a:t>
            </a:r>
            <a:r>
              <a:rPr lang="en-US" dirty="0" err="1" smtClean="0"/>
              <a:t>yoksa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gezilmeyen</a:t>
            </a:r>
            <a:r>
              <a:rPr lang="en-US" dirty="0" smtClean="0"/>
              <a:t> node </a:t>
            </a:r>
            <a:r>
              <a:rPr lang="en-US" dirty="0" err="1" smtClean="0"/>
              <a:t>varsa</a:t>
            </a:r>
            <a:r>
              <a:rPr lang="en-US" dirty="0"/>
              <a:t>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 smtClean="0"/>
              <a:t>durumda</a:t>
            </a:r>
            <a:r>
              <a:rPr lang="en-US" dirty="0" smtClean="0"/>
              <a:t> </a:t>
            </a:r>
            <a:r>
              <a:rPr lang="en-US" i="1" dirty="0">
                <a:solidFill>
                  <a:srgbClr val="CC0000"/>
                </a:solidFill>
              </a:rPr>
              <a:t>cycle </a:t>
            </a:r>
            <a:r>
              <a:rPr lang="en-US" i="1" dirty="0" err="1" smtClean="0">
                <a:solidFill>
                  <a:srgbClr val="CC0000"/>
                </a:solidFill>
              </a:rPr>
              <a:t>olmak</a:t>
            </a:r>
            <a:r>
              <a:rPr lang="en-US" i="1" dirty="0" smtClean="0">
                <a:solidFill>
                  <a:srgbClr val="CC0000"/>
                </a:solidFill>
              </a:rPr>
              <a:t> </a:t>
            </a:r>
            <a:r>
              <a:rPr lang="en-US" i="1" dirty="0" err="1" smtClean="0">
                <a:solidFill>
                  <a:srgbClr val="CC0000"/>
                </a:solidFill>
              </a:rPr>
              <a:t>zorundadir</a:t>
            </a:r>
            <a:r>
              <a:rPr lang="en-US" dirty="0" smtClean="0"/>
              <a:t>, </a:t>
            </a:r>
            <a:r>
              <a:rPr lang="en-US" dirty="0" err="1" smtClean="0"/>
              <a:t>ancak</a:t>
            </a:r>
            <a:r>
              <a:rPr lang="en-US" dirty="0" smtClean="0"/>
              <a:t> topological sort </a:t>
            </a:r>
            <a:r>
              <a:rPr lang="en-US" dirty="0" err="1" smtClean="0"/>
              <a:t>sadece</a:t>
            </a:r>
            <a:r>
              <a:rPr lang="en-US" dirty="0" smtClean="0"/>
              <a:t> DAG </a:t>
            </a:r>
            <a:r>
              <a:rPr lang="en-US" dirty="0" err="1" smtClean="0"/>
              <a:t>ler</a:t>
            </a:r>
            <a:r>
              <a:rPr lang="en-US" dirty="0" smtClean="0"/>
              <a:t> </a:t>
            </a:r>
            <a:r>
              <a:rPr lang="en-US" dirty="0" err="1" smtClean="0"/>
              <a:t>icin</a:t>
            </a:r>
            <a:r>
              <a:rPr lang="en-US" dirty="0" smtClean="0"/>
              <a:t> </a:t>
            </a:r>
            <a:r>
              <a:rPr lang="en-US" dirty="0" err="1" smtClean="0"/>
              <a:t>cozum</a:t>
            </a:r>
            <a:r>
              <a:rPr lang="en-US" dirty="0" smtClean="0"/>
              <a:t> </a:t>
            </a:r>
            <a:r>
              <a:rPr lang="en-US" dirty="0" err="1" smtClean="0"/>
              <a:t>uretebilir</a:t>
            </a:r>
            <a:r>
              <a:rPr lang="en-US" dirty="0" smtClean="0"/>
              <a:t>.</a:t>
            </a: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239000" y="4114800"/>
            <a:ext cx="1447800" cy="1905000"/>
            <a:chOff x="384" y="192"/>
            <a:chExt cx="1392" cy="1680"/>
          </a:xfrm>
        </p:grpSpPr>
        <p:sp>
          <p:nvSpPr>
            <p:cNvPr id="173061" name="Rectangle 5"/>
            <p:cNvSpPr>
              <a:spLocks noChangeArrowheads="1"/>
            </p:cNvSpPr>
            <p:nvPr/>
          </p:nvSpPr>
          <p:spPr bwMode="auto">
            <a:xfrm>
              <a:off x="384" y="192"/>
              <a:ext cx="912" cy="1296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73062" name="Rectangle 6"/>
            <p:cNvSpPr>
              <a:spLocks noChangeArrowheads="1"/>
            </p:cNvSpPr>
            <p:nvPr/>
          </p:nvSpPr>
          <p:spPr bwMode="auto">
            <a:xfrm>
              <a:off x="864" y="576"/>
              <a:ext cx="912" cy="1296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6BF5536C-DF12-42B7-A6D2-1FEE9D5FE080}" type="slidenum">
              <a:rPr lang="en-US"/>
              <a:pPr/>
              <a:t>18</a:t>
            </a:fld>
            <a:endParaRPr lang="en-US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362200"/>
            <a:ext cx="7772400" cy="1143000"/>
          </a:xfrm>
          <a:noFill/>
          <a:ln/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Minimum Spanning </a:t>
            </a:r>
            <a:r>
              <a:rPr lang="en-US" dirty="0" smtClean="0">
                <a:solidFill>
                  <a:srgbClr val="008000"/>
                </a:solidFill>
              </a:rPr>
              <a:t>Tree</a:t>
            </a:r>
            <a:endParaRPr lang="en-US" dirty="0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CBD69888-1F54-489D-BDB3-34BE62C73116}" type="slidenum">
              <a:rPr lang="en-US"/>
              <a:pPr/>
              <a:t>19</a:t>
            </a:fld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</a:t>
            </a:r>
            <a:r>
              <a:rPr lang="en-US" dirty="0" err="1" smtClean="0"/>
              <a:t>Telefon</a:t>
            </a:r>
            <a:r>
              <a:rPr lang="en-US" dirty="0" smtClean="0"/>
              <a:t> </a:t>
            </a:r>
            <a:r>
              <a:rPr lang="en-US" dirty="0" err="1" smtClean="0"/>
              <a:t>Kablosu</a:t>
            </a:r>
            <a:r>
              <a:rPr lang="en-US" dirty="0" smtClean="0"/>
              <a:t> </a:t>
            </a:r>
            <a:r>
              <a:rPr lang="en-US" dirty="0" err="1" smtClean="0"/>
              <a:t>Doseme</a:t>
            </a:r>
            <a:endParaRPr lang="en-US" dirty="0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21507" name="AutoShape 3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21514" name="AutoShape 1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21519" name="AutoShape 1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20" name="Rectangle 1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21" name="Rectangle 1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22" name="Rectangle 1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21524" name="AutoShape 2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25" name="Rectangle 2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26" name="Rectangle 2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27" name="Rectangle 2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21529" name="AutoShape 2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30" name="Rectangle 2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31" name="Rectangle 2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32" name="Rectangle 2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21534" name="AutoShape 3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35" name="Rectangle 3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36" name="Rectangle 3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37" name="Rectangle 3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21539" name="AutoShape 3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40" name="Rectangle 3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41" name="Rectangle 3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42" name="Rectangle 3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21544" name="AutoShape 4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45" name="Rectangle 4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46" name="Rectangle 4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47" name="Rectangle 4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10" name="Group 71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21553" name="Rectangle 49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54" name="Rectangle 50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55" name="Rectangle 51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56" name="Rectangle 52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57" name="Rectangle 53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58" name="Rectangle 54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59" name="Rectangle 55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60" name="Rectangle 56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61" name="Rectangle 57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62" name="Rectangle 58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1563" name="Rectangle 59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</p:grpSp>
      <p:sp>
        <p:nvSpPr>
          <p:cNvPr id="21564" name="Text Box 60"/>
          <p:cNvSpPr txBox="1">
            <a:spLocks noChangeArrowheads="1"/>
          </p:cNvSpPr>
          <p:nvPr/>
        </p:nvSpPr>
        <p:spPr bwMode="auto">
          <a:xfrm>
            <a:off x="4191000" y="3810000"/>
            <a:ext cx="14414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>
                <a:latin typeface="Arial" charset="0"/>
              </a:rPr>
              <a:t>Merkez</a:t>
            </a:r>
            <a:r>
              <a:rPr lang="en-US" sz="1800" dirty="0" smtClean="0">
                <a:latin typeface="Arial" charset="0"/>
              </a:rPr>
              <a:t> </a:t>
            </a:r>
            <a:r>
              <a:rPr lang="en-US" sz="1800" dirty="0" err="1" smtClean="0">
                <a:latin typeface="Arial" charset="0"/>
              </a:rPr>
              <a:t>bina</a:t>
            </a:r>
            <a:endParaRPr lang="en-US" sz="1800" dirty="0">
              <a:latin typeface="Arial" charset="0"/>
            </a:endParaRPr>
          </a:p>
        </p:txBody>
      </p:sp>
      <p:grpSp>
        <p:nvGrpSpPr>
          <p:cNvPr id="11" name="Group 61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21566" name="AutoShape 6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67" name="Rectangle 6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68" name="Rectangle 6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69" name="Rectangle 6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12" name="Group 66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21571" name="AutoShape 6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72" name="Rectangle 6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73" name="Rectangle 6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74" name="Rectangle 7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C6728390-A4A9-4676-914D-4DF73ECD8A06}" type="slidenum">
              <a:rPr lang="en-US"/>
              <a:pPr/>
              <a:t>20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Kablolama:Basit</a:t>
            </a:r>
            <a:r>
              <a:rPr lang="en-US" dirty="0" smtClean="0"/>
              <a:t> </a:t>
            </a:r>
            <a:r>
              <a:rPr lang="en-US" dirty="0" err="1" smtClean="0"/>
              <a:t>Yaklasim</a:t>
            </a:r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22532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33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34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35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22537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38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39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40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22542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43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44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45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22547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48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49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50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22552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53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54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55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22557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58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59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60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22562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63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64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65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9" name="Group 38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22567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68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69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70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22583" name="Text Box 55"/>
          <p:cNvSpPr txBox="1">
            <a:spLocks noChangeArrowheads="1"/>
          </p:cNvSpPr>
          <p:nvPr/>
        </p:nvSpPr>
        <p:spPr bwMode="auto">
          <a:xfrm>
            <a:off x="4191000" y="3810000"/>
            <a:ext cx="14414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>
                <a:latin typeface="Arial" charset="0"/>
              </a:rPr>
              <a:t>Merkez</a:t>
            </a:r>
            <a:r>
              <a:rPr lang="en-US" sz="1800" dirty="0" smtClean="0">
                <a:latin typeface="Arial" charset="0"/>
              </a:rPr>
              <a:t> </a:t>
            </a:r>
            <a:r>
              <a:rPr lang="en-US" sz="1800" dirty="0" err="1" smtClean="0">
                <a:latin typeface="Arial" charset="0"/>
              </a:rPr>
              <a:t>bina</a:t>
            </a:r>
            <a:endParaRPr lang="en-US" sz="1800" dirty="0">
              <a:latin typeface="Arial" charset="0"/>
            </a:endParaRPr>
          </a:p>
        </p:txBody>
      </p: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22585" name="AutoShape 5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86" name="Rectangle 5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87" name="Rectangle 5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88" name="Rectangle 6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11" name="Group 61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22590" name="AutoShape 6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91" name="Rectangle 6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92" name="Rectangle 6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93" name="Rectangle 6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cxnSp>
        <p:nvCxnSpPr>
          <p:cNvPr id="22594" name="AutoShape 66"/>
          <p:cNvCxnSpPr>
            <a:cxnSpLocks noChangeShapeType="1"/>
            <a:stCxn id="22579" idx="0"/>
            <a:endCxn id="22543" idx="2"/>
          </p:cNvCxnSpPr>
          <p:nvPr/>
        </p:nvCxnSpPr>
        <p:spPr bwMode="auto">
          <a:xfrm flipH="1" flipV="1">
            <a:off x="3619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5" name="AutoShape 67"/>
          <p:cNvCxnSpPr>
            <a:cxnSpLocks noChangeShapeType="1"/>
            <a:stCxn id="22579" idx="0"/>
            <a:endCxn id="22553" idx="3"/>
          </p:cNvCxnSpPr>
          <p:nvPr/>
        </p:nvCxnSpPr>
        <p:spPr bwMode="auto">
          <a:xfrm flipH="1" flipV="1">
            <a:off x="2822575" y="3390900"/>
            <a:ext cx="2130425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6" name="AutoShape 68"/>
          <p:cNvCxnSpPr>
            <a:cxnSpLocks noChangeShapeType="1"/>
            <a:stCxn id="22579" idx="0"/>
            <a:endCxn id="22568" idx="3"/>
          </p:cNvCxnSpPr>
          <p:nvPr/>
        </p:nvCxnSpPr>
        <p:spPr bwMode="auto">
          <a:xfrm flipH="1">
            <a:off x="2441575" y="3505200"/>
            <a:ext cx="25114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7" name="AutoShape 69"/>
          <p:cNvCxnSpPr>
            <a:cxnSpLocks noChangeShapeType="1"/>
            <a:stCxn id="22579" idx="0"/>
            <a:endCxn id="22532" idx="5"/>
          </p:cNvCxnSpPr>
          <p:nvPr/>
        </p:nvCxnSpPr>
        <p:spPr bwMode="auto">
          <a:xfrm flipH="1">
            <a:off x="1314450" y="3505200"/>
            <a:ext cx="36385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8" name="AutoShape 70"/>
          <p:cNvCxnSpPr>
            <a:cxnSpLocks noChangeShapeType="1"/>
            <a:stCxn id="22558" idx="3"/>
            <a:endCxn id="22579" idx="0"/>
          </p:cNvCxnSpPr>
          <p:nvPr/>
        </p:nvCxnSpPr>
        <p:spPr bwMode="auto">
          <a:xfrm>
            <a:off x="1603375" y="2628900"/>
            <a:ext cx="33496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9" name="AutoShape 71"/>
          <p:cNvCxnSpPr>
            <a:cxnSpLocks noChangeShapeType="1"/>
            <a:stCxn id="22579" idx="0"/>
            <a:endCxn id="22563" idx="2"/>
          </p:cNvCxnSpPr>
          <p:nvPr/>
        </p:nvCxnSpPr>
        <p:spPr bwMode="auto">
          <a:xfrm flipH="1" flipV="1">
            <a:off x="2095500" y="2057400"/>
            <a:ext cx="28575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600" name="AutoShape 72"/>
          <p:cNvCxnSpPr>
            <a:cxnSpLocks noChangeShapeType="1"/>
            <a:stCxn id="22579" idx="0"/>
            <a:endCxn id="22537" idx="0"/>
          </p:cNvCxnSpPr>
          <p:nvPr/>
        </p:nvCxnSpPr>
        <p:spPr bwMode="auto">
          <a:xfrm>
            <a:off x="4953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601" name="AutoShape 73"/>
          <p:cNvCxnSpPr>
            <a:cxnSpLocks noChangeShapeType="1"/>
            <a:stCxn id="22579" idx="0"/>
            <a:endCxn id="22590" idx="1"/>
          </p:cNvCxnSpPr>
          <p:nvPr/>
        </p:nvCxnSpPr>
        <p:spPr bwMode="auto">
          <a:xfrm>
            <a:off x="4953000" y="3505200"/>
            <a:ext cx="1352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602" name="AutoShape 74"/>
          <p:cNvCxnSpPr>
            <a:cxnSpLocks noChangeShapeType="1"/>
            <a:stCxn id="22579" idx="0"/>
            <a:endCxn id="22585" idx="1"/>
          </p:cNvCxnSpPr>
          <p:nvPr/>
        </p:nvCxnSpPr>
        <p:spPr bwMode="auto">
          <a:xfrm>
            <a:off x="4953000" y="3505200"/>
            <a:ext cx="2114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603" name="AutoShape 75"/>
          <p:cNvCxnSpPr>
            <a:cxnSpLocks noChangeShapeType="1"/>
            <a:stCxn id="22579" idx="0"/>
            <a:endCxn id="22548" idx="1"/>
          </p:cNvCxnSpPr>
          <p:nvPr/>
        </p:nvCxnSpPr>
        <p:spPr bwMode="auto">
          <a:xfrm flipV="1">
            <a:off x="4953000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12" name="Group 76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22572" name="Rectangle 44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573" name="Rectangle 45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74" name="Rectangle 46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75" name="Rectangle 47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76" name="Rectangle 48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77" name="Rectangle 49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78" name="Rectangle 50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79" name="Rectangle 51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80" name="Rectangle 52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81" name="Rectangle 53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2582" name="Rectangle 54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</p:grpSp>
      <p:sp>
        <p:nvSpPr>
          <p:cNvPr id="22606" name="Text Box 78"/>
          <p:cNvSpPr txBox="1">
            <a:spLocks noChangeArrowheads="1"/>
          </p:cNvSpPr>
          <p:nvPr/>
        </p:nvSpPr>
        <p:spPr bwMode="auto">
          <a:xfrm>
            <a:off x="3609975" y="5410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7013" indent="-227013"/>
            <a:r>
              <a:rPr lang="en-US" sz="2400" b="1" dirty="0" err="1" smtClean="0">
                <a:latin typeface="Arial" charset="0"/>
              </a:rPr>
              <a:t>Pahali</a:t>
            </a:r>
            <a:r>
              <a:rPr lang="en-US" sz="2400" b="1" dirty="0" smtClean="0">
                <a:latin typeface="Arial" charset="0"/>
              </a:rPr>
              <a:t>!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8FFB3F0-0A98-46ED-9BF2-0583175611A8}" type="slidenum">
              <a:rPr lang="en-US"/>
              <a:pPr/>
              <a:t>21</a:t>
            </a:fld>
            <a:endParaRPr 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Kablolama:Daha</a:t>
            </a:r>
            <a:r>
              <a:rPr lang="en-US" dirty="0" smtClean="0"/>
              <a:t> </a:t>
            </a:r>
            <a:r>
              <a:rPr lang="en-US" dirty="0" err="1" smtClean="0"/>
              <a:t>iyi</a:t>
            </a:r>
            <a:r>
              <a:rPr lang="en-US" dirty="0" smtClean="0"/>
              <a:t> </a:t>
            </a:r>
            <a:r>
              <a:rPr lang="en-US" dirty="0" err="1" smtClean="0"/>
              <a:t>yaklasim</a:t>
            </a:r>
            <a:endParaRPr lang="en-US" dirty="0"/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25667" name="AutoShape 6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68" name="Rectangle 6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69" name="Rectangle 6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70" name="Rectangle 7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25672" name="AutoShape 7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73" name="Rectangle 7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74" name="Rectangle 7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75" name="Rectangle 7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4" name="Group 76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25677" name="AutoShape 7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78" name="Rectangle 7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79" name="Rectangle 7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80" name="Rectangle 8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25682" name="AutoShape 8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83" name="Rectangle 8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84" name="Rectangle 8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85" name="Rectangle 8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6" name="Group 86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25687" name="AutoShape 8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88" name="Rectangle 8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89" name="Rectangle 8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90" name="Rectangle 9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7" name="Group 91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25692" name="AutoShape 9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93" name="Rectangle 9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94" name="Rectangle 9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95" name="Rectangle 9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8" name="Group 96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25697" name="AutoShape 9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98" name="Rectangle 9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99" name="Rectangle 9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00" name="Rectangle 10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9" name="Group 101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25702" name="AutoShape 10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03" name="Rectangle 10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04" name="Rectangle 10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05" name="Rectangle 10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25718" name="Text Box 118"/>
          <p:cNvSpPr txBox="1">
            <a:spLocks noChangeArrowheads="1"/>
          </p:cNvSpPr>
          <p:nvPr/>
        </p:nvSpPr>
        <p:spPr bwMode="auto">
          <a:xfrm>
            <a:off x="4191000" y="3810000"/>
            <a:ext cx="14414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>
                <a:latin typeface="Arial" charset="0"/>
              </a:rPr>
              <a:t>Merkez</a:t>
            </a:r>
            <a:r>
              <a:rPr lang="en-US" sz="1800" dirty="0" smtClean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b</a:t>
            </a:r>
            <a:r>
              <a:rPr lang="en-US" sz="1800" dirty="0" err="1" smtClean="0">
                <a:latin typeface="Arial" charset="0"/>
              </a:rPr>
              <a:t>ina</a:t>
            </a:r>
            <a:endParaRPr lang="en-US" sz="1800" dirty="0">
              <a:latin typeface="Arial" charset="0"/>
            </a:endParaRPr>
          </a:p>
        </p:txBody>
      </p:sp>
      <p:grpSp>
        <p:nvGrpSpPr>
          <p:cNvPr id="10" name="Group 119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25720" name="AutoShape 12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21" name="Rectangle 12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22" name="Rectangle 12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23" name="Rectangle 12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11" name="Group 124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25725" name="AutoShape 12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26" name="Rectangle 12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27" name="Rectangle 12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28" name="Rectangle 12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</p:grpSp>
      <p:cxnSp>
        <p:nvCxnSpPr>
          <p:cNvPr id="25729" name="AutoShape 129"/>
          <p:cNvCxnSpPr>
            <a:cxnSpLocks noChangeShapeType="1"/>
            <a:stCxn id="25714" idx="0"/>
            <a:endCxn id="25683" idx="1"/>
          </p:cNvCxnSpPr>
          <p:nvPr/>
        </p:nvCxnSpPr>
        <p:spPr bwMode="auto">
          <a:xfrm flipV="1">
            <a:off x="4953000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0" name="AutoShape 130"/>
          <p:cNvCxnSpPr>
            <a:cxnSpLocks noChangeShapeType="1"/>
            <a:stCxn id="25714" idx="0"/>
            <a:endCxn id="25672" idx="0"/>
          </p:cNvCxnSpPr>
          <p:nvPr/>
        </p:nvCxnSpPr>
        <p:spPr bwMode="auto">
          <a:xfrm>
            <a:off x="4953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1" name="AutoShape 131"/>
          <p:cNvCxnSpPr>
            <a:cxnSpLocks noChangeShapeType="1"/>
            <a:stCxn id="25714" idx="0"/>
            <a:endCxn id="25678" idx="2"/>
          </p:cNvCxnSpPr>
          <p:nvPr/>
        </p:nvCxnSpPr>
        <p:spPr bwMode="auto">
          <a:xfrm flipH="1" flipV="1">
            <a:off x="3619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2" name="AutoShape 132"/>
          <p:cNvCxnSpPr>
            <a:cxnSpLocks noChangeShapeType="1"/>
            <a:stCxn id="25678" idx="2"/>
            <a:endCxn id="25687" idx="5"/>
          </p:cNvCxnSpPr>
          <p:nvPr/>
        </p:nvCxnSpPr>
        <p:spPr bwMode="auto">
          <a:xfrm flipH="1">
            <a:off x="2762250" y="2667000"/>
            <a:ext cx="8572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3" name="AutoShape 133"/>
          <p:cNvCxnSpPr>
            <a:cxnSpLocks noChangeShapeType="1"/>
            <a:stCxn id="25687" idx="1"/>
            <a:endCxn id="25693" idx="3"/>
          </p:cNvCxnSpPr>
          <p:nvPr/>
        </p:nvCxnSpPr>
        <p:spPr bwMode="auto">
          <a:xfrm flipH="1" flipV="1">
            <a:off x="1603375" y="2628900"/>
            <a:ext cx="89217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4" name="AutoShape 134"/>
          <p:cNvCxnSpPr>
            <a:cxnSpLocks noChangeShapeType="1"/>
            <a:stCxn id="25693" idx="3"/>
            <a:endCxn id="25698" idx="2"/>
          </p:cNvCxnSpPr>
          <p:nvPr/>
        </p:nvCxnSpPr>
        <p:spPr bwMode="auto">
          <a:xfrm flipV="1">
            <a:off x="1603375" y="2057400"/>
            <a:ext cx="49212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5" name="AutoShape 135"/>
          <p:cNvCxnSpPr>
            <a:cxnSpLocks noChangeShapeType="1"/>
            <a:stCxn id="25688" idx="2"/>
            <a:endCxn id="25702" idx="5"/>
          </p:cNvCxnSpPr>
          <p:nvPr/>
        </p:nvCxnSpPr>
        <p:spPr bwMode="auto">
          <a:xfrm flipH="1">
            <a:off x="2381250" y="3505200"/>
            <a:ext cx="2476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6" name="AutoShape 136"/>
          <p:cNvCxnSpPr>
            <a:cxnSpLocks noChangeShapeType="1"/>
            <a:stCxn id="25703" idx="1"/>
            <a:endCxn id="25668" idx="3"/>
          </p:cNvCxnSpPr>
          <p:nvPr/>
        </p:nvCxnSpPr>
        <p:spPr bwMode="auto">
          <a:xfrm flipH="1" flipV="1">
            <a:off x="1374775" y="4229100"/>
            <a:ext cx="6794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7" name="AutoShape 137"/>
          <p:cNvCxnSpPr>
            <a:cxnSpLocks noChangeShapeType="1"/>
            <a:stCxn id="25673" idx="3"/>
            <a:endCxn id="25726" idx="1"/>
          </p:cNvCxnSpPr>
          <p:nvPr/>
        </p:nvCxnSpPr>
        <p:spPr bwMode="auto">
          <a:xfrm flipV="1">
            <a:off x="5260975" y="4914900"/>
            <a:ext cx="9842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8" name="AutoShape 138"/>
          <p:cNvCxnSpPr>
            <a:cxnSpLocks noChangeShapeType="1"/>
            <a:stCxn id="25726" idx="3"/>
            <a:endCxn id="25721" idx="1"/>
          </p:cNvCxnSpPr>
          <p:nvPr/>
        </p:nvCxnSpPr>
        <p:spPr bwMode="auto">
          <a:xfrm>
            <a:off x="6632575" y="4914900"/>
            <a:ext cx="374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12" name="Group 139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25707" name="Rectangle 107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708" name="Rectangle 108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09" name="Rectangle 109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10" name="Rectangle 110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11" name="Rectangle 111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12" name="Rectangle 112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13" name="Rectangle 113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14" name="Rectangle 114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15" name="Rectangle 115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16" name="Rectangle 116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  <p:sp>
          <p:nvSpPr>
            <p:cNvPr id="25717" name="Rectangle 117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tr-TR" sz="2400" i="1"/>
            </a:p>
          </p:txBody>
        </p:sp>
      </p:grpSp>
      <p:sp>
        <p:nvSpPr>
          <p:cNvPr id="25740" name="Text Box 140"/>
          <p:cNvSpPr txBox="1">
            <a:spLocks noChangeArrowheads="1"/>
          </p:cNvSpPr>
          <p:nvPr/>
        </p:nvSpPr>
        <p:spPr bwMode="auto">
          <a:xfrm>
            <a:off x="533400" y="5410200"/>
            <a:ext cx="8048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dirty="0" err="1" smtClean="0">
                <a:latin typeface="Arial" charset="0"/>
              </a:rPr>
              <a:t>Musterileri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baglarken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maliyeti</a:t>
            </a:r>
            <a:r>
              <a:rPr lang="en-US" sz="2400" dirty="0" smtClean="0">
                <a:latin typeface="Arial" charset="0"/>
              </a:rPr>
              <a:t> minimize </a:t>
            </a:r>
            <a:r>
              <a:rPr lang="en-US" sz="2400" dirty="0" err="1" smtClean="0">
                <a:latin typeface="Arial" charset="0"/>
              </a:rPr>
              <a:t>etmeliyiz</a:t>
            </a:r>
            <a:r>
              <a:rPr lang="en-US" sz="2400" dirty="0" smtClean="0">
                <a:latin typeface="Arial" charset="0"/>
              </a:rPr>
              <a:t>.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06C1C29C-59A9-4400-8356-FE48E5E4D810}" type="slidenum">
              <a:rPr lang="en-US"/>
              <a:pPr/>
              <a:t>22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Spanning Tree (MST)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3228975" y="1047750"/>
            <a:ext cx="26701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Arial" charset="0"/>
              </a:rPr>
              <a:t>(see Weiss, Section 24.2.2)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066800" y="2819400"/>
            <a:ext cx="705485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err="1" smtClean="0">
                <a:latin typeface="Arial" charset="0"/>
              </a:rPr>
              <a:t>Agactir</a:t>
            </a:r>
            <a:r>
              <a:rPr lang="en-US" sz="2400" dirty="0" smtClean="0">
                <a:latin typeface="Arial" charset="0"/>
              </a:rPr>
              <a:t> (acyclic dir)</a:t>
            </a:r>
            <a:endParaRPr lang="en-US" sz="2400" dirty="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b="1" i="1" dirty="0" smtClean="0"/>
              <a:t>V </a:t>
            </a:r>
            <a:r>
              <a:rPr lang="en-US" sz="2400" dirty="0" err="1" smtClean="0"/>
              <a:t>kumesindeki</a:t>
            </a:r>
            <a:r>
              <a:rPr lang="en-US" sz="2400" dirty="0" smtClean="0"/>
              <a:t> </a:t>
            </a:r>
            <a:r>
              <a:rPr lang="en-US" sz="2400" dirty="0" err="1" smtClean="0"/>
              <a:t>tum</a:t>
            </a:r>
            <a:r>
              <a:rPr lang="en-US" sz="2400" dirty="0" smtClean="0"/>
              <a:t> </a:t>
            </a:r>
            <a:r>
              <a:rPr lang="en-US" sz="2400" dirty="0" err="1" smtClean="0"/>
              <a:t>nodelari</a:t>
            </a:r>
            <a:r>
              <a:rPr lang="en-US" sz="2400" dirty="0" smtClean="0"/>
              <a:t> </a:t>
            </a:r>
            <a:r>
              <a:rPr lang="en-US" sz="2400" dirty="0" err="1" smtClean="0"/>
              <a:t>icerir</a:t>
            </a:r>
            <a:endParaRPr lang="en-US" sz="2400" dirty="0">
              <a:latin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1" i="1" dirty="0" smtClean="0"/>
              <a:t>|</a:t>
            </a:r>
            <a:r>
              <a:rPr lang="en-US" sz="2000" b="1" i="1" dirty="0"/>
              <a:t>V| - 1</a:t>
            </a:r>
            <a:r>
              <a:rPr lang="en-US" sz="2000" dirty="0">
                <a:latin typeface="Arial" charset="0"/>
              </a:rPr>
              <a:t> </a:t>
            </a:r>
            <a:r>
              <a:rPr lang="en-US" sz="2000" dirty="0" smtClean="0">
                <a:latin typeface="Arial" charset="0"/>
              </a:rPr>
              <a:t>edge </a:t>
            </a:r>
            <a:r>
              <a:rPr lang="en-US" sz="2000" dirty="0" err="1" smtClean="0">
                <a:latin typeface="Arial" charset="0"/>
              </a:rPr>
              <a:t>icerir</a:t>
            </a:r>
            <a:endParaRPr lang="en-US" sz="2000" dirty="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err="1" smtClean="0">
                <a:latin typeface="Arial" charset="0"/>
              </a:rPr>
              <a:t>Tum</a:t>
            </a:r>
            <a:r>
              <a:rPr lang="en-US" sz="2400" dirty="0" smtClean="0">
                <a:latin typeface="Arial" charset="0"/>
              </a:rPr>
              <a:t> spanning tree </a:t>
            </a:r>
            <a:r>
              <a:rPr lang="en-US" sz="2400" dirty="0" err="1" smtClean="0">
                <a:latin typeface="Arial" charset="0"/>
              </a:rPr>
              <a:t>ler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icerisinden</a:t>
            </a:r>
            <a:r>
              <a:rPr lang="en-US" sz="2400" dirty="0" smtClean="0">
                <a:latin typeface="Arial" charset="0"/>
              </a:rPr>
              <a:t> minimum </a:t>
            </a:r>
            <a:r>
              <a:rPr lang="en-US" sz="2400" dirty="0" err="1" smtClean="0">
                <a:latin typeface="Arial" charset="0"/>
              </a:rPr>
              <a:t>maliyetli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olandir</a:t>
            </a:r>
            <a:endParaRPr lang="en-US" sz="2400" dirty="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err="1" smtClean="0">
                <a:latin typeface="Arial" charset="0"/>
              </a:rPr>
              <a:t>Tek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olmak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zorunda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degildir</a:t>
            </a:r>
            <a:r>
              <a:rPr lang="en-US" sz="2400" dirty="0" smtClean="0">
                <a:latin typeface="Arial" charset="0"/>
              </a:rPr>
              <a:t>.</a:t>
            </a:r>
            <a:endParaRPr lang="en-US" sz="2400" dirty="0">
              <a:latin typeface="Arial" charset="0"/>
            </a:endParaRP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1066800" y="1692275"/>
            <a:ext cx="708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Arial" charset="0"/>
              </a:rPr>
              <a:t>minimum </a:t>
            </a:r>
            <a:r>
              <a:rPr lang="en-US" sz="2400" b="1" dirty="0">
                <a:solidFill>
                  <a:srgbClr val="008000"/>
                </a:solidFill>
                <a:latin typeface="Arial" charset="0"/>
              </a:rPr>
              <a:t>spanning tree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b="1" i="1" dirty="0" err="1" smtClean="0"/>
              <a:t>G</a:t>
            </a:r>
            <a:r>
              <a:rPr lang="en-US" sz="2400" dirty="0" err="1" smtClean="0">
                <a:latin typeface="Arial" charset="0"/>
              </a:rPr>
              <a:t>graph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inin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alt </a:t>
            </a:r>
            <a:r>
              <a:rPr lang="en-US" sz="2400" dirty="0" err="1" smtClean="0">
                <a:latin typeface="Arial" charset="0"/>
              </a:rPr>
              <a:t>graphidir</a:t>
            </a:r>
            <a:r>
              <a:rPr lang="en-US" sz="2400" dirty="0" smtClean="0">
                <a:latin typeface="Arial" charset="0"/>
              </a:rPr>
              <a:t>, </a:t>
            </a:r>
            <a:r>
              <a:rPr lang="en-US" sz="2400" dirty="0" err="1" smtClean="0">
                <a:latin typeface="Arial" charset="0"/>
              </a:rPr>
              <a:t>ve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su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ozellikleri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saglar</a:t>
            </a:r>
            <a:r>
              <a:rPr lang="en-US" sz="2400" dirty="0">
                <a:latin typeface="Arial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36639A9A-03AE-4B19-AA5D-B17094D73558}" type="slidenum">
              <a:rPr lang="en-US"/>
              <a:pPr/>
              <a:t>23</a:t>
            </a:fld>
            <a:endParaRPr lang="en-US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MST </a:t>
            </a:r>
            <a:r>
              <a:rPr lang="en-US" dirty="0" err="1" smtClean="0"/>
              <a:t>nin</a:t>
            </a:r>
            <a:r>
              <a:rPr lang="en-US" dirty="0" smtClean="0"/>
              <a:t> </a:t>
            </a:r>
            <a:r>
              <a:rPr lang="en-US" dirty="0" err="1" smtClean="0"/>
              <a:t>Uygulamalari</a:t>
            </a: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220788"/>
            <a:ext cx="81788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Her </a:t>
            </a:r>
            <a:r>
              <a:rPr lang="en-US" sz="2400" dirty="0" err="1" smtClean="0"/>
              <a:t>zaman</a:t>
            </a:r>
            <a:r>
              <a:rPr lang="en-US" sz="2400" dirty="0" smtClean="0"/>
              <a:t> </a:t>
            </a:r>
            <a:r>
              <a:rPr lang="en-US" sz="2400" dirty="0" err="1" smtClean="0"/>
              <a:t>tum</a:t>
            </a:r>
            <a:r>
              <a:rPr lang="en-US" sz="2400" dirty="0" smtClean="0"/>
              <a:t> node </a:t>
            </a:r>
            <a:r>
              <a:rPr lang="en-US" sz="2400" dirty="0" err="1" smtClean="0"/>
              <a:t>lar</a:t>
            </a:r>
            <a:r>
              <a:rPr lang="en-US" sz="2400" dirty="0" smtClean="0"/>
              <a:t> minimum </a:t>
            </a:r>
            <a:r>
              <a:rPr lang="en-US" sz="2400" dirty="0" err="1" smtClean="0"/>
              <a:t>maliyetle</a:t>
            </a:r>
            <a:r>
              <a:rPr lang="en-US" sz="2400" dirty="0" smtClean="0"/>
              <a:t> </a:t>
            </a:r>
            <a:r>
              <a:rPr lang="en-US" sz="2400" dirty="0" err="1" smtClean="0"/>
              <a:t>birine</a:t>
            </a:r>
            <a:r>
              <a:rPr lang="en-US" sz="2400" dirty="0" smtClean="0"/>
              <a:t> </a:t>
            </a:r>
            <a:r>
              <a:rPr lang="en-US" sz="2400" dirty="0" err="1" smtClean="0"/>
              <a:t>baglanmak</a:t>
            </a:r>
            <a:r>
              <a:rPr lang="en-US" sz="2400" dirty="0" smtClean="0"/>
              <a:t> </a:t>
            </a:r>
            <a:r>
              <a:rPr lang="en-US" sz="2400" dirty="0" err="1" smtClean="0"/>
              <a:t>ister</a:t>
            </a:r>
            <a:r>
              <a:rPr lang="en-US" sz="2400" dirty="0" smtClean="0"/>
              <a:t> </a:t>
            </a:r>
            <a:r>
              <a:rPr lang="en-US" sz="2400" dirty="0"/>
              <a:t>(</a:t>
            </a:r>
            <a:r>
              <a:rPr lang="en-US" sz="2400" dirty="0" err="1"/>
              <a:t>e.g</a:t>
            </a:r>
            <a:r>
              <a:rPr lang="en-US" sz="2400" dirty="0" err="1" smtClean="0"/>
              <a:t>.,tek</a:t>
            </a:r>
            <a:r>
              <a:rPr lang="en-US" sz="2400" dirty="0" smtClean="0"/>
              <a:t> </a:t>
            </a:r>
            <a:r>
              <a:rPr lang="en-US" sz="2400" dirty="0" err="1" smtClean="0"/>
              <a:t>kaynakli</a:t>
            </a:r>
            <a:r>
              <a:rPr lang="en-US" sz="2400" dirty="0" smtClean="0"/>
              <a:t> </a:t>
            </a:r>
            <a:r>
              <a:rPr lang="en-US" sz="2400" dirty="0" err="1" smtClean="0"/>
              <a:t>devreler</a:t>
            </a:r>
            <a:r>
              <a:rPr lang="en-US" sz="2400" dirty="0" smtClean="0"/>
              <a:t>, </a:t>
            </a:r>
            <a:r>
              <a:rPr lang="en-US" sz="2400" dirty="0" err="1" smtClean="0"/>
              <a:t>kanalizasyon</a:t>
            </a:r>
            <a:r>
              <a:rPr lang="en-US" sz="2400" dirty="0" smtClean="0"/>
              <a:t> </a:t>
            </a:r>
            <a:r>
              <a:rPr lang="en-US" sz="2400" dirty="0" err="1" smtClean="0"/>
              <a:t>boru</a:t>
            </a:r>
            <a:r>
              <a:rPr lang="en-US" sz="2400" dirty="0" smtClean="0"/>
              <a:t> </a:t>
            </a:r>
            <a:r>
              <a:rPr lang="en-US" sz="2400" dirty="0" err="1" smtClean="0"/>
              <a:t>sistemleri</a:t>
            </a:r>
            <a:r>
              <a:rPr lang="en-US" sz="2400" dirty="0" smtClean="0"/>
              <a:t>, </a:t>
            </a:r>
            <a:r>
              <a:rPr lang="en-US" sz="2400" dirty="0" err="1" smtClean="0"/>
              <a:t>yol</a:t>
            </a:r>
            <a:r>
              <a:rPr lang="en-US" sz="2400" dirty="0" smtClean="0"/>
              <a:t> </a:t>
            </a:r>
            <a:r>
              <a:rPr lang="en-US" sz="2400" dirty="0" err="1" smtClean="0"/>
              <a:t>planlari</a:t>
            </a:r>
            <a:r>
              <a:rPr lang="en-US" sz="2400" dirty="0" smtClean="0"/>
              <a:t>…)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 smtClean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Internet </a:t>
            </a:r>
            <a:r>
              <a:rPr lang="en-US" sz="2400" dirty="0" err="1" smtClean="0"/>
              <a:t>icerik</a:t>
            </a:r>
            <a:r>
              <a:rPr lang="en-US" sz="2400" dirty="0" smtClean="0"/>
              <a:t> </a:t>
            </a:r>
            <a:r>
              <a:rPr lang="en-US" sz="2400" dirty="0" err="1" smtClean="0"/>
              <a:t>dagilimi</a:t>
            </a:r>
            <a:endParaRPr lang="en-US" sz="2000" dirty="0" smtClean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400" dirty="0" smtClean="0"/>
              <a:t>Travelling Salesman </a:t>
            </a:r>
            <a:r>
              <a:rPr lang="en-US" sz="2400" dirty="0" err="1" smtClean="0"/>
              <a:t>probleminde</a:t>
            </a:r>
            <a:r>
              <a:rPr lang="en-US" sz="2400" dirty="0" smtClean="0"/>
              <a:t> heuristic </a:t>
            </a:r>
            <a:r>
              <a:rPr lang="en-US" sz="2400" dirty="0" err="1" smtClean="0"/>
              <a:t>belirlenirken</a:t>
            </a:r>
            <a:r>
              <a:rPr lang="en-US" sz="2400" dirty="0" smtClean="0"/>
              <a:t> Travelling Salesman path in </a:t>
            </a:r>
            <a:r>
              <a:rPr lang="en-US" sz="2400" dirty="0" err="1" smtClean="0"/>
              <a:t>uzunlugu</a:t>
            </a:r>
            <a:r>
              <a:rPr lang="en-US" sz="2400" dirty="0" smtClean="0"/>
              <a:t> </a:t>
            </a:r>
            <a:r>
              <a:rPr lang="en-US" sz="2400" dirty="0" err="1" smtClean="0"/>
              <a:t>mst</a:t>
            </a:r>
            <a:r>
              <a:rPr lang="en-US" sz="2400" dirty="0" smtClean="0"/>
              <a:t> </a:t>
            </a:r>
            <a:r>
              <a:rPr lang="en-US" sz="2400" dirty="0" err="1" smtClean="0"/>
              <a:t>nin</a:t>
            </a:r>
            <a:r>
              <a:rPr lang="en-US" sz="2400" dirty="0" smtClean="0"/>
              <a:t> en </a:t>
            </a:r>
            <a:r>
              <a:rPr lang="en-US" sz="2400" dirty="0" err="1" smtClean="0"/>
              <a:t>fazla</a:t>
            </a:r>
            <a:r>
              <a:rPr lang="en-US" sz="2400" dirty="0" smtClean="0"/>
              <a:t> </a:t>
            </a:r>
            <a:r>
              <a:rPr lang="en-US" sz="2400" dirty="0" err="1" smtClean="0"/>
              <a:t>iki</a:t>
            </a:r>
            <a:r>
              <a:rPr lang="en-US" sz="2400" dirty="0" smtClean="0"/>
              <a:t> </a:t>
            </a:r>
            <a:r>
              <a:rPr lang="en-US" sz="2400" dirty="0" err="1" smtClean="0"/>
              <a:t>kati</a:t>
            </a:r>
            <a:r>
              <a:rPr lang="en-US" sz="2400" dirty="0" smtClean="0"/>
              <a:t> </a:t>
            </a:r>
            <a:r>
              <a:rPr lang="en-US" sz="2400" dirty="0" err="1" smtClean="0"/>
              <a:t>olabilir</a:t>
            </a:r>
            <a:r>
              <a:rPr lang="en-US" sz="2400" dirty="0" smtClean="0"/>
              <a:t>.(</a:t>
            </a:r>
            <a:r>
              <a:rPr lang="en-US" sz="2400" i="1" dirty="0" smtClean="0">
                <a:solidFill>
                  <a:srgbClr val="CC0000"/>
                </a:solidFill>
              </a:rPr>
              <a:t>why</a:t>
            </a:r>
            <a:r>
              <a:rPr lang="en-US" sz="2400" i="1" dirty="0">
                <a:solidFill>
                  <a:srgbClr val="CC0000"/>
                </a:solidFill>
              </a:rPr>
              <a:t>??</a:t>
            </a:r>
            <a:r>
              <a:rPr lang="en-US" sz="2400" dirty="0"/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bldLvl="2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2DB0053-D54D-4B3A-9ABC-7AE8EA8998DB}" type="slidenum">
              <a:rPr lang="en-US"/>
              <a:pPr/>
              <a:t>24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MST </a:t>
            </a:r>
            <a:r>
              <a:rPr lang="en-US" dirty="0" err="1" smtClean="0"/>
              <a:t>yi</a:t>
            </a:r>
            <a:r>
              <a:rPr lang="en-US" dirty="0" smtClean="0"/>
              <a:t> </a:t>
            </a:r>
            <a:r>
              <a:rPr lang="en-US" dirty="0" err="1" smtClean="0"/>
              <a:t>nasil</a:t>
            </a:r>
            <a:r>
              <a:rPr lang="en-US" dirty="0" smtClean="0"/>
              <a:t> </a:t>
            </a:r>
            <a:r>
              <a:rPr lang="en-US" dirty="0" err="1" smtClean="0"/>
              <a:t>olusturabiliriz</a:t>
            </a:r>
            <a:r>
              <a:rPr lang="en-US" dirty="0" smtClean="0"/>
              <a:t>? </a:t>
            </a:r>
            <a:endParaRPr lang="en-US" dirty="0"/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1295400" y="2209800"/>
            <a:ext cx="2438400" cy="2057400"/>
            <a:chOff x="2160" y="1344"/>
            <a:chExt cx="1536" cy="1296"/>
          </a:xfrm>
        </p:grpSpPr>
        <p:sp>
          <p:nvSpPr>
            <p:cNvPr id="24596" name="Oval 20"/>
            <p:cNvSpPr>
              <a:spLocks noChangeArrowheads="1"/>
            </p:cNvSpPr>
            <p:nvPr/>
          </p:nvSpPr>
          <p:spPr bwMode="auto">
            <a:xfrm>
              <a:off x="2160" y="158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a</a:t>
              </a:r>
            </a:p>
          </p:txBody>
        </p:sp>
        <p:sp>
          <p:nvSpPr>
            <p:cNvPr id="24597" name="Oval 21"/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24598" name="Oval 22"/>
            <p:cNvSpPr>
              <a:spLocks noChangeArrowheads="1"/>
            </p:cNvSpPr>
            <p:nvPr/>
          </p:nvSpPr>
          <p:spPr bwMode="auto">
            <a:xfrm>
              <a:off x="3216" y="225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e</a:t>
              </a:r>
            </a:p>
          </p:txBody>
        </p:sp>
        <p:sp>
          <p:nvSpPr>
            <p:cNvPr id="24600" name="Oval 24"/>
            <p:cNvSpPr>
              <a:spLocks noChangeArrowheads="1"/>
            </p:cNvSpPr>
            <p:nvPr/>
          </p:nvSpPr>
          <p:spPr bwMode="auto">
            <a:xfrm>
              <a:off x="2640" y="172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d</a:t>
              </a:r>
            </a:p>
          </p:txBody>
        </p:sp>
        <p:sp>
          <p:nvSpPr>
            <p:cNvPr id="24601" name="Oval 25"/>
            <p:cNvSpPr>
              <a:spLocks noChangeArrowheads="1"/>
            </p:cNvSpPr>
            <p:nvPr/>
          </p:nvSpPr>
          <p:spPr bwMode="auto">
            <a:xfrm>
              <a:off x="3456" y="139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b</a:t>
              </a:r>
            </a:p>
          </p:txBody>
        </p:sp>
        <p:cxnSp>
          <p:nvCxnSpPr>
            <p:cNvPr id="24602" name="AutoShape 26"/>
            <p:cNvCxnSpPr>
              <a:cxnSpLocks noChangeShapeType="1"/>
              <a:stCxn id="24596" idx="7"/>
              <a:endCxn id="24601" idx="2"/>
            </p:cNvCxnSpPr>
            <p:nvPr/>
          </p:nvCxnSpPr>
          <p:spPr bwMode="auto">
            <a:xfrm flipV="1">
              <a:off x="2365" y="1512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03" name="AutoShape 27"/>
            <p:cNvCxnSpPr>
              <a:cxnSpLocks noChangeShapeType="1"/>
              <a:stCxn id="24600" idx="6"/>
              <a:endCxn id="24601" idx="3"/>
            </p:cNvCxnSpPr>
            <p:nvPr/>
          </p:nvCxnSpPr>
          <p:spPr bwMode="auto">
            <a:xfrm flipV="1">
              <a:off x="2880" y="1597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04" name="AutoShape 28"/>
            <p:cNvCxnSpPr>
              <a:cxnSpLocks noChangeShapeType="1"/>
              <a:stCxn id="24596" idx="4"/>
              <a:endCxn id="24597" idx="0"/>
            </p:cNvCxnSpPr>
            <p:nvPr/>
          </p:nvCxnSpPr>
          <p:spPr bwMode="auto">
            <a:xfrm>
              <a:off x="2280" y="1824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05" name="AutoShape 29"/>
            <p:cNvCxnSpPr>
              <a:cxnSpLocks noChangeShapeType="1"/>
              <a:stCxn id="24596" idx="5"/>
              <a:endCxn id="24600" idx="2"/>
            </p:cNvCxnSpPr>
            <p:nvPr/>
          </p:nvCxnSpPr>
          <p:spPr bwMode="auto">
            <a:xfrm>
              <a:off x="2365" y="1789"/>
              <a:ext cx="275" cy="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06" name="AutoShape 30"/>
            <p:cNvCxnSpPr>
              <a:cxnSpLocks noChangeShapeType="1"/>
              <a:stCxn id="24597" idx="7"/>
              <a:endCxn id="24600" idx="3"/>
            </p:cNvCxnSpPr>
            <p:nvPr/>
          </p:nvCxnSpPr>
          <p:spPr bwMode="auto">
            <a:xfrm flipV="1">
              <a:off x="2509" y="1933"/>
              <a:ext cx="166" cy="5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07" name="AutoShape 31"/>
            <p:cNvCxnSpPr>
              <a:cxnSpLocks noChangeShapeType="1"/>
              <a:stCxn id="24600" idx="5"/>
              <a:endCxn id="24598" idx="1"/>
            </p:cNvCxnSpPr>
            <p:nvPr/>
          </p:nvCxnSpPr>
          <p:spPr bwMode="auto">
            <a:xfrm>
              <a:off x="2845" y="1933"/>
              <a:ext cx="406" cy="35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08" name="AutoShape 32"/>
            <p:cNvCxnSpPr>
              <a:cxnSpLocks noChangeShapeType="1"/>
              <a:stCxn id="24601" idx="4"/>
              <a:endCxn id="24598" idx="0"/>
            </p:cNvCxnSpPr>
            <p:nvPr/>
          </p:nvCxnSpPr>
          <p:spPr bwMode="auto">
            <a:xfrm flipH="1">
              <a:off x="3336" y="1632"/>
              <a:ext cx="240" cy="6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09" name="AutoShape 33"/>
            <p:cNvCxnSpPr>
              <a:cxnSpLocks noChangeShapeType="1"/>
              <a:stCxn id="24598" idx="2"/>
              <a:endCxn id="24597" idx="6"/>
            </p:cNvCxnSpPr>
            <p:nvPr/>
          </p:nvCxnSpPr>
          <p:spPr bwMode="auto">
            <a:xfrm flipH="1">
              <a:off x="2544" y="2376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4610" name="Text Box 34"/>
            <p:cNvSpPr txBox="1">
              <a:spLocks noChangeArrowheads="1"/>
            </p:cNvSpPr>
            <p:nvPr/>
          </p:nvSpPr>
          <p:spPr bwMode="auto">
            <a:xfrm>
              <a:off x="2438" y="161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2</a:t>
              </a:r>
            </a:p>
          </p:txBody>
        </p:sp>
        <p:sp>
          <p:nvSpPr>
            <p:cNvPr id="24611" name="Text Box 35"/>
            <p:cNvSpPr txBox="1">
              <a:spLocks noChangeArrowheads="1"/>
            </p:cNvSpPr>
            <p:nvPr/>
          </p:nvSpPr>
          <p:spPr bwMode="auto">
            <a:xfrm>
              <a:off x="2448" y="197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24612" name="Text Box 36"/>
            <p:cNvSpPr txBox="1">
              <a:spLocks noChangeArrowheads="1"/>
            </p:cNvSpPr>
            <p:nvPr/>
          </p:nvSpPr>
          <p:spPr bwMode="auto">
            <a:xfrm>
              <a:off x="2172" y="197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24613" name="Text Box 37"/>
            <p:cNvSpPr txBox="1">
              <a:spLocks noChangeArrowheads="1"/>
            </p:cNvSpPr>
            <p:nvPr/>
          </p:nvSpPr>
          <p:spPr bwMode="auto">
            <a:xfrm>
              <a:off x="2780" y="134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9</a:t>
              </a:r>
            </a:p>
          </p:txBody>
        </p:sp>
        <p:sp>
          <p:nvSpPr>
            <p:cNvPr id="24614" name="Text Box 38"/>
            <p:cNvSpPr txBox="1">
              <a:spLocks noChangeArrowheads="1"/>
            </p:cNvSpPr>
            <p:nvPr/>
          </p:nvSpPr>
          <p:spPr bwMode="auto">
            <a:xfrm>
              <a:off x="2972" y="159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6</a:t>
              </a:r>
            </a:p>
          </p:txBody>
        </p:sp>
        <p:sp>
          <p:nvSpPr>
            <p:cNvPr id="24615" name="Text Box 39"/>
            <p:cNvSpPr txBox="1">
              <a:spLocks noChangeArrowheads="1"/>
            </p:cNvSpPr>
            <p:nvPr/>
          </p:nvSpPr>
          <p:spPr bwMode="auto">
            <a:xfrm>
              <a:off x="2972" y="188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24616" name="Text Box 40"/>
            <p:cNvSpPr txBox="1">
              <a:spLocks noChangeArrowheads="1"/>
            </p:cNvSpPr>
            <p:nvPr/>
          </p:nvSpPr>
          <p:spPr bwMode="auto">
            <a:xfrm>
              <a:off x="2780" y="226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24618" name="Text Box 42"/>
            <p:cNvSpPr txBox="1">
              <a:spLocks noChangeArrowheads="1"/>
            </p:cNvSpPr>
            <p:nvPr/>
          </p:nvSpPr>
          <p:spPr bwMode="auto">
            <a:xfrm>
              <a:off x="3456" y="188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5334000" y="2209800"/>
            <a:ext cx="2438400" cy="2057400"/>
            <a:chOff x="3360" y="1392"/>
            <a:chExt cx="1536" cy="1296"/>
          </a:xfrm>
        </p:grpSpPr>
        <p:sp>
          <p:nvSpPr>
            <p:cNvPr id="24621" name="Oval 45"/>
            <p:cNvSpPr>
              <a:spLocks noChangeArrowheads="1"/>
            </p:cNvSpPr>
            <p:nvPr/>
          </p:nvSpPr>
          <p:spPr bwMode="auto">
            <a:xfrm>
              <a:off x="3360" y="163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a</a:t>
              </a:r>
            </a:p>
          </p:txBody>
        </p:sp>
        <p:sp>
          <p:nvSpPr>
            <p:cNvPr id="24622" name="Oval 46"/>
            <p:cNvSpPr>
              <a:spLocks noChangeArrowheads="1"/>
            </p:cNvSpPr>
            <p:nvPr/>
          </p:nvSpPr>
          <p:spPr bwMode="auto">
            <a:xfrm>
              <a:off x="3504" y="244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24623" name="Oval 47"/>
            <p:cNvSpPr>
              <a:spLocks noChangeArrowheads="1"/>
            </p:cNvSpPr>
            <p:nvPr/>
          </p:nvSpPr>
          <p:spPr bwMode="auto">
            <a:xfrm>
              <a:off x="4416" y="230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e</a:t>
              </a:r>
            </a:p>
          </p:txBody>
        </p:sp>
        <p:sp>
          <p:nvSpPr>
            <p:cNvPr id="24624" name="Oval 48"/>
            <p:cNvSpPr>
              <a:spLocks noChangeArrowheads="1"/>
            </p:cNvSpPr>
            <p:nvPr/>
          </p:nvSpPr>
          <p:spPr bwMode="auto">
            <a:xfrm>
              <a:off x="3840" y="177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d</a:t>
              </a:r>
            </a:p>
          </p:txBody>
        </p:sp>
        <p:sp>
          <p:nvSpPr>
            <p:cNvPr id="24625" name="Oval 49"/>
            <p:cNvSpPr>
              <a:spLocks noChangeArrowheads="1"/>
            </p:cNvSpPr>
            <p:nvPr/>
          </p:nvSpPr>
          <p:spPr bwMode="auto">
            <a:xfrm>
              <a:off x="4656" y="144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b</a:t>
              </a:r>
            </a:p>
          </p:txBody>
        </p:sp>
        <p:cxnSp>
          <p:nvCxnSpPr>
            <p:cNvPr id="24626" name="AutoShape 50"/>
            <p:cNvCxnSpPr>
              <a:cxnSpLocks noChangeShapeType="1"/>
              <a:stCxn id="24621" idx="7"/>
              <a:endCxn id="24625" idx="2"/>
            </p:cNvCxnSpPr>
            <p:nvPr/>
          </p:nvCxnSpPr>
          <p:spPr bwMode="auto">
            <a:xfrm flipV="1">
              <a:off x="3565" y="1560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27" name="AutoShape 51"/>
            <p:cNvCxnSpPr>
              <a:cxnSpLocks noChangeShapeType="1"/>
              <a:stCxn id="24624" idx="6"/>
              <a:endCxn id="24625" idx="3"/>
            </p:cNvCxnSpPr>
            <p:nvPr/>
          </p:nvCxnSpPr>
          <p:spPr bwMode="auto">
            <a:xfrm flipV="1">
              <a:off x="4080" y="1645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28" name="AutoShape 52"/>
            <p:cNvCxnSpPr>
              <a:cxnSpLocks noChangeShapeType="1"/>
              <a:stCxn id="24621" idx="4"/>
              <a:endCxn id="24622" idx="0"/>
            </p:cNvCxnSpPr>
            <p:nvPr/>
          </p:nvCxnSpPr>
          <p:spPr bwMode="auto">
            <a:xfrm>
              <a:off x="3480" y="1872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4629" name="AutoShape 53"/>
            <p:cNvCxnSpPr>
              <a:cxnSpLocks noChangeShapeType="1"/>
              <a:stCxn id="24621" idx="5"/>
              <a:endCxn id="24624" idx="2"/>
            </p:cNvCxnSpPr>
            <p:nvPr/>
          </p:nvCxnSpPr>
          <p:spPr bwMode="auto">
            <a:xfrm>
              <a:off x="3565" y="1837"/>
              <a:ext cx="275" cy="59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24630" name="AutoShape 54"/>
            <p:cNvCxnSpPr>
              <a:cxnSpLocks noChangeShapeType="1"/>
              <a:stCxn id="24622" idx="7"/>
              <a:endCxn id="24624" idx="3"/>
            </p:cNvCxnSpPr>
            <p:nvPr/>
          </p:nvCxnSpPr>
          <p:spPr bwMode="auto">
            <a:xfrm flipV="1">
              <a:off x="3709" y="1981"/>
              <a:ext cx="166" cy="502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24631" name="AutoShape 55"/>
            <p:cNvCxnSpPr>
              <a:cxnSpLocks noChangeShapeType="1"/>
              <a:stCxn id="24624" idx="5"/>
              <a:endCxn id="24623" idx="1"/>
            </p:cNvCxnSpPr>
            <p:nvPr/>
          </p:nvCxnSpPr>
          <p:spPr bwMode="auto">
            <a:xfrm>
              <a:off x="4045" y="1981"/>
              <a:ext cx="406" cy="358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24632" name="AutoShape 56"/>
            <p:cNvCxnSpPr>
              <a:cxnSpLocks noChangeShapeType="1"/>
              <a:stCxn id="24625" idx="4"/>
              <a:endCxn id="24623" idx="0"/>
            </p:cNvCxnSpPr>
            <p:nvPr/>
          </p:nvCxnSpPr>
          <p:spPr bwMode="auto">
            <a:xfrm flipH="1">
              <a:off x="4536" y="1680"/>
              <a:ext cx="240" cy="624"/>
            </a:xfrm>
            <a:prstGeom prst="straightConnector1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24633" name="AutoShape 57"/>
            <p:cNvCxnSpPr>
              <a:cxnSpLocks noChangeShapeType="1"/>
              <a:stCxn id="24623" idx="2"/>
              <a:endCxn id="24622" idx="6"/>
            </p:cNvCxnSpPr>
            <p:nvPr/>
          </p:nvCxnSpPr>
          <p:spPr bwMode="auto">
            <a:xfrm flipH="1">
              <a:off x="3744" y="2424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4634" name="Text Box 58"/>
            <p:cNvSpPr txBox="1">
              <a:spLocks noChangeArrowheads="1"/>
            </p:cNvSpPr>
            <p:nvPr/>
          </p:nvSpPr>
          <p:spPr bwMode="auto">
            <a:xfrm>
              <a:off x="3638" y="166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2</a:t>
              </a:r>
            </a:p>
          </p:txBody>
        </p:sp>
        <p:sp>
          <p:nvSpPr>
            <p:cNvPr id="24635" name="Text Box 59"/>
            <p:cNvSpPr txBox="1">
              <a:spLocks noChangeArrowheads="1"/>
            </p:cNvSpPr>
            <p:nvPr/>
          </p:nvSpPr>
          <p:spPr bwMode="auto">
            <a:xfrm>
              <a:off x="3648" y="202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24636" name="Text Box 60"/>
            <p:cNvSpPr txBox="1">
              <a:spLocks noChangeArrowheads="1"/>
            </p:cNvSpPr>
            <p:nvPr/>
          </p:nvSpPr>
          <p:spPr bwMode="auto">
            <a:xfrm>
              <a:off x="3372" y="202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24637" name="Text Box 61"/>
            <p:cNvSpPr txBox="1">
              <a:spLocks noChangeArrowheads="1"/>
            </p:cNvSpPr>
            <p:nvPr/>
          </p:nvSpPr>
          <p:spPr bwMode="auto">
            <a:xfrm>
              <a:off x="3980" y="1392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9</a:t>
              </a:r>
            </a:p>
          </p:txBody>
        </p:sp>
        <p:sp>
          <p:nvSpPr>
            <p:cNvPr id="24638" name="Text Box 62"/>
            <p:cNvSpPr txBox="1">
              <a:spLocks noChangeArrowheads="1"/>
            </p:cNvSpPr>
            <p:nvPr/>
          </p:nvSpPr>
          <p:spPr bwMode="auto">
            <a:xfrm>
              <a:off x="4172" y="164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6</a:t>
              </a:r>
            </a:p>
          </p:txBody>
        </p:sp>
        <p:sp>
          <p:nvSpPr>
            <p:cNvPr id="24639" name="Text Box 63"/>
            <p:cNvSpPr txBox="1">
              <a:spLocks noChangeArrowheads="1"/>
            </p:cNvSpPr>
            <p:nvPr/>
          </p:nvSpPr>
          <p:spPr bwMode="auto">
            <a:xfrm>
              <a:off x="4172" y="1929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24640" name="Text Box 64"/>
            <p:cNvSpPr txBox="1">
              <a:spLocks noChangeArrowheads="1"/>
            </p:cNvSpPr>
            <p:nvPr/>
          </p:nvSpPr>
          <p:spPr bwMode="auto">
            <a:xfrm>
              <a:off x="3980" y="231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24641" name="Text Box 65"/>
            <p:cNvSpPr txBox="1">
              <a:spLocks noChangeArrowheads="1"/>
            </p:cNvSpPr>
            <p:nvPr/>
          </p:nvSpPr>
          <p:spPr bwMode="auto">
            <a:xfrm>
              <a:off x="4656" y="1929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</p:grpSp>
      <p:sp>
        <p:nvSpPr>
          <p:cNvPr id="24643" name="AutoShape 67"/>
          <p:cNvSpPr>
            <a:spLocks noChangeArrowheads="1"/>
          </p:cNvSpPr>
          <p:nvPr/>
        </p:nvSpPr>
        <p:spPr bwMode="auto">
          <a:xfrm>
            <a:off x="4038600" y="3200400"/>
            <a:ext cx="1066800" cy="381000"/>
          </a:xfrm>
          <a:prstGeom prst="rightArrow">
            <a:avLst>
              <a:gd name="adj1" fmla="val 50000"/>
              <a:gd name="adj2" fmla="val 105000"/>
            </a:avLst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A6634411-57A6-46AA-AB1F-3110F2E68357}" type="slidenum">
              <a:rPr lang="en-US"/>
              <a:pPr/>
              <a:t>25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Prim’in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295400" y="1450975"/>
            <a:ext cx="65532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tabLst>
                <a:tab pos="341313" algn="l"/>
                <a:tab pos="681038" algn="l"/>
              </a:tabLst>
            </a:pPr>
            <a:r>
              <a:rPr lang="en-US" sz="2400" b="1" dirty="0" err="1" smtClean="0">
                <a:latin typeface="Arial" charset="0"/>
              </a:rPr>
              <a:t>Baslangic</a:t>
            </a:r>
            <a:endParaRPr lang="en-US" sz="2400" b="1" dirty="0">
              <a:latin typeface="Arial" charset="0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a.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Bir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node sec(r)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ve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root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olsun</a:t>
            </a: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 	b. </a:t>
            </a:r>
            <a:r>
              <a:rPr lang="en-US" sz="2400" b="1" i="1" dirty="0" smtClean="0">
                <a:sym typeface="Symbol" pitchFamily="18" charset="2"/>
              </a:rPr>
              <a:t>D</a:t>
            </a:r>
            <a:r>
              <a:rPr lang="en-US" sz="2400" dirty="0" smtClean="0">
                <a:sym typeface="Symbol" pitchFamily="18" charset="2"/>
              </a:rPr>
              <a:t>(</a:t>
            </a:r>
            <a:r>
              <a:rPr lang="en-US" sz="2400" b="1" i="1" dirty="0" smtClean="0">
                <a:sym typeface="Symbol" pitchFamily="18" charset="2"/>
              </a:rPr>
              <a:t>r</a:t>
            </a:r>
            <a:r>
              <a:rPr lang="en-US" sz="2400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= 0, parent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= </a:t>
            </a:r>
            <a:r>
              <a:rPr lang="en-US" sz="2400" b="1" i="1" dirty="0" smtClean="0">
                <a:sym typeface="Symbol" pitchFamily="18" charset="2"/>
              </a:rPr>
              <a:t>null</a:t>
            </a: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</a:rPr>
              <a:t>	c. </a:t>
            </a:r>
            <a:r>
              <a:rPr lang="en-US" sz="2400" dirty="0" err="1" smtClean="0">
                <a:latin typeface="Arial" charset="0"/>
              </a:rPr>
              <a:t>Tum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i="1" dirty="0" smtClean="0"/>
              <a:t>v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i="1" dirty="0">
                <a:sym typeface="Symbol" pitchFamily="18" charset="2"/>
              </a:rPr>
              <a:t> V</a:t>
            </a:r>
            <a:r>
              <a:rPr lang="en-US" sz="2400" dirty="0">
                <a:latin typeface="Arial" charset="0"/>
                <a:sym typeface="Symbol" pitchFamily="18" charset="2"/>
              </a:rPr>
              <a:t>,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b="1" i="1" dirty="0"/>
              <a:t>v </a:t>
            </a:r>
            <a:r>
              <a:rPr lang="en-US" sz="2400" b="1" i="1" dirty="0">
                <a:sym typeface="Symbol" pitchFamily="18" charset="2"/>
              </a:rPr>
              <a:t> </a:t>
            </a:r>
            <a:r>
              <a:rPr lang="en-US" sz="2400" b="1" i="1" dirty="0" smtClean="0">
                <a:sym typeface="Symbol" pitchFamily="18" charset="2"/>
              </a:rPr>
              <a:t>r</a:t>
            </a:r>
            <a:r>
              <a:rPr lang="en-US" sz="2400" b="1" i="1" dirty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icin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b="1" i="1" dirty="0">
                <a:sym typeface="Symbol" pitchFamily="18" charset="2"/>
              </a:rPr>
              <a:t>D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v</a:t>
            </a:r>
            <a:r>
              <a:rPr lang="en-US" sz="2400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= </a:t>
            </a: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</a:t>
            </a:r>
            <a:r>
              <a:rPr lang="en-US" sz="2400" dirty="0">
                <a:latin typeface="Arial" charset="0"/>
              </a:rPr>
              <a:t>d. </a:t>
            </a:r>
            <a:r>
              <a:rPr lang="en-US" sz="2400" dirty="0" err="1" smtClean="0">
                <a:latin typeface="Arial" charset="0"/>
              </a:rPr>
              <a:t>Tum</a:t>
            </a:r>
            <a:r>
              <a:rPr lang="en-US" sz="2400" dirty="0" smtClean="0">
                <a:latin typeface="Arial" charset="0"/>
              </a:rPr>
              <a:t> node </a:t>
            </a:r>
            <a:r>
              <a:rPr lang="en-US" sz="2400" dirty="0" err="1" smtClean="0">
                <a:latin typeface="Arial" charset="0"/>
              </a:rPr>
              <a:t>lari</a:t>
            </a:r>
            <a:r>
              <a:rPr lang="en-US" sz="2400" dirty="0" smtClean="0">
                <a:latin typeface="Arial" charset="0"/>
              </a:rPr>
              <a:t> D </a:t>
            </a:r>
            <a:r>
              <a:rPr lang="en-US" sz="2400" dirty="0" err="1" smtClean="0">
                <a:latin typeface="Arial" charset="0"/>
              </a:rPr>
              <a:t>degerlerine</a:t>
            </a:r>
            <a:r>
              <a:rPr lang="en-US" sz="2400" dirty="0" smtClean="0">
                <a:latin typeface="Arial" charset="0"/>
              </a:rPr>
              <a:t> gore (</a:t>
            </a:r>
            <a:r>
              <a:rPr lang="en-US" sz="2400" dirty="0" err="1" smtClean="0">
                <a:latin typeface="Arial" charset="0"/>
              </a:rPr>
              <a:t>onceliklie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sira,heap</a:t>
            </a:r>
            <a:r>
              <a:rPr lang="en-US" sz="2400" dirty="0" smtClean="0">
                <a:latin typeface="Arial" charset="0"/>
              </a:rPr>
              <a:t>)priority queue(P) </a:t>
            </a:r>
            <a:r>
              <a:rPr lang="en-US" sz="2400" dirty="0" err="1" smtClean="0">
                <a:latin typeface="Arial" charset="0"/>
              </a:rPr>
              <a:t>ya</a:t>
            </a:r>
            <a:r>
              <a:rPr lang="en-US" sz="2400" dirty="0" smtClean="0">
                <a:latin typeface="Arial" charset="0"/>
              </a:rPr>
              <a:t> at.</a:t>
            </a:r>
            <a:endParaRPr lang="en-US" sz="2400" dirty="0">
              <a:latin typeface="Arial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143000" y="3962400"/>
            <a:ext cx="2438400" cy="2057400"/>
            <a:chOff x="2160" y="1344"/>
            <a:chExt cx="1536" cy="1296"/>
          </a:xfrm>
        </p:grpSpPr>
        <p:sp>
          <p:nvSpPr>
            <p:cNvPr id="44040" name="Oval 8"/>
            <p:cNvSpPr>
              <a:spLocks noChangeArrowheads="1"/>
            </p:cNvSpPr>
            <p:nvPr/>
          </p:nvSpPr>
          <p:spPr bwMode="auto">
            <a:xfrm>
              <a:off x="2160" y="158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a</a:t>
              </a:r>
            </a:p>
          </p:txBody>
        </p:sp>
        <p:sp>
          <p:nvSpPr>
            <p:cNvPr id="44041" name="Oval 9"/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44042" name="Oval 10"/>
            <p:cNvSpPr>
              <a:spLocks noChangeArrowheads="1"/>
            </p:cNvSpPr>
            <p:nvPr/>
          </p:nvSpPr>
          <p:spPr bwMode="auto">
            <a:xfrm>
              <a:off x="3216" y="225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e</a:t>
              </a:r>
            </a:p>
          </p:txBody>
        </p:sp>
        <p:sp>
          <p:nvSpPr>
            <p:cNvPr id="44043" name="Oval 11"/>
            <p:cNvSpPr>
              <a:spLocks noChangeArrowheads="1"/>
            </p:cNvSpPr>
            <p:nvPr/>
          </p:nvSpPr>
          <p:spPr bwMode="auto">
            <a:xfrm>
              <a:off x="2640" y="172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d</a:t>
              </a:r>
            </a:p>
          </p:txBody>
        </p:sp>
        <p:sp>
          <p:nvSpPr>
            <p:cNvPr id="44044" name="Oval 12"/>
            <p:cNvSpPr>
              <a:spLocks noChangeArrowheads="1"/>
            </p:cNvSpPr>
            <p:nvPr/>
          </p:nvSpPr>
          <p:spPr bwMode="auto">
            <a:xfrm>
              <a:off x="3456" y="139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b</a:t>
              </a:r>
            </a:p>
          </p:txBody>
        </p:sp>
        <p:cxnSp>
          <p:nvCxnSpPr>
            <p:cNvPr id="44045" name="AutoShape 13"/>
            <p:cNvCxnSpPr>
              <a:cxnSpLocks noChangeShapeType="1"/>
              <a:stCxn id="44040" idx="7"/>
              <a:endCxn id="44044" idx="2"/>
            </p:cNvCxnSpPr>
            <p:nvPr/>
          </p:nvCxnSpPr>
          <p:spPr bwMode="auto">
            <a:xfrm flipV="1">
              <a:off x="2365" y="1512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046" name="AutoShape 14"/>
            <p:cNvCxnSpPr>
              <a:cxnSpLocks noChangeShapeType="1"/>
              <a:stCxn id="44043" idx="6"/>
              <a:endCxn id="44044" idx="3"/>
            </p:cNvCxnSpPr>
            <p:nvPr/>
          </p:nvCxnSpPr>
          <p:spPr bwMode="auto">
            <a:xfrm flipV="1">
              <a:off x="2880" y="1597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047" name="AutoShape 15"/>
            <p:cNvCxnSpPr>
              <a:cxnSpLocks noChangeShapeType="1"/>
              <a:stCxn id="44040" idx="4"/>
              <a:endCxn id="44041" idx="0"/>
            </p:cNvCxnSpPr>
            <p:nvPr/>
          </p:nvCxnSpPr>
          <p:spPr bwMode="auto">
            <a:xfrm>
              <a:off x="2280" y="1824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048" name="AutoShape 16"/>
            <p:cNvCxnSpPr>
              <a:cxnSpLocks noChangeShapeType="1"/>
              <a:stCxn id="44040" idx="5"/>
              <a:endCxn id="44043" idx="2"/>
            </p:cNvCxnSpPr>
            <p:nvPr/>
          </p:nvCxnSpPr>
          <p:spPr bwMode="auto">
            <a:xfrm>
              <a:off x="2365" y="1789"/>
              <a:ext cx="275" cy="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049" name="AutoShape 17"/>
            <p:cNvCxnSpPr>
              <a:cxnSpLocks noChangeShapeType="1"/>
              <a:stCxn id="44041" idx="7"/>
              <a:endCxn id="44043" idx="3"/>
            </p:cNvCxnSpPr>
            <p:nvPr/>
          </p:nvCxnSpPr>
          <p:spPr bwMode="auto">
            <a:xfrm flipV="1">
              <a:off x="2509" y="1933"/>
              <a:ext cx="166" cy="5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050" name="AutoShape 18"/>
            <p:cNvCxnSpPr>
              <a:cxnSpLocks noChangeShapeType="1"/>
              <a:stCxn id="44043" idx="5"/>
              <a:endCxn id="44042" idx="1"/>
            </p:cNvCxnSpPr>
            <p:nvPr/>
          </p:nvCxnSpPr>
          <p:spPr bwMode="auto">
            <a:xfrm>
              <a:off x="2845" y="1933"/>
              <a:ext cx="406" cy="35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051" name="AutoShape 19"/>
            <p:cNvCxnSpPr>
              <a:cxnSpLocks noChangeShapeType="1"/>
              <a:stCxn id="44044" idx="4"/>
              <a:endCxn id="44042" idx="0"/>
            </p:cNvCxnSpPr>
            <p:nvPr/>
          </p:nvCxnSpPr>
          <p:spPr bwMode="auto">
            <a:xfrm flipH="1">
              <a:off x="3336" y="1632"/>
              <a:ext cx="240" cy="6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44052" name="AutoShape 20"/>
            <p:cNvCxnSpPr>
              <a:cxnSpLocks noChangeShapeType="1"/>
              <a:stCxn id="44042" idx="2"/>
              <a:endCxn id="44041" idx="6"/>
            </p:cNvCxnSpPr>
            <p:nvPr/>
          </p:nvCxnSpPr>
          <p:spPr bwMode="auto">
            <a:xfrm flipH="1">
              <a:off x="2544" y="2376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44053" name="Text Box 21"/>
            <p:cNvSpPr txBox="1">
              <a:spLocks noChangeArrowheads="1"/>
            </p:cNvSpPr>
            <p:nvPr/>
          </p:nvSpPr>
          <p:spPr bwMode="auto">
            <a:xfrm>
              <a:off x="2438" y="161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2</a:t>
              </a:r>
            </a:p>
          </p:txBody>
        </p:sp>
        <p:sp>
          <p:nvSpPr>
            <p:cNvPr id="44054" name="Text Box 22"/>
            <p:cNvSpPr txBox="1">
              <a:spLocks noChangeArrowheads="1"/>
            </p:cNvSpPr>
            <p:nvPr/>
          </p:nvSpPr>
          <p:spPr bwMode="auto">
            <a:xfrm>
              <a:off x="2448" y="197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44055" name="Text Box 23"/>
            <p:cNvSpPr txBox="1">
              <a:spLocks noChangeArrowheads="1"/>
            </p:cNvSpPr>
            <p:nvPr/>
          </p:nvSpPr>
          <p:spPr bwMode="auto">
            <a:xfrm>
              <a:off x="2172" y="197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44056" name="Text Box 24"/>
            <p:cNvSpPr txBox="1">
              <a:spLocks noChangeArrowheads="1"/>
            </p:cNvSpPr>
            <p:nvPr/>
          </p:nvSpPr>
          <p:spPr bwMode="auto">
            <a:xfrm>
              <a:off x="2780" y="134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9</a:t>
              </a:r>
            </a:p>
          </p:txBody>
        </p:sp>
        <p:sp>
          <p:nvSpPr>
            <p:cNvPr id="44057" name="Text Box 25"/>
            <p:cNvSpPr txBox="1">
              <a:spLocks noChangeArrowheads="1"/>
            </p:cNvSpPr>
            <p:nvPr/>
          </p:nvSpPr>
          <p:spPr bwMode="auto">
            <a:xfrm>
              <a:off x="2972" y="159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6</a:t>
              </a:r>
            </a:p>
          </p:txBody>
        </p:sp>
        <p:sp>
          <p:nvSpPr>
            <p:cNvPr id="44058" name="Text Box 26"/>
            <p:cNvSpPr txBox="1">
              <a:spLocks noChangeArrowheads="1"/>
            </p:cNvSpPr>
            <p:nvPr/>
          </p:nvSpPr>
          <p:spPr bwMode="auto">
            <a:xfrm>
              <a:off x="2972" y="188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44059" name="Text Box 27"/>
            <p:cNvSpPr txBox="1">
              <a:spLocks noChangeArrowheads="1"/>
            </p:cNvSpPr>
            <p:nvPr/>
          </p:nvSpPr>
          <p:spPr bwMode="auto">
            <a:xfrm>
              <a:off x="2780" y="226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44060" name="Text Box 28"/>
            <p:cNvSpPr txBox="1">
              <a:spLocks noChangeArrowheads="1"/>
            </p:cNvSpPr>
            <p:nvPr/>
          </p:nvSpPr>
          <p:spPr bwMode="auto">
            <a:xfrm>
              <a:off x="3456" y="188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4267200" y="4394200"/>
            <a:ext cx="1819275" cy="939800"/>
            <a:chOff x="2976" y="2816"/>
            <a:chExt cx="1146" cy="592"/>
          </a:xfrm>
        </p:grpSpPr>
        <p:grpSp>
          <p:nvGrpSpPr>
            <p:cNvPr id="4" name="Group 48"/>
            <p:cNvGrpSpPr>
              <a:grpSpLocks/>
            </p:cNvGrpSpPr>
            <p:nvPr/>
          </p:nvGrpSpPr>
          <p:grpSpPr bwMode="auto">
            <a:xfrm>
              <a:off x="2976" y="2816"/>
              <a:ext cx="1146" cy="294"/>
              <a:chOff x="2976" y="2816"/>
              <a:chExt cx="1146" cy="294"/>
            </a:xfrm>
          </p:grpSpPr>
          <p:sp>
            <p:nvSpPr>
              <p:cNvPr id="44063" name="Text Box 31"/>
              <p:cNvSpPr txBox="1">
                <a:spLocks noChangeArrowheads="1"/>
              </p:cNvSpPr>
              <p:nvPr/>
            </p:nvSpPr>
            <p:spPr bwMode="auto">
              <a:xfrm>
                <a:off x="2976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charset="0"/>
                  </a:rPr>
                  <a:t>e</a:t>
                </a:r>
              </a:p>
            </p:txBody>
          </p:sp>
          <p:sp>
            <p:nvSpPr>
              <p:cNvPr id="44064" name="Text Box 32"/>
              <p:cNvSpPr txBox="1">
                <a:spLocks noChangeArrowheads="1"/>
              </p:cNvSpPr>
              <p:nvPr/>
            </p:nvSpPr>
            <p:spPr bwMode="auto">
              <a:xfrm>
                <a:off x="3207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charset="0"/>
                  </a:rPr>
                  <a:t>a</a:t>
                </a:r>
              </a:p>
            </p:txBody>
          </p:sp>
          <p:sp>
            <p:nvSpPr>
              <p:cNvPr id="44065" name="Text Box 33"/>
              <p:cNvSpPr txBox="1">
                <a:spLocks noChangeArrowheads="1"/>
              </p:cNvSpPr>
              <p:nvPr/>
            </p:nvSpPr>
            <p:spPr bwMode="auto">
              <a:xfrm>
                <a:off x="3435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charset="0"/>
                  </a:rPr>
                  <a:t>b</a:t>
                </a:r>
              </a:p>
            </p:txBody>
          </p:sp>
          <p:sp>
            <p:nvSpPr>
              <p:cNvPr id="44066" name="Text Box 34"/>
              <p:cNvSpPr txBox="1">
                <a:spLocks noChangeArrowheads="1"/>
              </p:cNvSpPr>
              <p:nvPr/>
            </p:nvSpPr>
            <p:spPr bwMode="auto">
              <a:xfrm>
                <a:off x="3664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charset="0"/>
                  </a:rPr>
                  <a:t>c</a:t>
                </a:r>
              </a:p>
            </p:txBody>
          </p:sp>
          <p:sp>
            <p:nvSpPr>
              <p:cNvPr id="44067" name="Text Box 35"/>
              <p:cNvSpPr txBox="1">
                <a:spLocks noChangeArrowheads="1"/>
              </p:cNvSpPr>
              <p:nvPr/>
            </p:nvSpPr>
            <p:spPr bwMode="auto">
              <a:xfrm>
                <a:off x="3893" y="2816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charset="0"/>
                  </a:rPr>
                  <a:t>d</a:t>
                </a:r>
              </a:p>
            </p:txBody>
          </p:sp>
        </p:grpSp>
        <p:grpSp>
          <p:nvGrpSpPr>
            <p:cNvPr id="5" name="Group 49"/>
            <p:cNvGrpSpPr>
              <a:grpSpLocks/>
            </p:cNvGrpSpPr>
            <p:nvPr/>
          </p:nvGrpSpPr>
          <p:grpSpPr bwMode="auto">
            <a:xfrm>
              <a:off x="2976" y="3114"/>
              <a:ext cx="1146" cy="294"/>
              <a:chOff x="2976" y="3114"/>
              <a:chExt cx="1146" cy="294"/>
            </a:xfrm>
          </p:grpSpPr>
          <p:sp>
            <p:nvSpPr>
              <p:cNvPr id="44072" name="Text Box 40"/>
              <p:cNvSpPr txBox="1">
                <a:spLocks noChangeArrowheads="1"/>
              </p:cNvSpPr>
              <p:nvPr/>
            </p:nvSpPr>
            <p:spPr bwMode="auto">
              <a:xfrm>
                <a:off x="2976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latin typeface="Arial" charset="0"/>
                  </a:rPr>
                  <a:t>0</a:t>
                </a:r>
              </a:p>
            </p:txBody>
          </p:sp>
          <p:sp>
            <p:nvSpPr>
              <p:cNvPr id="44073" name="Text Box 41"/>
              <p:cNvSpPr txBox="1">
                <a:spLocks noChangeArrowheads="1"/>
              </p:cNvSpPr>
              <p:nvPr/>
            </p:nvSpPr>
            <p:spPr bwMode="auto">
              <a:xfrm>
                <a:off x="3207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44074" name="Text Box 42"/>
              <p:cNvSpPr txBox="1">
                <a:spLocks noChangeArrowheads="1"/>
              </p:cNvSpPr>
              <p:nvPr/>
            </p:nvSpPr>
            <p:spPr bwMode="auto">
              <a:xfrm>
                <a:off x="3435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44075" name="Text Box 43"/>
              <p:cNvSpPr txBox="1">
                <a:spLocks noChangeArrowheads="1"/>
              </p:cNvSpPr>
              <p:nvPr/>
            </p:nvSpPr>
            <p:spPr bwMode="auto">
              <a:xfrm>
                <a:off x="3664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44076" name="Text Box 44"/>
              <p:cNvSpPr txBox="1">
                <a:spLocks noChangeArrowheads="1"/>
              </p:cNvSpPr>
              <p:nvPr/>
            </p:nvSpPr>
            <p:spPr bwMode="auto">
              <a:xfrm>
                <a:off x="3893" y="3114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400">
                    <a:sym typeface="Symbol" pitchFamily="18" charset="2"/>
                  </a:rPr>
                  <a:t></a:t>
                </a:r>
              </a:p>
            </p:txBody>
          </p:sp>
        </p:grpSp>
      </p:grpSp>
      <p:sp>
        <p:nvSpPr>
          <p:cNvPr id="44083" name="Text Box 51"/>
          <p:cNvSpPr txBox="1">
            <a:spLocks noChangeArrowheads="1"/>
          </p:cNvSpPr>
          <p:nvPr/>
        </p:nvSpPr>
        <p:spPr bwMode="auto">
          <a:xfrm>
            <a:off x="6611938" y="3886200"/>
            <a:ext cx="18462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u="sng">
                <a:latin typeface="Arial" charset="0"/>
              </a:rPr>
              <a:t>Vertex	Parent</a:t>
            </a:r>
          </a:p>
          <a:p>
            <a:r>
              <a:rPr lang="en-US" sz="2000">
                <a:latin typeface="Arial" charset="0"/>
              </a:rPr>
              <a:t>    e	    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A1DE2724-A001-42EB-9A15-3547F77B9401}" type="slidenum">
              <a:rPr lang="en-US"/>
              <a:pPr/>
              <a:t>26</a:t>
            </a:fld>
            <a:endParaRPr lang="en-US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Prim’in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118790" name="Rectangle 6"/>
          <p:cNvSpPr>
            <a:spLocks noChangeArrowheads="1"/>
          </p:cNvSpPr>
          <p:nvPr/>
        </p:nvSpPr>
        <p:spPr bwMode="auto">
          <a:xfrm>
            <a:off x="990600" y="1219200"/>
            <a:ext cx="71628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r>
              <a:rPr lang="en-US" sz="2400" b="1" dirty="0" smtClean="0">
                <a:latin typeface="Arial" charset="0"/>
              </a:rPr>
              <a:t>P </a:t>
            </a:r>
            <a:r>
              <a:rPr lang="en-US" sz="2400" b="1" dirty="0" err="1" smtClean="0">
                <a:latin typeface="Arial" charset="0"/>
              </a:rPr>
              <a:t>bos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olmadigi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surece</a:t>
            </a:r>
            <a:r>
              <a:rPr lang="en-US" sz="2400" b="1" dirty="0" smtClean="0">
                <a:latin typeface="Arial" charset="0"/>
              </a:rPr>
              <a:t>:</a:t>
            </a:r>
            <a:endParaRPr lang="en-US" sz="2400" b="1" dirty="0">
              <a:latin typeface="Arial" charset="0"/>
            </a:endParaRP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endParaRPr lang="en-US" sz="2400" b="1" dirty="0">
              <a:latin typeface="Arial" charset="0"/>
            </a:endParaRP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r>
              <a:rPr lang="en-US" sz="2400" dirty="0">
                <a:latin typeface="Arial" charset="0"/>
              </a:rPr>
              <a:t>	1. </a:t>
            </a:r>
            <a:r>
              <a:rPr lang="en-US" sz="2400" dirty="0" err="1" smtClean="0">
                <a:latin typeface="Arial" charset="0"/>
              </a:rPr>
              <a:t>Sirdaki</a:t>
            </a:r>
            <a:r>
              <a:rPr lang="en-US" sz="2400" dirty="0" smtClean="0">
                <a:latin typeface="Arial" charset="0"/>
              </a:rPr>
              <a:t> node </a:t>
            </a:r>
            <a:r>
              <a:rPr lang="en-US" sz="2400" b="1" i="1" dirty="0" smtClean="0">
                <a:latin typeface="Arial" charset="0"/>
              </a:rPr>
              <a:t>u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yu</a:t>
            </a:r>
            <a:r>
              <a:rPr lang="en-US" sz="2400" dirty="0" smtClean="0">
                <a:latin typeface="Arial" charset="0"/>
              </a:rPr>
              <a:t> sec </a:t>
            </a:r>
            <a:r>
              <a:rPr lang="en-US" sz="2400" dirty="0" err="1" smtClean="0">
                <a:latin typeface="Arial" charset="0"/>
              </a:rPr>
              <a:t>ve</a:t>
            </a:r>
            <a:r>
              <a:rPr lang="en-US" sz="2400" dirty="0" smtClean="0">
                <a:latin typeface="Arial" charset="0"/>
              </a:rPr>
              <a:t> tree ye at</a:t>
            </a:r>
            <a:endParaRPr lang="en-US" sz="2400" dirty="0">
              <a:latin typeface="Arial" charset="0"/>
            </a:endParaRP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r>
              <a:rPr lang="en-US" sz="2400" dirty="0">
                <a:latin typeface="Arial" charset="0"/>
              </a:rPr>
              <a:t>			</a:t>
            </a:r>
            <a:r>
              <a:rPr lang="en-US" sz="2400" b="1" i="1" dirty="0"/>
              <a:t>u = </a:t>
            </a:r>
            <a:r>
              <a:rPr lang="en-US" sz="2400" b="1" i="1" dirty="0" err="1"/>
              <a:t>P.deleteMin</a:t>
            </a:r>
            <a:r>
              <a:rPr lang="en-US" sz="2400" dirty="0"/>
              <a:t>()</a:t>
            </a:r>
            <a:endParaRPr lang="en-US" sz="2400" dirty="0">
              <a:latin typeface="Arial" charset="0"/>
            </a:endParaRP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endParaRPr lang="en-US" sz="2400" dirty="0">
              <a:latin typeface="Arial" charset="0"/>
            </a:endParaRP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r>
              <a:rPr lang="en-US" sz="2400" dirty="0">
                <a:latin typeface="Arial" charset="0"/>
              </a:rPr>
              <a:t>	2. </a:t>
            </a:r>
            <a:r>
              <a:rPr lang="en-US" sz="2400" dirty="0" err="1" smtClean="0">
                <a:latin typeface="Arial" charset="0"/>
              </a:rPr>
              <a:t>Agacta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olmayan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ve</a:t>
            </a:r>
            <a:r>
              <a:rPr lang="en-US" sz="2400" dirty="0" smtClean="0">
                <a:latin typeface="Arial" charset="0"/>
              </a:rPr>
              <a:t> u </a:t>
            </a:r>
            <a:r>
              <a:rPr lang="en-US" sz="2400" dirty="0" err="1" smtClean="0">
                <a:latin typeface="Arial" charset="0"/>
              </a:rPr>
              <a:t>ya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komsu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olan</a:t>
            </a:r>
            <a:r>
              <a:rPr lang="en-US" sz="2400" dirty="0" smtClean="0">
                <a:latin typeface="Arial" charset="0"/>
              </a:rPr>
              <a:t> w node </a:t>
            </a:r>
            <a:r>
              <a:rPr lang="en-US" sz="2400" dirty="0" err="1" smtClean="0">
                <a:latin typeface="Arial" charset="0"/>
              </a:rPr>
              <a:t>larinin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degerlerini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guncelle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(i.e</a:t>
            </a:r>
            <a:r>
              <a:rPr lang="en-US" sz="2400" dirty="0">
                <a:latin typeface="Arial" charset="0"/>
                <a:sym typeface="Symbol" pitchFamily="18" charset="2"/>
              </a:rPr>
              <a:t>., </a:t>
            </a:r>
            <a:r>
              <a:rPr lang="en-US" sz="2400" b="1" i="1" dirty="0">
                <a:sym typeface="Symbol" pitchFamily="18" charset="2"/>
              </a:rPr>
              <a:t>w</a:t>
            </a:r>
            <a:r>
              <a:rPr lang="en-US" sz="2400" dirty="0">
                <a:latin typeface="Arial" charset="0"/>
                <a:sym typeface="Symbol" pitchFamily="18" charset="2"/>
              </a:rPr>
              <a:t>  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dirty="0">
                <a:latin typeface="Arial" charset="0"/>
                <a:sym typeface="Symbol" pitchFamily="18" charset="2"/>
              </a:rPr>
              <a:t>)</a:t>
            </a: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	 	If </a:t>
            </a:r>
            <a:r>
              <a:rPr lang="en-US" sz="2400" b="1" i="1" dirty="0">
                <a:sym typeface="Symbol" pitchFamily="18" charset="2"/>
              </a:rPr>
              <a:t>weight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b="1" i="1" dirty="0" err="1">
                <a:sym typeface="Symbol" pitchFamily="18" charset="2"/>
              </a:rPr>
              <a:t>u,w</a:t>
            </a:r>
            <a:r>
              <a:rPr lang="en-US" sz="2400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&lt;</a:t>
            </a:r>
            <a:r>
              <a:rPr lang="en-US" sz="2400" b="1" i="1" dirty="0">
                <a:sym typeface="Symbol" pitchFamily="18" charset="2"/>
              </a:rPr>
              <a:t> D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w</a:t>
            </a:r>
            <a:r>
              <a:rPr lang="en-US" sz="2400" dirty="0">
                <a:sym typeface="Symbol" pitchFamily="18" charset="2"/>
              </a:rPr>
              <a:t>)</a:t>
            </a:r>
            <a:r>
              <a:rPr lang="en-US" sz="2400" dirty="0">
                <a:latin typeface="Arial" charset="0"/>
                <a:sym typeface="Symbol" pitchFamily="18" charset="2"/>
              </a:rPr>
              <a:t>,</a:t>
            </a: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			a. </a:t>
            </a:r>
            <a:r>
              <a:rPr lang="en-US" sz="2400" b="1" i="1" dirty="0">
                <a:sym typeface="Symbol" pitchFamily="18" charset="2"/>
              </a:rPr>
              <a:t>parent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w</a:t>
            </a:r>
            <a:r>
              <a:rPr lang="en-US" sz="2400" dirty="0">
                <a:sym typeface="Symbol" pitchFamily="18" charset="2"/>
              </a:rPr>
              <a:t>)</a:t>
            </a:r>
            <a:r>
              <a:rPr lang="en-US" sz="2400" b="1" dirty="0">
                <a:sym typeface="Symbol" pitchFamily="18" charset="2"/>
              </a:rPr>
              <a:t> = </a:t>
            </a:r>
            <a:r>
              <a:rPr lang="en-US" sz="2400" b="1" i="1" dirty="0">
                <a:sym typeface="Symbol" pitchFamily="18" charset="2"/>
              </a:rPr>
              <a:t>u</a:t>
            </a:r>
            <a:endParaRPr lang="en-US" sz="2400" dirty="0">
              <a:latin typeface="Arial" charset="0"/>
              <a:sym typeface="Symbol" pitchFamily="18" charset="2"/>
            </a:endParaRP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		  	b. </a:t>
            </a:r>
            <a:r>
              <a:rPr lang="en-US" sz="2400" b="1" i="1" dirty="0">
                <a:sym typeface="Symbol" pitchFamily="18" charset="2"/>
              </a:rPr>
              <a:t>D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w</a:t>
            </a:r>
            <a:r>
              <a:rPr lang="en-US" sz="2400" dirty="0">
                <a:sym typeface="Symbol" pitchFamily="18" charset="2"/>
              </a:rPr>
              <a:t>)</a:t>
            </a:r>
            <a:r>
              <a:rPr lang="en-US" sz="2400" b="1" dirty="0">
                <a:sym typeface="Symbol" pitchFamily="18" charset="2"/>
              </a:rPr>
              <a:t> = </a:t>
            </a:r>
            <a:r>
              <a:rPr lang="en-US" sz="2400" b="1" i="1" dirty="0">
                <a:sym typeface="Symbol" pitchFamily="18" charset="2"/>
              </a:rPr>
              <a:t>weight</a:t>
            </a:r>
            <a:r>
              <a:rPr lang="en-US" sz="2400" dirty="0">
                <a:sym typeface="Symbol" pitchFamily="18" charset="2"/>
              </a:rPr>
              <a:t>(</a:t>
            </a:r>
            <a:r>
              <a:rPr lang="en-US" sz="2400" b="1" i="1" dirty="0" err="1">
                <a:sym typeface="Symbol" pitchFamily="18" charset="2"/>
              </a:rPr>
              <a:t>u,w</a:t>
            </a:r>
            <a:r>
              <a:rPr lang="en-US" sz="2400" dirty="0">
                <a:sym typeface="Symbol" pitchFamily="18" charset="2"/>
              </a:rPr>
              <a:t>)</a:t>
            </a:r>
            <a:endParaRPr lang="en-US" sz="2400" dirty="0">
              <a:latin typeface="Arial" charset="0"/>
              <a:sym typeface="Symbol" pitchFamily="18" charset="2"/>
            </a:endParaRPr>
          </a:p>
          <a:p>
            <a:pPr defTabSz="917575">
              <a:tabLst>
                <a:tab pos="227013" algn="l"/>
                <a:tab pos="568325" algn="l"/>
                <a:tab pos="1031875" algn="l"/>
                <a:tab pos="125888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			c. 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Priority queue w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nin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yeni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degeri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ile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birlikte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guncellenir</a:t>
            </a:r>
            <a:endParaRPr lang="en-US" sz="2400" b="1" i="1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AB43ED6-C983-425A-BAB3-8EF7914B6169}" type="slidenum">
              <a:rPr lang="en-US"/>
              <a:pPr/>
              <a:t>27</a:t>
            </a:fld>
            <a:endParaRPr lang="en-US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Prim’in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114691" name="Oval 3"/>
          <p:cNvSpPr>
            <a:spLocks noChangeArrowheads="1"/>
          </p:cNvSpPr>
          <p:nvPr/>
        </p:nvSpPr>
        <p:spPr bwMode="auto">
          <a:xfrm>
            <a:off x="1371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a</a:t>
            </a:r>
          </a:p>
        </p:txBody>
      </p:sp>
      <p:sp>
        <p:nvSpPr>
          <p:cNvPr id="114692" name="Oval 4"/>
          <p:cNvSpPr>
            <a:spLocks noChangeArrowheads="1"/>
          </p:cNvSpPr>
          <p:nvPr/>
        </p:nvSpPr>
        <p:spPr bwMode="auto">
          <a:xfrm>
            <a:off x="1600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</a:t>
            </a:r>
          </a:p>
        </p:txBody>
      </p:sp>
      <p:sp>
        <p:nvSpPr>
          <p:cNvPr id="114693" name="Oval 5"/>
          <p:cNvSpPr>
            <a:spLocks noChangeArrowheads="1"/>
          </p:cNvSpPr>
          <p:nvPr/>
        </p:nvSpPr>
        <p:spPr bwMode="auto">
          <a:xfrm>
            <a:off x="3048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e</a:t>
            </a:r>
          </a:p>
        </p:txBody>
      </p:sp>
      <p:sp>
        <p:nvSpPr>
          <p:cNvPr id="114694" name="Oval 6"/>
          <p:cNvSpPr>
            <a:spLocks noChangeArrowheads="1"/>
          </p:cNvSpPr>
          <p:nvPr/>
        </p:nvSpPr>
        <p:spPr bwMode="auto">
          <a:xfrm>
            <a:off x="2133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d</a:t>
            </a:r>
          </a:p>
        </p:txBody>
      </p:sp>
      <p:sp>
        <p:nvSpPr>
          <p:cNvPr id="114695" name="Oval 7"/>
          <p:cNvSpPr>
            <a:spLocks noChangeArrowheads="1"/>
          </p:cNvSpPr>
          <p:nvPr/>
        </p:nvSpPr>
        <p:spPr bwMode="auto">
          <a:xfrm>
            <a:off x="3429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b</a:t>
            </a:r>
          </a:p>
        </p:txBody>
      </p:sp>
      <p:cxnSp>
        <p:nvCxnSpPr>
          <p:cNvPr id="114696" name="AutoShape 8"/>
          <p:cNvCxnSpPr>
            <a:cxnSpLocks noChangeShapeType="1"/>
            <a:stCxn id="114691" idx="7"/>
            <a:endCxn id="114695" idx="2"/>
          </p:cNvCxnSpPr>
          <p:nvPr/>
        </p:nvCxnSpPr>
        <p:spPr bwMode="auto">
          <a:xfrm flipV="1">
            <a:off x="1697038" y="2552700"/>
            <a:ext cx="1731962" cy="16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4697" name="AutoShape 9"/>
          <p:cNvCxnSpPr>
            <a:cxnSpLocks noChangeShapeType="1"/>
            <a:stCxn id="114694" idx="6"/>
            <a:endCxn id="114695" idx="3"/>
          </p:cNvCxnSpPr>
          <p:nvPr/>
        </p:nvCxnSpPr>
        <p:spPr bwMode="auto">
          <a:xfrm flipV="1">
            <a:off x="2514600" y="2687638"/>
            <a:ext cx="969963" cy="398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4698" name="AutoShape 10"/>
          <p:cNvCxnSpPr>
            <a:cxnSpLocks noChangeShapeType="1"/>
            <a:stCxn id="114691" idx="4"/>
            <a:endCxn id="114692" idx="0"/>
          </p:cNvCxnSpPr>
          <p:nvPr/>
        </p:nvCxnSpPr>
        <p:spPr bwMode="auto">
          <a:xfrm>
            <a:off x="1562100" y="3048000"/>
            <a:ext cx="2286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4699" name="AutoShape 11"/>
          <p:cNvCxnSpPr>
            <a:cxnSpLocks noChangeShapeType="1"/>
            <a:stCxn id="114691" idx="5"/>
            <a:endCxn id="114694" idx="2"/>
          </p:cNvCxnSpPr>
          <p:nvPr/>
        </p:nvCxnSpPr>
        <p:spPr bwMode="auto">
          <a:xfrm>
            <a:off x="1697038" y="2992438"/>
            <a:ext cx="436562" cy="936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4700" name="AutoShape 12"/>
          <p:cNvCxnSpPr>
            <a:cxnSpLocks noChangeShapeType="1"/>
            <a:stCxn id="114692" idx="7"/>
            <a:endCxn id="114694" idx="3"/>
          </p:cNvCxnSpPr>
          <p:nvPr/>
        </p:nvCxnSpPr>
        <p:spPr bwMode="auto">
          <a:xfrm flipV="1">
            <a:off x="1925638" y="3221038"/>
            <a:ext cx="263525" cy="796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4701" name="AutoShape 13"/>
          <p:cNvCxnSpPr>
            <a:cxnSpLocks noChangeShapeType="1"/>
            <a:stCxn id="114694" idx="5"/>
            <a:endCxn id="114693" idx="1"/>
          </p:cNvCxnSpPr>
          <p:nvPr/>
        </p:nvCxnSpPr>
        <p:spPr bwMode="auto">
          <a:xfrm>
            <a:off x="2459038" y="3221038"/>
            <a:ext cx="644525" cy="568325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</p:spPr>
      </p:cxnSp>
      <p:cxnSp>
        <p:nvCxnSpPr>
          <p:cNvPr id="114702" name="AutoShape 14"/>
          <p:cNvCxnSpPr>
            <a:cxnSpLocks noChangeShapeType="1"/>
            <a:stCxn id="114695" idx="4"/>
            <a:endCxn id="114693" idx="0"/>
          </p:cNvCxnSpPr>
          <p:nvPr/>
        </p:nvCxnSpPr>
        <p:spPr bwMode="auto">
          <a:xfrm flipH="1">
            <a:off x="3238500" y="2743200"/>
            <a:ext cx="381000" cy="990600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</p:spPr>
      </p:cxnSp>
      <p:cxnSp>
        <p:nvCxnSpPr>
          <p:cNvPr id="114703" name="AutoShape 15"/>
          <p:cNvCxnSpPr>
            <a:cxnSpLocks noChangeShapeType="1"/>
            <a:stCxn id="114693" idx="2"/>
            <a:endCxn id="114692" idx="6"/>
          </p:cNvCxnSpPr>
          <p:nvPr/>
        </p:nvCxnSpPr>
        <p:spPr bwMode="auto">
          <a:xfrm flipH="1">
            <a:off x="1981200" y="3924300"/>
            <a:ext cx="1066800" cy="228600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</p:spPr>
      </p:cxnSp>
      <p:sp>
        <p:nvSpPr>
          <p:cNvPr id="114704" name="Text Box 16"/>
          <p:cNvSpPr txBox="1">
            <a:spLocks noChangeArrowheads="1"/>
          </p:cNvSpPr>
          <p:nvPr/>
        </p:nvSpPr>
        <p:spPr bwMode="auto">
          <a:xfrm>
            <a:off x="1812925" y="27193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2</a:t>
            </a:r>
          </a:p>
        </p:txBody>
      </p:sp>
      <p:sp>
        <p:nvSpPr>
          <p:cNvPr id="114705" name="Text Box 17"/>
          <p:cNvSpPr txBox="1">
            <a:spLocks noChangeArrowheads="1"/>
          </p:cNvSpPr>
          <p:nvPr/>
        </p:nvSpPr>
        <p:spPr bwMode="auto">
          <a:xfrm>
            <a:off x="182880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14706" name="Text Box 18"/>
          <p:cNvSpPr txBox="1">
            <a:spLocks noChangeArrowheads="1"/>
          </p:cNvSpPr>
          <p:nvPr/>
        </p:nvSpPr>
        <p:spPr bwMode="auto">
          <a:xfrm>
            <a:off x="139065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14707" name="Text Box 19"/>
          <p:cNvSpPr txBox="1">
            <a:spLocks noChangeArrowheads="1"/>
          </p:cNvSpPr>
          <p:nvPr/>
        </p:nvSpPr>
        <p:spPr bwMode="auto">
          <a:xfrm>
            <a:off x="2355850" y="22860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9</a:t>
            </a:r>
          </a:p>
        </p:txBody>
      </p:sp>
      <p:sp>
        <p:nvSpPr>
          <p:cNvPr id="114708" name="Text Box 20"/>
          <p:cNvSpPr txBox="1">
            <a:spLocks noChangeArrowheads="1"/>
          </p:cNvSpPr>
          <p:nvPr/>
        </p:nvSpPr>
        <p:spPr bwMode="auto">
          <a:xfrm>
            <a:off x="2660650" y="26812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6</a:t>
            </a:r>
          </a:p>
        </p:txBody>
      </p:sp>
      <p:sp>
        <p:nvSpPr>
          <p:cNvPr id="114709" name="Text Box 21"/>
          <p:cNvSpPr txBox="1">
            <a:spLocks noChangeArrowheads="1"/>
          </p:cNvSpPr>
          <p:nvPr/>
        </p:nvSpPr>
        <p:spPr bwMode="auto">
          <a:xfrm>
            <a:off x="266065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14710" name="Text Box 22"/>
          <p:cNvSpPr txBox="1">
            <a:spLocks noChangeArrowheads="1"/>
          </p:cNvSpPr>
          <p:nvPr/>
        </p:nvSpPr>
        <p:spPr bwMode="auto">
          <a:xfrm>
            <a:off x="2355850" y="37480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14711" name="Text Box 23"/>
          <p:cNvSpPr txBox="1">
            <a:spLocks noChangeArrowheads="1"/>
          </p:cNvSpPr>
          <p:nvPr/>
        </p:nvSpPr>
        <p:spPr bwMode="auto">
          <a:xfrm>
            <a:off x="342900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4648200" y="3048000"/>
            <a:ext cx="3659188" cy="1631950"/>
            <a:chOff x="2919" y="1392"/>
            <a:chExt cx="2305" cy="1028"/>
          </a:xfrm>
        </p:grpSpPr>
        <p:grpSp>
          <p:nvGrpSpPr>
            <p:cNvPr id="3" name="Group 49"/>
            <p:cNvGrpSpPr>
              <a:grpSpLocks/>
            </p:cNvGrpSpPr>
            <p:nvPr/>
          </p:nvGrpSpPr>
          <p:grpSpPr bwMode="auto">
            <a:xfrm>
              <a:off x="2919" y="1712"/>
              <a:ext cx="915" cy="592"/>
              <a:chOff x="2919" y="1712"/>
              <a:chExt cx="915" cy="592"/>
            </a:xfrm>
          </p:grpSpPr>
          <p:grpSp>
            <p:nvGrpSpPr>
              <p:cNvPr id="4" name="Group 48"/>
              <p:cNvGrpSpPr>
                <a:grpSpLocks/>
              </p:cNvGrpSpPr>
              <p:nvPr/>
            </p:nvGrpSpPr>
            <p:grpSpPr bwMode="auto">
              <a:xfrm>
                <a:off x="2919" y="1712"/>
                <a:ext cx="915" cy="294"/>
                <a:chOff x="2919" y="1712"/>
                <a:chExt cx="915" cy="294"/>
              </a:xfrm>
            </p:grpSpPr>
            <p:sp>
              <p:nvSpPr>
                <p:cNvPr id="114719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919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charset="0"/>
                    </a:rPr>
                    <a:t>d</a:t>
                  </a:r>
                </a:p>
              </p:txBody>
            </p:sp>
            <p:sp>
              <p:nvSpPr>
                <p:cNvPr id="114720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147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charset="0"/>
                    </a:rPr>
                    <a:t>b</a:t>
                  </a:r>
                </a:p>
              </p:txBody>
            </p:sp>
            <p:sp>
              <p:nvSpPr>
                <p:cNvPr id="114721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376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charset="0"/>
                    </a:rPr>
                    <a:t>c</a:t>
                  </a:r>
                </a:p>
              </p:txBody>
            </p:sp>
            <p:sp>
              <p:nvSpPr>
                <p:cNvPr id="114722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605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charset="0"/>
                    </a:rPr>
                    <a:t>a</a:t>
                  </a:r>
                </a:p>
              </p:txBody>
            </p:sp>
          </p:grpSp>
          <p:grpSp>
            <p:nvGrpSpPr>
              <p:cNvPr id="5" name="Group 46"/>
              <p:cNvGrpSpPr>
                <a:grpSpLocks/>
              </p:cNvGrpSpPr>
              <p:nvPr/>
            </p:nvGrpSpPr>
            <p:grpSpPr bwMode="auto">
              <a:xfrm>
                <a:off x="2919" y="2010"/>
                <a:ext cx="915" cy="294"/>
                <a:chOff x="2919" y="2010"/>
                <a:chExt cx="915" cy="294"/>
              </a:xfrm>
            </p:grpSpPr>
            <p:sp>
              <p:nvSpPr>
                <p:cNvPr id="114725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19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>
                      <a:solidFill>
                        <a:srgbClr val="008000"/>
                      </a:solidFill>
                      <a:latin typeface="Arial" charset="0"/>
                      <a:sym typeface="Symbol" pitchFamily="18" charset="2"/>
                    </a:rPr>
                    <a:t>4</a:t>
                  </a:r>
                  <a:endParaRPr lang="en-US" sz="2400" b="1">
                    <a:latin typeface="Arial" charset="0"/>
                    <a:sym typeface="Symbol" pitchFamily="18" charset="2"/>
                  </a:endParaRPr>
                </a:p>
              </p:txBody>
            </p:sp>
            <p:sp>
              <p:nvSpPr>
                <p:cNvPr id="114726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147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>
                      <a:solidFill>
                        <a:srgbClr val="008000"/>
                      </a:solidFill>
                      <a:latin typeface="Arial" charset="0"/>
                      <a:sym typeface="Symbol" pitchFamily="18" charset="2"/>
                    </a:rPr>
                    <a:t>5</a:t>
                  </a:r>
                  <a:endParaRPr lang="en-US" sz="2400" b="1">
                    <a:latin typeface="Arial" charset="0"/>
                    <a:sym typeface="Symbol" pitchFamily="18" charset="2"/>
                  </a:endParaRPr>
                </a:p>
              </p:txBody>
            </p:sp>
            <p:sp>
              <p:nvSpPr>
                <p:cNvPr id="11472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376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>
                      <a:solidFill>
                        <a:srgbClr val="008000"/>
                      </a:solidFill>
                      <a:latin typeface="Arial" charset="0"/>
                      <a:sym typeface="Symbol" pitchFamily="18" charset="2"/>
                    </a:rPr>
                    <a:t>5</a:t>
                  </a:r>
                  <a:endParaRPr lang="en-US" sz="2400">
                    <a:sym typeface="Symbol" pitchFamily="18" charset="2"/>
                  </a:endParaRPr>
                </a:p>
              </p:txBody>
            </p:sp>
            <p:sp>
              <p:nvSpPr>
                <p:cNvPr id="11472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605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sym typeface="Symbol" pitchFamily="18" charset="2"/>
                    </a:rPr>
                    <a:t></a:t>
                  </a:r>
                  <a:endParaRPr lang="en-US" sz="2400" b="1">
                    <a:latin typeface="Arial" charset="0"/>
                    <a:sym typeface="Symbol" pitchFamily="18" charset="2"/>
                  </a:endParaRPr>
                </a:p>
              </p:txBody>
            </p:sp>
          </p:grpSp>
        </p:grpSp>
        <p:sp>
          <p:nvSpPr>
            <p:cNvPr id="114729" name="Text Box 41"/>
            <p:cNvSpPr txBox="1">
              <a:spLocks noChangeArrowheads="1"/>
            </p:cNvSpPr>
            <p:nvPr/>
          </p:nvSpPr>
          <p:spPr bwMode="auto">
            <a:xfrm>
              <a:off x="4165" y="1392"/>
              <a:ext cx="1059" cy="10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u="sng" dirty="0" smtClean="0">
                  <a:latin typeface="Arial" charset="0"/>
                </a:rPr>
                <a:t>Node	</a:t>
              </a:r>
              <a:r>
                <a:rPr lang="en-US" sz="2000" u="sng" dirty="0" err="1" smtClean="0">
                  <a:latin typeface="Arial" charset="0"/>
                </a:rPr>
                <a:t>Atasi</a:t>
              </a:r>
              <a:endParaRPr lang="en-US" sz="2000" u="sng" dirty="0" smtClean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e		-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b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	c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	d		e</a:t>
              </a:r>
            </a:p>
          </p:txBody>
        </p:sp>
      </p:grpSp>
      <p:sp>
        <p:nvSpPr>
          <p:cNvPr id="114733" name="Rectangle 45"/>
          <p:cNvSpPr>
            <a:spLocks noChangeArrowheads="1"/>
          </p:cNvSpPr>
          <p:nvPr/>
        </p:nvSpPr>
        <p:spPr bwMode="auto">
          <a:xfrm>
            <a:off x="1333500" y="4891088"/>
            <a:ext cx="72090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 err="1" smtClean="0">
                <a:latin typeface="Arial" charset="0"/>
              </a:rPr>
              <a:t>Mst</a:t>
            </a:r>
            <a:r>
              <a:rPr lang="en-US" sz="2000" dirty="0" smtClean="0">
                <a:latin typeface="Arial" charset="0"/>
              </a:rPr>
              <a:t> </a:t>
            </a:r>
            <a:r>
              <a:rPr lang="en-US" sz="2000" dirty="0" err="1" smtClean="0">
                <a:latin typeface="Arial" charset="0"/>
              </a:rPr>
              <a:t>baslangicta</a:t>
            </a:r>
            <a:r>
              <a:rPr lang="en-US" sz="2000" dirty="0" smtClean="0">
                <a:latin typeface="Arial" charset="0"/>
              </a:rPr>
              <a:t> e node u nu </a:t>
            </a:r>
            <a:r>
              <a:rPr lang="en-US" sz="2000" dirty="0" err="1" smtClean="0">
                <a:latin typeface="Arial" charset="0"/>
              </a:rPr>
              <a:t>iceriyorsa</a:t>
            </a:r>
            <a:r>
              <a:rPr lang="en-US" sz="2000" dirty="0" smtClean="0">
                <a:latin typeface="Arial" charset="0"/>
              </a:rPr>
              <a:t> </a:t>
            </a:r>
            <a:r>
              <a:rPr lang="en-US" sz="2000" dirty="0" err="1" smtClean="0">
                <a:latin typeface="Arial" charset="0"/>
              </a:rPr>
              <a:t>komsularinin</a:t>
            </a:r>
            <a:r>
              <a:rPr lang="en-US" sz="2000" dirty="0" smtClean="0">
                <a:latin typeface="Arial" charset="0"/>
              </a:rPr>
              <a:t> </a:t>
            </a:r>
            <a:r>
              <a:rPr lang="en-US" sz="2000" dirty="0" err="1" smtClean="0">
                <a:latin typeface="Arial" charset="0"/>
              </a:rPr>
              <a:t>degerleri</a:t>
            </a:r>
            <a:r>
              <a:rPr lang="en-US" sz="2000" dirty="0" smtClean="0">
                <a:latin typeface="Arial" charset="0"/>
              </a:rPr>
              <a:t> </a:t>
            </a:r>
          </a:p>
          <a:p>
            <a:r>
              <a:rPr lang="en-US" sz="2000" dirty="0" err="1" smtClean="0">
                <a:latin typeface="Arial" charset="0"/>
              </a:rPr>
              <a:t>ona</a:t>
            </a:r>
            <a:r>
              <a:rPr lang="en-US" sz="2000" dirty="0" smtClean="0">
                <a:latin typeface="Arial" charset="0"/>
              </a:rPr>
              <a:t> gore </a:t>
            </a:r>
            <a:r>
              <a:rPr lang="en-US" sz="2000" dirty="0" err="1" smtClean="0">
                <a:latin typeface="Arial" charset="0"/>
              </a:rPr>
              <a:t>guncellenir</a:t>
            </a:r>
            <a:r>
              <a:rPr lang="en-US" sz="2000" dirty="0" smtClean="0">
                <a:latin typeface="Arial" charset="0"/>
              </a:rPr>
              <a:t>.</a:t>
            </a:r>
            <a:endParaRPr lang="en-US" sz="2000" dirty="0">
              <a:latin typeface="Arial" charset="0"/>
            </a:endParaRPr>
          </a:p>
        </p:txBody>
      </p:sp>
      <p:sp>
        <p:nvSpPr>
          <p:cNvPr id="114738" name="Line 50"/>
          <p:cNvSpPr>
            <a:spLocks noChangeShapeType="1"/>
          </p:cNvSpPr>
          <p:nvPr/>
        </p:nvSpPr>
        <p:spPr bwMode="auto">
          <a:xfrm>
            <a:off x="3048000" y="3810000"/>
            <a:ext cx="3810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14753" name="Text Box 65"/>
          <p:cNvSpPr txBox="1">
            <a:spLocks noChangeArrowheads="1"/>
          </p:cNvSpPr>
          <p:nvPr/>
        </p:nvSpPr>
        <p:spPr bwMode="auto">
          <a:xfrm>
            <a:off x="6626225" y="1066800"/>
            <a:ext cx="1681871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u="sng" dirty="0" smtClean="0">
                <a:latin typeface="Arial" charset="0"/>
              </a:rPr>
              <a:t>Node</a:t>
            </a:r>
            <a:r>
              <a:rPr lang="en-US" sz="2000" u="sng" dirty="0">
                <a:latin typeface="Arial" charset="0"/>
              </a:rPr>
              <a:t>	</a:t>
            </a:r>
            <a:r>
              <a:rPr lang="en-US" sz="2000" u="sng" dirty="0" err="1" smtClean="0">
                <a:latin typeface="Arial" charset="0"/>
              </a:rPr>
              <a:t>Atasi</a:t>
            </a:r>
            <a:endParaRPr lang="en-US" sz="2000" u="sng" dirty="0">
              <a:latin typeface="Arial" charset="0"/>
            </a:endParaRP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latin typeface="Arial" charset="0"/>
              </a:rPr>
              <a:t>	e		-</a:t>
            </a: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latin typeface="Arial" charset="0"/>
              </a:rPr>
              <a:t>	</a:t>
            </a:r>
            <a:r>
              <a:rPr lang="en-US" sz="2000" dirty="0">
                <a:solidFill>
                  <a:srgbClr val="008000"/>
                </a:solidFill>
                <a:latin typeface="Arial" charset="0"/>
              </a:rPr>
              <a:t>b		-</a:t>
            </a: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solidFill>
                  <a:srgbClr val="008000"/>
                </a:solidFill>
                <a:latin typeface="Arial" charset="0"/>
              </a:rPr>
              <a:t>	c		-</a:t>
            </a: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solidFill>
                  <a:srgbClr val="008000"/>
                </a:solidFill>
                <a:latin typeface="Arial" charset="0"/>
              </a:rPr>
              <a:t>	d		-</a:t>
            </a:r>
          </a:p>
        </p:txBody>
      </p:sp>
      <p:sp>
        <p:nvSpPr>
          <p:cNvPr id="114754" name="Line 66"/>
          <p:cNvSpPr>
            <a:spLocks noChangeShapeType="1"/>
          </p:cNvSpPr>
          <p:nvPr/>
        </p:nvSpPr>
        <p:spPr bwMode="auto">
          <a:xfrm>
            <a:off x="3962400" y="2971800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grpSp>
        <p:nvGrpSpPr>
          <p:cNvPr id="6" name="Group 87"/>
          <p:cNvGrpSpPr>
            <a:grpSpLocks/>
          </p:cNvGrpSpPr>
          <p:nvPr/>
        </p:nvGrpSpPr>
        <p:grpSpPr bwMode="auto">
          <a:xfrm>
            <a:off x="4289425" y="1574800"/>
            <a:ext cx="1811338" cy="941388"/>
            <a:chOff x="2702" y="992"/>
            <a:chExt cx="1141" cy="593"/>
          </a:xfrm>
        </p:grpSpPr>
        <p:sp>
          <p:nvSpPr>
            <p:cNvPr id="114744" name="Text Box 56"/>
            <p:cNvSpPr txBox="1">
              <a:spLocks noChangeArrowheads="1"/>
            </p:cNvSpPr>
            <p:nvPr/>
          </p:nvSpPr>
          <p:spPr bwMode="auto">
            <a:xfrm>
              <a:off x="2928" y="99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d</a:t>
              </a:r>
            </a:p>
          </p:txBody>
        </p:sp>
        <p:sp>
          <p:nvSpPr>
            <p:cNvPr id="114745" name="Text Box 57"/>
            <p:cNvSpPr txBox="1">
              <a:spLocks noChangeArrowheads="1"/>
            </p:cNvSpPr>
            <p:nvPr/>
          </p:nvSpPr>
          <p:spPr bwMode="auto">
            <a:xfrm>
              <a:off x="3156" y="99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b</a:t>
              </a:r>
            </a:p>
          </p:txBody>
        </p:sp>
        <p:sp>
          <p:nvSpPr>
            <p:cNvPr id="114746" name="Text Box 58"/>
            <p:cNvSpPr txBox="1">
              <a:spLocks noChangeArrowheads="1"/>
            </p:cNvSpPr>
            <p:nvPr/>
          </p:nvSpPr>
          <p:spPr bwMode="auto">
            <a:xfrm>
              <a:off x="3385" y="99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114747" name="Text Box 59"/>
            <p:cNvSpPr txBox="1">
              <a:spLocks noChangeArrowheads="1"/>
            </p:cNvSpPr>
            <p:nvPr/>
          </p:nvSpPr>
          <p:spPr bwMode="auto">
            <a:xfrm>
              <a:off x="3614" y="99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a</a:t>
              </a:r>
            </a:p>
          </p:txBody>
        </p:sp>
        <p:sp>
          <p:nvSpPr>
            <p:cNvPr id="114749" name="Text Box 61"/>
            <p:cNvSpPr txBox="1">
              <a:spLocks noChangeArrowheads="1"/>
            </p:cNvSpPr>
            <p:nvPr/>
          </p:nvSpPr>
          <p:spPr bwMode="auto">
            <a:xfrm>
              <a:off x="2928" y="129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ym typeface="Symbol" pitchFamily="18" charset="2"/>
                </a:rPr>
                <a:t></a:t>
              </a:r>
            </a:p>
          </p:txBody>
        </p:sp>
        <p:sp>
          <p:nvSpPr>
            <p:cNvPr id="114750" name="Text Box 62"/>
            <p:cNvSpPr txBox="1">
              <a:spLocks noChangeArrowheads="1"/>
            </p:cNvSpPr>
            <p:nvPr/>
          </p:nvSpPr>
          <p:spPr bwMode="auto">
            <a:xfrm>
              <a:off x="3156" y="129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ym typeface="Symbol" pitchFamily="18" charset="2"/>
                </a:rPr>
                <a:t></a:t>
              </a:r>
            </a:p>
          </p:txBody>
        </p:sp>
        <p:sp>
          <p:nvSpPr>
            <p:cNvPr id="114751" name="Text Box 63"/>
            <p:cNvSpPr txBox="1">
              <a:spLocks noChangeArrowheads="1"/>
            </p:cNvSpPr>
            <p:nvPr/>
          </p:nvSpPr>
          <p:spPr bwMode="auto">
            <a:xfrm>
              <a:off x="3385" y="129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ym typeface="Symbol" pitchFamily="18" charset="2"/>
                </a:rPr>
                <a:t></a:t>
              </a:r>
            </a:p>
          </p:txBody>
        </p:sp>
        <p:sp>
          <p:nvSpPr>
            <p:cNvPr id="114752" name="Text Box 64"/>
            <p:cNvSpPr txBox="1">
              <a:spLocks noChangeArrowheads="1"/>
            </p:cNvSpPr>
            <p:nvPr/>
          </p:nvSpPr>
          <p:spPr bwMode="auto">
            <a:xfrm>
              <a:off x="3614" y="129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ym typeface="Symbol" pitchFamily="18" charset="2"/>
                </a:rPr>
                <a:t></a:t>
              </a:r>
              <a:endParaRPr lang="en-US" sz="2400" b="1">
                <a:latin typeface="Arial" charset="0"/>
                <a:sym typeface="Symbol" pitchFamily="18" charset="2"/>
              </a:endParaRPr>
            </a:p>
          </p:txBody>
        </p:sp>
        <p:sp>
          <p:nvSpPr>
            <p:cNvPr id="114757" name="Text Box 69"/>
            <p:cNvSpPr txBox="1">
              <a:spLocks noChangeArrowheads="1"/>
            </p:cNvSpPr>
            <p:nvPr/>
          </p:nvSpPr>
          <p:spPr bwMode="auto">
            <a:xfrm>
              <a:off x="2702" y="993"/>
              <a:ext cx="229" cy="29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e</a:t>
              </a:r>
            </a:p>
          </p:txBody>
        </p:sp>
        <p:sp>
          <p:nvSpPr>
            <p:cNvPr id="114761" name="Text Box 73"/>
            <p:cNvSpPr txBox="1">
              <a:spLocks noChangeArrowheads="1"/>
            </p:cNvSpPr>
            <p:nvPr/>
          </p:nvSpPr>
          <p:spPr bwMode="auto">
            <a:xfrm>
              <a:off x="2702" y="1289"/>
              <a:ext cx="229" cy="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ym typeface="Symbol" pitchFamily="18" charset="2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0E34DF80-21F1-4B13-96A9-6B891DDBB2A4}" type="slidenum">
              <a:rPr lang="en-US"/>
              <a:pPr/>
              <a:t>28</a:t>
            </a:fld>
            <a:endParaRPr lang="en-US"/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Prim’in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120835" name="Oval 3"/>
          <p:cNvSpPr>
            <a:spLocks noChangeArrowheads="1"/>
          </p:cNvSpPr>
          <p:nvPr/>
        </p:nvSpPr>
        <p:spPr bwMode="auto">
          <a:xfrm>
            <a:off x="1371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a</a:t>
            </a:r>
          </a:p>
        </p:txBody>
      </p:sp>
      <p:sp>
        <p:nvSpPr>
          <p:cNvPr id="120836" name="Oval 4"/>
          <p:cNvSpPr>
            <a:spLocks noChangeArrowheads="1"/>
          </p:cNvSpPr>
          <p:nvPr/>
        </p:nvSpPr>
        <p:spPr bwMode="auto">
          <a:xfrm>
            <a:off x="1600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</a:t>
            </a:r>
          </a:p>
        </p:txBody>
      </p:sp>
      <p:sp>
        <p:nvSpPr>
          <p:cNvPr id="120837" name="Oval 5"/>
          <p:cNvSpPr>
            <a:spLocks noChangeArrowheads="1"/>
          </p:cNvSpPr>
          <p:nvPr/>
        </p:nvSpPr>
        <p:spPr bwMode="auto">
          <a:xfrm>
            <a:off x="3048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e</a:t>
            </a:r>
          </a:p>
        </p:txBody>
      </p:sp>
      <p:sp>
        <p:nvSpPr>
          <p:cNvPr id="120838" name="Oval 6"/>
          <p:cNvSpPr>
            <a:spLocks noChangeArrowheads="1"/>
          </p:cNvSpPr>
          <p:nvPr/>
        </p:nvSpPr>
        <p:spPr bwMode="auto">
          <a:xfrm>
            <a:off x="2133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d</a:t>
            </a:r>
          </a:p>
        </p:txBody>
      </p:sp>
      <p:sp>
        <p:nvSpPr>
          <p:cNvPr id="120839" name="Oval 7"/>
          <p:cNvSpPr>
            <a:spLocks noChangeArrowheads="1"/>
          </p:cNvSpPr>
          <p:nvPr/>
        </p:nvSpPr>
        <p:spPr bwMode="auto">
          <a:xfrm>
            <a:off x="3429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b</a:t>
            </a:r>
          </a:p>
        </p:txBody>
      </p:sp>
      <p:cxnSp>
        <p:nvCxnSpPr>
          <p:cNvPr id="120840" name="AutoShape 8"/>
          <p:cNvCxnSpPr>
            <a:cxnSpLocks noChangeShapeType="1"/>
            <a:stCxn id="120835" idx="7"/>
            <a:endCxn id="120839" idx="2"/>
          </p:cNvCxnSpPr>
          <p:nvPr/>
        </p:nvCxnSpPr>
        <p:spPr bwMode="auto">
          <a:xfrm flipV="1">
            <a:off x="1697038" y="2552700"/>
            <a:ext cx="1731962" cy="16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0841" name="AutoShape 9"/>
          <p:cNvCxnSpPr>
            <a:cxnSpLocks noChangeShapeType="1"/>
            <a:stCxn id="120838" idx="6"/>
            <a:endCxn id="120839" idx="3"/>
          </p:cNvCxnSpPr>
          <p:nvPr/>
        </p:nvCxnSpPr>
        <p:spPr bwMode="auto">
          <a:xfrm flipV="1">
            <a:off x="2514600" y="2687638"/>
            <a:ext cx="969963" cy="398462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</p:spPr>
      </p:cxnSp>
      <p:cxnSp>
        <p:nvCxnSpPr>
          <p:cNvPr id="120842" name="AutoShape 10"/>
          <p:cNvCxnSpPr>
            <a:cxnSpLocks noChangeShapeType="1"/>
            <a:stCxn id="120835" idx="4"/>
            <a:endCxn id="120836" idx="0"/>
          </p:cNvCxnSpPr>
          <p:nvPr/>
        </p:nvCxnSpPr>
        <p:spPr bwMode="auto">
          <a:xfrm>
            <a:off x="1562100" y="3048000"/>
            <a:ext cx="228600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0843" name="AutoShape 11"/>
          <p:cNvCxnSpPr>
            <a:cxnSpLocks noChangeShapeType="1"/>
            <a:stCxn id="120835" idx="5"/>
            <a:endCxn id="120838" idx="2"/>
          </p:cNvCxnSpPr>
          <p:nvPr/>
        </p:nvCxnSpPr>
        <p:spPr bwMode="auto">
          <a:xfrm>
            <a:off x="1697038" y="2992438"/>
            <a:ext cx="436562" cy="93662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</p:spPr>
      </p:cxnSp>
      <p:cxnSp>
        <p:nvCxnSpPr>
          <p:cNvPr id="120844" name="AutoShape 12"/>
          <p:cNvCxnSpPr>
            <a:cxnSpLocks noChangeShapeType="1"/>
            <a:stCxn id="120836" idx="7"/>
            <a:endCxn id="120838" idx="3"/>
          </p:cNvCxnSpPr>
          <p:nvPr/>
        </p:nvCxnSpPr>
        <p:spPr bwMode="auto">
          <a:xfrm flipV="1">
            <a:off x="1925638" y="3221038"/>
            <a:ext cx="263525" cy="796925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</p:spPr>
      </p:cxnSp>
      <p:cxnSp>
        <p:nvCxnSpPr>
          <p:cNvPr id="120845" name="AutoShape 13"/>
          <p:cNvCxnSpPr>
            <a:cxnSpLocks noChangeShapeType="1"/>
            <a:stCxn id="120838" idx="5"/>
            <a:endCxn id="120837" idx="1"/>
          </p:cNvCxnSpPr>
          <p:nvPr/>
        </p:nvCxnSpPr>
        <p:spPr bwMode="auto">
          <a:xfrm>
            <a:off x="2459038" y="3221038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20846" name="AutoShape 14"/>
          <p:cNvCxnSpPr>
            <a:cxnSpLocks noChangeShapeType="1"/>
            <a:stCxn id="120839" idx="4"/>
            <a:endCxn id="120837" idx="0"/>
          </p:cNvCxnSpPr>
          <p:nvPr/>
        </p:nvCxnSpPr>
        <p:spPr bwMode="auto">
          <a:xfrm flipH="1">
            <a:off x="3238500" y="2743200"/>
            <a:ext cx="381000" cy="990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0847" name="AutoShape 15"/>
          <p:cNvCxnSpPr>
            <a:cxnSpLocks noChangeShapeType="1"/>
            <a:stCxn id="120837" idx="2"/>
            <a:endCxn id="120836" idx="6"/>
          </p:cNvCxnSpPr>
          <p:nvPr/>
        </p:nvCxnSpPr>
        <p:spPr bwMode="auto">
          <a:xfrm flipH="1">
            <a:off x="1981200" y="39243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20848" name="Text Box 16"/>
          <p:cNvSpPr txBox="1">
            <a:spLocks noChangeArrowheads="1"/>
          </p:cNvSpPr>
          <p:nvPr/>
        </p:nvSpPr>
        <p:spPr bwMode="auto">
          <a:xfrm>
            <a:off x="1812925" y="27193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2</a:t>
            </a:r>
          </a:p>
        </p:txBody>
      </p:sp>
      <p:sp>
        <p:nvSpPr>
          <p:cNvPr id="120849" name="Text Box 17"/>
          <p:cNvSpPr txBox="1">
            <a:spLocks noChangeArrowheads="1"/>
          </p:cNvSpPr>
          <p:nvPr/>
        </p:nvSpPr>
        <p:spPr bwMode="auto">
          <a:xfrm>
            <a:off x="182880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20850" name="Text Box 18"/>
          <p:cNvSpPr txBox="1">
            <a:spLocks noChangeArrowheads="1"/>
          </p:cNvSpPr>
          <p:nvPr/>
        </p:nvSpPr>
        <p:spPr bwMode="auto">
          <a:xfrm>
            <a:off x="139065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20851" name="Text Box 19"/>
          <p:cNvSpPr txBox="1">
            <a:spLocks noChangeArrowheads="1"/>
          </p:cNvSpPr>
          <p:nvPr/>
        </p:nvSpPr>
        <p:spPr bwMode="auto">
          <a:xfrm>
            <a:off x="2355850" y="22860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9</a:t>
            </a:r>
          </a:p>
        </p:txBody>
      </p:sp>
      <p:sp>
        <p:nvSpPr>
          <p:cNvPr id="120852" name="Text Box 20"/>
          <p:cNvSpPr txBox="1">
            <a:spLocks noChangeArrowheads="1"/>
          </p:cNvSpPr>
          <p:nvPr/>
        </p:nvSpPr>
        <p:spPr bwMode="auto">
          <a:xfrm>
            <a:off x="2660650" y="26812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6</a:t>
            </a:r>
          </a:p>
        </p:txBody>
      </p:sp>
      <p:sp>
        <p:nvSpPr>
          <p:cNvPr id="120853" name="Text Box 21"/>
          <p:cNvSpPr txBox="1">
            <a:spLocks noChangeArrowheads="1"/>
          </p:cNvSpPr>
          <p:nvPr/>
        </p:nvSpPr>
        <p:spPr bwMode="auto">
          <a:xfrm>
            <a:off x="266065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20854" name="Text Box 22"/>
          <p:cNvSpPr txBox="1">
            <a:spLocks noChangeArrowheads="1"/>
          </p:cNvSpPr>
          <p:nvPr/>
        </p:nvSpPr>
        <p:spPr bwMode="auto">
          <a:xfrm>
            <a:off x="2355850" y="37480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20855" name="Text Box 23"/>
          <p:cNvSpPr txBox="1">
            <a:spLocks noChangeArrowheads="1"/>
          </p:cNvSpPr>
          <p:nvPr/>
        </p:nvSpPr>
        <p:spPr bwMode="auto">
          <a:xfrm>
            <a:off x="342900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4895850" y="3536951"/>
            <a:ext cx="3297238" cy="1938338"/>
            <a:chOff x="3147" y="1392"/>
            <a:chExt cx="2077" cy="1221"/>
          </a:xfrm>
        </p:grpSpPr>
        <p:sp>
          <p:nvSpPr>
            <p:cNvPr id="120856" name="Text Box 24"/>
            <p:cNvSpPr txBox="1">
              <a:spLocks noChangeArrowheads="1"/>
            </p:cNvSpPr>
            <p:nvPr/>
          </p:nvSpPr>
          <p:spPr bwMode="auto">
            <a:xfrm>
              <a:off x="3147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a</a:t>
              </a:r>
            </a:p>
          </p:txBody>
        </p:sp>
        <p:sp>
          <p:nvSpPr>
            <p:cNvPr id="120857" name="Text Box 25"/>
            <p:cNvSpPr txBox="1">
              <a:spLocks noChangeArrowheads="1"/>
            </p:cNvSpPr>
            <p:nvPr/>
          </p:nvSpPr>
          <p:spPr bwMode="auto">
            <a:xfrm>
              <a:off x="3376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120858" name="Text Box 26"/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b</a:t>
              </a:r>
            </a:p>
          </p:txBody>
        </p:sp>
        <p:sp>
          <p:nvSpPr>
            <p:cNvPr id="120859" name="Text Box 27"/>
            <p:cNvSpPr txBox="1">
              <a:spLocks noChangeArrowheads="1"/>
            </p:cNvSpPr>
            <p:nvPr/>
          </p:nvSpPr>
          <p:spPr bwMode="auto">
            <a:xfrm>
              <a:off x="3147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solidFill>
                    <a:srgbClr val="008000"/>
                  </a:solidFill>
                  <a:latin typeface="Arial" charset="0"/>
                  <a:sym typeface="Symbol" pitchFamily="18" charset="2"/>
                </a:rPr>
                <a:t>2</a:t>
              </a:r>
              <a:endParaRPr lang="en-US" sz="2400" b="1">
                <a:latin typeface="Arial" charset="0"/>
                <a:sym typeface="Symbol" pitchFamily="18" charset="2"/>
              </a:endParaRPr>
            </a:p>
          </p:txBody>
        </p:sp>
        <p:sp>
          <p:nvSpPr>
            <p:cNvPr id="120860" name="Text Box 28"/>
            <p:cNvSpPr txBox="1">
              <a:spLocks noChangeArrowheads="1"/>
            </p:cNvSpPr>
            <p:nvPr/>
          </p:nvSpPr>
          <p:spPr bwMode="auto">
            <a:xfrm>
              <a:off x="3376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solidFill>
                    <a:srgbClr val="008000"/>
                  </a:solidFill>
                  <a:latin typeface="Arial" charset="0"/>
                  <a:sym typeface="Symbol" pitchFamily="18" charset="2"/>
                </a:rPr>
                <a:t>4</a:t>
              </a:r>
              <a:endParaRPr lang="en-US" sz="2400" b="1">
                <a:latin typeface="Arial" charset="0"/>
                <a:sym typeface="Symbol" pitchFamily="18" charset="2"/>
              </a:endParaRPr>
            </a:p>
          </p:txBody>
        </p:sp>
        <p:sp>
          <p:nvSpPr>
            <p:cNvPr id="120861" name="Text Box 29"/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5</a:t>
              </a:r>
            </a:p>
          </p:txBody>
        </p:sp>
        <p:sp>
          <p:nvSpPr>
            <p:cNvPr id="120862" name="Text Box 30"/>
            <p:cNvSpPr txBox="1">
              <a:spLocks noChangeArrowheads="1"/>
            </p:cNvSpPr>
            <p:nvPr/>
          </p:nvSpPr>
          <p:spPr bwMode="auto">
            <a:xfrm>
              <a:off x="4165" y="1392"/>
              <a:ext cx="1059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u="sng" dirty="0" smtClean="0">
                  <a:latin typeface="Arial" charset="0"/>
                </a:rPr>
                <a:t>Node	</a:t>
              </a:r>
              <a:r>
                <a:rPr lang="en-US" sz="2000" u="sng" dirty="0" err="1" smtClean="0">
                  <a:latin typeface="Arial" charset="0"/>
                </a:rPr>
                <a:t>Atasi</a:t>
              </a:r>
              <a:endParaRPr lang="en-US" sz="2000" u="sng" dirty="0" smtClean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e		-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b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c</a:t>
              </a:r>
              <a:r>
                <a:rPr lang="en-US" sz="2000" dirty="0">
                  <a:latin typeface="Arial" charset="0"/>
                </a:rPr>
                <a:t> 	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d</a:t>
              </a:r>
              <a:endParaRPr lang="en-US" sz="2000" dirty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d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a</a:t>
              </a:r>
              <a:r>
                <a:rPr lang="en-US" sz="2000" dirty="0">
                  <a:latin typeface="Arial" charset="0"/>
                </a:rPr>
                <a:t> 	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d</a:t>
              </a:r>
            </a:p>
          </p:txBody>
        </p:sp>
      </p:grpSp>
      <p:sp>
        <p:nvSpPr>
          <p:cNvPr id="120863" name="Line 31"/>
          <p:cNvSpPr>
            <a:spLocks noChangeShapeType="1"/>
          </p:cNvSpPr>
          <p:nvPr/>
        </p:nvSpPr>
        <p:spPr bwMode="auto">
          <a:xfrm>
            <a:off x="3048000" y="3810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0864" name="Line 32"/>
          <p:cNvSpPr>
            <a:spLocks noChangeShapeType="1"/>
          </p:cNvSpPr>
          <p:nvPr/>
        </p:nvSpPr>
        <p:spPr bwMode="auto">
          <a:xfrm>
            <a:off x="2133600" y="2971800"/>
            <a:ext cx="3810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0866" name="Line 34"/>
          <p:cNvSpPr>
            <a:spLocks noChangeShapeType="1"/>
          </p:cNvSpPr>
          <p:nvPr/>
        </p:nvSpPr>
        <p:spPr bwMode="auto">
          <a:xfrm>
            <a:off x="3995738" y="3117850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4592638" y="1096963"/>
            <a:ext cx="3659187" cy="1631950"/>
            <a:chOff x="2919" y="1392"/>
            <a:chExt cx="2305" cy="1028"/>
          </a:xfrm>
        </p:grpSpPr>
        <p:grpSp>
          <p:nvGrpSpPr>
            <p:cNvPr id="4" name="Group 36"/>
            <p:cNvGrpSpPr>
              <a:grpSpLocks/>
            </p:cNvGrpSpPr>
            <p:nvPr/>
          </p:nvGrpSpPr>
          <p:grpSpPr bwMode="auto">
            <a:xfrm>
              <a:off x="2919" y="1712"/>
              <a:ext cx="915" cy="592"/>
              <a:chOff x="2919" y="1712"/>
              <a:chExt cx="915" cy="592"/>
            </a:xfrm>
          </p:grpSpPr>
          <p:grpSp>
            <p:nvGrpSpPr>
              <p:cNvPr id="5" name="Group 37"/>
              <p:cNvGrpSpPr>
                <a:grpSpLocks/>
              </p:cNvGrpSpPr>
              <p:nvPr/>
            </p:nvGrpSpPr>
            <p:grpSpPr bwMode="auto">
              <a:xfrm>
                <a:off x="2919" y="1712"/>
                <a:ext cx="915" cy="294"/>
                <a:chOff x="2919" y="1712"/>
                <a:chExt cx="915" cy="294"/>
              </a:xfrm>
            </p:grpSpPr>
            <p:sp>
              <p:nvSpPr>
                <p:cNvPr id="120870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919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charset="0"/>
                    </a:rPr>
                    <a:t>d</a:t>
                  </a:r>
                </a:p>
              </p:txBody>
            </p:sp>
            <p:sp>
              <p:nvSpPr>
                <p:cNvPr id="12087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147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charset="0"/>
                    </a:rPr>
                    <a:t>b</a:t>
                  </a:r>
                </a:p>
              </p:txBody>
            </p:sp>
            <p:sp>
              <p:nvSpPr>
                <p:cNvPr id="12087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376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charset="0"/>
                    </a:rPr>
                    <a:t>c</a:t>
                  </a:r>
                </a:p>
              </p:txBody>
            </p:sp>
            <p:sp>
              <p:nvSpPr>
                <p:cNvPr id="120873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605" y="171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latin typeface="Arial" charset="0"/>
                    </a:rPr>
                    <a:t>a</a:t>
                  </a:r>
                </a:p>
              </p:txBody>
            </p:sp>
          </p:grpSp>
          <p:grpSp>
            <p:nvGrpSpPr>
              <p:cNvPr id="6" name="Group 42"/>
              <p:cNvGrpSpPr>
                <a:grpSpLocks/>
              </p:cNvGrpSpPr>
              <p:nvPr/>
            </p:nvGrpSpPr>
            <p:grpSpPr bwMode="auto">
              <a:xfrm>
                <a:off x="2919" y="2010"/>
                <a:ext cx="915" cy="294"/>
                <a:chOff x="2919" y="2010"/>
                <a:chExt cx="915" cy="294"/>
              </a:xfrm>
            </p:grpSpPr>
            <p:sp>
              <p:nvSpPr>
                <p:cNvPr id="120875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919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>
                      <a:latin typeface="Arial" charset="0"/>
                      <a:sym typeface="Symbol" pitchFamily="18" charset="2"/>
                    </a:rPr>
                    <a:t>4</a:t>
                  </a:r>
                </a:p>
              </p:txBody>
            </p:sp>
            <p:sp>
              <p:nvSpPr>
                <p:cNvPr id="12087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147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>
                      <a:latin typeface="Arial" charset="0"/>
                      <a:sym typeface="Symbol" pitchFamily="18" charset="2"/>
                    </a:rPr>
                    <a:t>5</a:t>
                  </a:r>
                </a:p>
              </p:txBody>
            </p:sp>
            <p:sp>
              <p:nvSpPr>
                <p:cNvPr id="12087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376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 b="1">
                      <a:latin typeface="Arial" charset="0"/>
                      <a:sym typeface="Symbol" pitchFamily="18" charset="2"/>
                    </a:rPr>
                    <a:t>5</a:t>
                  </a:r>
                  <a:endParaRPr lang="en-US" sz="2400">
                    <a:sym typeface="Symbol" pitchFamily="18" charset="2"/>
                  </a:endParaRPr>
                </a:p>
              </p:txBody>
            </p:sp>
            <p:sp>
              <p:nvSpPr>
                <p:cNvPr id="120878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3605" y="2010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400">
                      <a:sym typeface="Symbol" pitchFamily="18" charset="2"/>
                    </a:rPr>
                    <a:t></a:t>
                  </a:r>
                  <a:endParaRPr lang="en-US" sz="2400" b="1">
                    <a:latin typeface="Arial" charset="0"/>
                    <a:sym typeface="Symbol" pitchFamily="18" charset="2"/>
                  </a:endParaRPr>
                </a:p>
              </p:txBody>
            </p:sp>
          </p:grpSp>
        </p:grpSp>
        <p:sp>
          <p:nvSpPr>
            <p:cNvPr id="120879" name="Text Box 47"/>
            <p:cNvSpPr txBox="1">
              <a:spLocks noChangeArrowheads="1"/>
            </p:cNvSpPr>
            <p:nvPr/>
          </p:nvSpPr>
          <p:spPr bwMode="auto">
            <a:xfrm>
              <a:off x="4165" y="1392"/>
              <a:ext cx="1059" cy="10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u="sng" dirty="0" smtClean="0">
                  <a:latin typeface="Arial" charset="0"/>
                </a:rPr>
                <a:t>Node	</a:t>
              </a:r>
              <a:r>
                <a:rPr lang="en-US" sz="2000" u="sng" dirty="0" err="1" smtClean="0">
                  <a:latin typeface="Arial" charset="0"/>
                </a:rPr>
                <a:t>Atasi</a:t>
              </a:r>
              <a:endParaRPr lang="en-US" sz="2000" u="sng" dirty="0" smtClean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e		-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b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	c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	d		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A63611E7-88FD-43EB-AA5E-E7B9447607D1}" type="slidenum">
              <a:rPr lang="en-US"/>
              <a:pPr/>
              <a:t>29</a:t>
            </a:fld>
            <a:endParaRPr lang="en-US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Prim’in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119812" name="Oval 4"/>
          <p:cNvSpPr>
            <a:spLocks noChangeArrowheads="1"/>
          </p:cNvSpPr>
          <p:nvPr/>
        </p:nvSpPr>
        <p:spPr bwMode="auto">
          <a:xfrm>
            <a:off x="1371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a</a:t>
            </a:r>
          </a:p>
        </p:txBody>
      </p:sp>
      <p:sp>
        <p:nvSpPr>
          <p:cNvPr id="119813" name="Oval 5"/>
          <p:cNvSpPr>
            <a:spLocks noChangeArrowheads="1"/>
          </p:cNvSpPr>
          <p:nvPr/>
        </p:nvSpPr>
        <p:spPr bwMode="auto">
          <a:xfrm>
            <a:off x="1600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</a:t>
            </a:r>
          </a:p>
        </p:txBody>
      </p:sp>
      <p:sp>
        <p:nvSpPr>
          <p:cNvPr id="119814" name="Oval 6"/>
          <p:cNvSpPr>
            <a:spLocks noChangeArrowheads="1"/>
          </p:cNvSpPr>
          <p:nvPr/>
        </p:nvSpPr>
        <p:spPr bwMode="auto">
          <a:xfrm>
            <a:off x="3048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e</a:t>
            </a:r>
          </a:p>
        </p:txBody>
      </p:sp>
      <p:sp>
        <p:nvSpPr>
          <p:cNvPr id="119815" name="Oval 7"/>
          <p:cNvSpPr>
            <a:spLocks noChangeArrowheads="1"/>
          </p:cNvSpPr>
          <p:nvPr/>
        </p:nvSpPr>
        <p:spPr bwMode="auto">
          <a:xfrm>
            <a:off x="2133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d</a:t>
            </a:r>
          </a:p>
        </p:txBody>
      </p:sp>
      <p:sp>
        <p:nvSpPr>
          <p:cNvPr id="119816" name="Oval 8"/>
          <p:cNvSpPr>
            <a:spLocks noChangeArrowheads="1"/>
          </p:cNvSpPr>
          <p:nvPr/>
        </p:nvSpPr>
        <p:spPr bwMode="auto">
          <a:xfrm>
            <a:off x="3429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b</a:t>
            </a:r>
          </a:p>
        </p:txBody>
      </p:sp>
      <p:cxnSp>
        <p:nvCxnSpPr>
          <p:cNvPr id="119817" name="AutoShape 9"/>
          <p:cNvCxnSpPr>
            <a:cxnSpLocks noChangeShapeType="1"/>
            <a:stCxn id="119812" idx="7"/>
            <a:endCxn id="119816" idx="2"/>
          </p:cNvCxnSpPr>
          <p:nvPr/>
        </p:nvCxnSpPr>
        <p:spPr bwMode="auto">
          <a:xfrm flipV="1">
            <a:off x="1697038" y="2552700"/>
            <a:ext cx="1731962" cy="169863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</p:spPr>
      </p:cxnSp>
      <p:cxnSp>
        <p:nvCxnSpPr>
          <p:cNvPr id="119818" name="AutoShape 10"/>
          <p:cNvCxnSpPr>
            <a:cxnSpLocks noChangeShapeType="1"/>
            <a:stCxn id="119815" idx="6"/>
            <a:endCxn id="119816" idx="3"/>
          </p:cNvCxnSpPr>
          <p:nvPr/>
        </p:nvCxnSpPr>
        <p:spPr bwMode="auto">
          <a:xfrm flipV="1">
            <a:off x="2514600" y="2687638"/>
            <a:ext cx="969963" cy="3984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9819" name="AutoShape 11"/>
          <p:cNvCxnSpPr>
            <a:cxnSpLocks noChangeShapeType="1"/>
            <a:stCxn id="119812" idx="4"/>
            <a:endCxn id="119813" idx="0"/>
          </p:cNvCxnSpPr>
          <p:nvPr/>
        </p:nvCxnSpPr>
        <p:spPr bwMode="auto">
          <a:xfrm>
            <a:off x="1562100" y="3048000"/>
            <a:ext cx="228600" cy="914400"/>
          </a:xfrm>
          <a:prstGeom prst="straightConnector1">
            <a:avLst/>
          </a:prstGeom>
          <a:noFill/>
          <a:ln w="31750">
            <a:solidFill>
              <a:srgbClr val="008000"/>
            </a:solidFill>
            <a:round/>
            <a:headEnd/>
            <a:tailEnd/>
          </a:ln>
          <a:effectLst/>
        </p:spPr>
      </p:cxnSp>
      <p:cxnSp>
        <p:nvCxnSpPr>
          <p:cNvPr id="119820" name="AutoShape 12"/>
          <p:cNvCxnSpPr>
            <a:cxnSpLocks noChangeShapeType="1"/>
            <a:stCxn id="119812" idx="5"/>
            <a:endCxn id="119815" idx="2"/>
          </p:cNvCxnSpPr>
          <p:nvPr/>
        </p:nvCxnSpPr>
        <p:spPr bwMode="auto">
          <a:xfrm>
            <a:off x="1697038" y="2992438"/>
            <a:ext cx="436562" cy="9366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19821" name="AutoShape 13"/>
          <p:cNvCxnSpPr>
            <a:cxnSpLocks noChangeShapeType="1"/>
            <a:stCxn id="119813" idx="7"/>
            <a:endCxn id="119815" idx="3"/>
          </p:cNvCxnSpPr>
          <p:nvPr/>
        </p:nvCxnSpPr>
        <p:spPr bwMode="auto">
          <a:xfrm flipV="1">
            <a:off x="1925638" y="3221038"/>
            <a:ext cx="263525" cy="7969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9822" name="AutoShape 14"/>
          <p:cNvCxnSpPr>
            <a:cxnSpLocks noChangeShapeType="1"/>
            <a:stCxn id="119815" idx="5"/>
            <a:endCxn id="119814" idx="1"/>
          </p:cNvCxnSpPr>
          <p:nvPr/>
        </p:nvCxnSpPr>
        <p:spPr bwMode="auto">
          <a:xfrm>
            <a:off x="2459038" y="3221038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19823" name="AutoShape 15"/>
          <p:cNvCxnSpPr>
            <a:cxnSpLocks noChangeShapeType="1"/>
            <a:stCxn id="119816" idx="4"/>
            <a:endCxn id="119814" idx="0"/>
          </p:cNvCxnSpPr>
          <p:nvPr/>
        </p:nvCxnSpPr>
        <p:spPr bwMode="auto">
          <a:xfrm flipH="1">
            <a:off x="3238500" y="2743200"/>
            <a:ext cx="381000" cy="990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9824" name="AutoShape 16"/>
          <p:cNvCxnSpPr>
            <a:cxnSpLocks noChangeShapeType="1"/>
            <a:stCxn id="119814" idx="2"/>
            <a:endCxn id="119813" idx="6"/>
          </p:cNvCxnSpPr>
          <p:nvPr/>
        </p:nvCxnSpPr>
        <p:spPr bwMode="auto">
          <a:xfrm flipH="1">
            <a:off x="1981200" y="39243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19825" name="Text Box 17"/>
          <p:cNvSpPr txBox="1">
            <a:spLocks noChangeArrowheads="1"/>
          </p:cNvSpPr>
          <p:nvPr/>
        </p:nvSpPr>
        <p:spPr bwMode="auto">
          <a:xfrm>
            <a:off x="1812925" y="27193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2</a:t>
            </a:r>
          </a:p>
        </p:txBody>
      </p:sp>
      <p:sp>
        <p:nvSpPr>
          <p:cNvPr id="119826" name="Text Box 18"/>
          <p:cNvSpPr txBox="1">
            <a:spLocks noChangeArrowheads="1"/>
          </p:cNvSpPr>
          <p:nvPr/>
        </p:nvSpPr>
        <p:spPr bwMode="auto">
          <a:xfrm>
            <a:off x="182880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19827" name="Text Box 19"/>
          <p:cNvSpPr txBox="1">
            <a:spLocks noChangeArrowheads="1"/>
          </p:cNvSpPr>
          <p:nvPr/>
        </p:nvSpPr>
        <p:spPr bwMode="auto">
          <a:xfrm>
            <a:off x="139065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19828" name="Text Box 20"/>
          <p:cNvSpPr txBox="1">
            <a:spLocks noChangeArrowheads="1"/>
          </p:cNvSpPr>
          <p:nvPr/>
        </p:nvSpPr>
        <p:spPr bwMode="auto">
          <a:xfrm>
            <a:off x="2355850" y="22860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9</a:t>
            </a:r>
          </a:p>
        </p:txBody>
      </p:sp>
      <p:sp>
        <p:nvSpPr>
          <p:cNvPr id="119829" name="Text Box 21"/>
          <p:cNvSpPr txBox="1">
            <a:spLocks noChangeArrowheads="1"/>
          </p:cNvSpPr>
          <p:nvPr/>
        </p:nvSpPr>
        <p:spPr bwMode="auto">
          <a:xfrm>
            <a:off x="2660650" y="26812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6</a:t>
            </a:r>
          </a:p>
        </p:txBody>
      </p:sp>
      <p:sp>
        <p:nvSpPr>
          <p:cNvPr id="119830" name="Text Box 22"/>
          <p:cNvSpPr txBox="1">
            <a:spLocks noChangeArrowheads="1"/>
          </p:cNvSpPr>
          <p:nvPr/>
        </p:nvSpPr>
        <p:spPr bwMode="auto">
          <a:xfrm>
            <a:off x="266065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19831" name="Text Box 23"/>
          <p:cNvSpPr txBox="1">
            <a:spLocks noChangeArrowheads="1"/>
          </p:cNvSpPr>
          <p:nvPr/>
        </p:nvSpPr>
        <p:spPr bwMode="auto">
          <a:xfrm>
            <a:off x="2355850" y="37480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19832" name="Text Box 24"/>
          <p:cNvSpPr txBox="1">
            <a:spLocks noChangeArrowheads="1"/>
          </p:cNvSpPr>
          <p:nvPr/>
        </p:nvSpPr>
        <p:spPr bwMode="auto">
          <a:xfrm>
            <a:off x="342900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5170488" y="3903664"/>
            <a:ext cx="2933700" cy="1938338"/>
            <a:chOff x="3376" y="1392"/>
            <a:chExt cx="1848" cy="1221"/>
          </a:xfrm>
        </p:grpSpPr>
        <p:sp>
          <p:nvSpPr>
            <p:cNvPr id="119835" name="Text Box 27"/>
            <p:cNvSpPr txBox="1">
              <a:spLocks noChangeArrowheads="1"/>
            </p:cNvSpPr>
            <p:nvPr/>
          </p:nvSpPr>
          <p:spPr bwMode="auto">
            <a:xfrm>
              <a:off x="3376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119836" name="Text Box 28"/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b</a:t>
              </a:r>
            </a:p>
          </p:txBody>
        </p:sp>
        <p:sp>
          <p:nvSpPr>
            <p:cNvPr id="119839" name="Text Box 31"/>
            <p:cNvSpPr txBox="1">
              <a:spLocks noChangeArrowheads="1"/>
            </p:cNvSpPr>
            <p:nvPr/>
          </p:nvSpPr>
          <p:spPr bwMode="auto">
            <a:xfrm>
              <a:off x="3376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4</a:t>
              </a:r>
            </a:p>
          </p:txBody>
        </p:sp>
        <p:sp>
          <p:nvSpPr>
            <p:cNvPr id="119840" name="Text Box 32"/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5</a:t>
              </a:r>
            </a:p>
          </p:txBody>
        </p:sp>
        <p:sp>
          <p:nvSpPr>
            <p:cNvPr id="119842" name="Text Box 34"/>
            <p:cNvSpPr txBox="1">
              <a:spLocks noChangeArrowheads="1"/>
            </p:cNvSpPr>
            <p:nvPr/>
          </p:nvSpPr>
          <p:spPr bwMode="auto">
            <a:xfrm>
              <a:off x="4165" y="1392"/>
              <a:ext cx="1059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u="sng" dirty="0" smtClean="0">
                  <a:latin typeface="Arial" charset="0"/>
                </a:rPr>
                <a:t>Node	</a:t>
              </a:r>
              <a:r>
                <a:rPr lang="en-US" sz="2000" u="sng" dirty="0" err="1" smtClean="0">
                  <a:latin typeface="Arial" charset="0"/>
                </a:rPr>
                <a:t>Atasi</a:t>
              </a:r>
              <a:endParaRPr lang="en-US" sz="2000" u="sng" dirty="0" smtClean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e		-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b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c 		d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d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a 		d</a:t>
              </a:r>
            </a:p>
          </p:txBody>
        </p:sp>
      </p:grpSp>
      <p:sp>
        <p:nvSpPr>
          <p:cNvPr id="119843" name="Line 35"/>
          <p:cNvSpPr>
            <a:spLocks noChangeShapeType="1"/>
          </p:cNvSpPr>
          <p:nvPr/>
        </p:nvSpPr>
        <p:spPr bwMode="auto">
          <a:xfrm>
            <a:off x="3048000" y="3810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19844" name="Line 36"/>
          <p:cNvSpPr>
            <a:spLocks noChangeShapeType="1"/>
          </p:cNvSpPr>
          <p:nvPr/>
        </p:nvSpPr>
        <p:spPr bwMode="auto">
          <a:xfrm>
            <a:off x="1371600" y="2743200"/>
            <a:ext cx="3810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19845" name="Line 37"/>
          <p:cNvSpPr>
            <a:spLocks noChangeShapeType="1"/>
          </p:cNvSpPr>
          <p:nvPr/>
        </p:nvSpPr>
        <p:spPr bwMode="auto">
          <a:xfrm>
            <a:off x="2133600" y="29718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19846" name="Line 38"/>
          <p:cNvSpPr>
            <a:spLocks noChangeShapeType="1"/>
          </p:cNvSpPr>
          <p:nvPr/>
        </p:nvSpPr>
        <p:spPr bwMode="auto">
          <a:xfrm>
            <a:off x="4108450" y="3440113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4818063" y="1017589"/>
            <a:ext cx="3297237" cy="1938338"/>
            <a:chOff x="3147" y="1392"/>
            <a:chExt cx="2077" cy="1221"/>
          </a:xfrm>
        </p:grpSpPr>
        <p:sp>
          <p:nvSpPr>
            <p:cNvPr id="119849" name="Text Box 41"/>
            <p:cNvSpPr txBox="1">
              <a:spLocks noChangeArrowheads="1"/>
            </p:cNvSpPr>
            <p:nvPr/>
          </p:nvSpPr>
          <p:spPr bwMode="auto">
            <a:xfrm>
              <a:off x="3147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a</a:t>
              </a:r>
            </a:p>
          </p:txBody>
        </p:sp>
        <p:sp>
          <p:nvSpPr>
            <p:cNvPr id="119850" name="Text Box 42"/>
            <p:cNvSpPr txBox="1">
              <a:spLocks noChangeArrowheads="1"/>
            </p:cNvSpPr>
            <p:nvPr/>
          </p:nvSpPr>
          <p:spPr bwMode="auto">
            <a:xfrm>
              <a:off x="3376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119851" name="Text Box 43"/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b</a:t>
              </a:r>
            </a:p>
          </p:txBody>
        </p:sp>
        <p:sp>
          <p:nvSpPr>
            <p:cNvPr id="119852" name="Text Box 44"/>
            <p:cNvSpPr txBox="1">
              <a:spLocks noChangeArrowheads="1"/>
            </p:cNvSpPr>
            <p:nvPr/>
          </p:nvSpPr>
          <p:spPr bwMode="auto">
            <a:xfrm>
              <a:off x="3147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119853" name="Text Box 45"/>
            <p:cNvSpPr txBox="1">
              <a:spLocks noChangeArrowheads="1"/>
            </p:cNvSpPr>
            <p:nvPr/>
          </p:nvSpPr>
          <p:spPr bwMode="auto">
            <a:xfrm>
              <a:off x="3376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4</a:t>
              </a:r>
            </a:p>
          </p:txBody>
        </p:sp>
        <p:sp>
          <p:nvSpPr>
            <p:cNvPr id="119854" name="Text Box 46"/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5</a:t>
              </a:r>
            </a:p>
          </p:txBody>
        </p:sp>
        <p:sp>
          <p:nvSpPr>
            <p:cNvPr id="119855" name="Text Box 47"/>
            <p:cNvSpPr txBox="1">
              <a:spLocks noChangeArrowheads="1"/>
            </p:cNvSpPr>
            <p:nvPr/>
          </p:nvSpPr>
          <p:spPr bwMode="auto">
            <a:xfrm>
              <a:off x="4165" y="1392"/>
              <a:ext cx="1059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u="sng" dirty="0" smtClean="0">
                  <a:latin typeface="Arial" charset="0"/>
                </a:rPr>
                <a:t>Node	</a:t>
              </a:r>
              <a:r>
                <a:rPr lang="en-US" sz="2000" u="sng" dirty="0" err="1" smtClean="0">
                  <a:latin typeface="Arial" charset="0"/>
                </a:rPr>
                <a:t>Atasi</a:t>
              </a:r>
              <a:endParaRPr lang="en-US" sz="2000" u="sng" dirty="0" smtClean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e		-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b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c</a:t>
              </a:r>
              <a:r>
                <a:rPr lang="en-US" sz="2000" dirty="0">
                  <a:latin typeface="Arial" charset="0"/>
                </a:rPr>
                <a:t> 	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d</a:t>
              </a:r>
              <a:endParaRPr lang="en-US" sz="2000" dirty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d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a</a:t>
              </a:r>
              <a:r>
                <a:rPr lang="en-US" sz="2000" dirty="0">
                  <a:latin typeface="Arial" charset="0"/>
                </a:rPr>
                <a:t> 		</a:t>
              </a:r>
              <a:r>
                <a:rPr lang="en-US" sz="2000" dirty="0">
                  <a:solidFill>
                    <a:srgbClr val="008000"/>
                  </a:solidFill>
                  <a:latin typeface="Arial" charset="0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9FE9622-DE0F-4BCF-92A5-E37541C69E9B}" type="slidenum">
              <a:rPr lang="en-US"/>
              <a:pPr/>
              <a:t>30</a:t>
            </a:fld>
            <a:endParaRPr lang="en-US"/>
          </a:p>
        </p:txBody>
      </p:sp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Prim’in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121859" name="Oval 3"/>
          <p:cNvSpPr>
            <a:spLocks noChangeArrowheads="1"/>
          </p:cNvSpPr>
          <p:nvPr/>
        </p:nvSpPr>
        <p:spPr bwMode="auto">
          <a:xfrm>
            <a:off x="1371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a</a:t>
            </a:r>
          </a:p>
        </p:txBody>
      </p:sp>
      <p:sp>
        <p:nvSpPr>
          <p:cNvPr id="121860" name="Oval 4"/>
          <p:cNvSpPr>
            <a:spLocks noChangeArrowheads="1"/>
          </p:cNvSpPr>
          <p:nvPr/>
        </p:nvSpPr>
        <p:spPr bwMode="auto">
          <a:xfrm>
            <a:off x="1600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</a:t>
            </a:r>
          </a:p>
        </p:txBody>
      </p:sp>
      <p:sp>
        <p:nvSpPr>
          <p:cNvPr id="121861" name="Oval 5"/>
          <p:cNvSpPr>
            <a:spLocks noChangeArrowheads="1"/>
          </p:cNvSpPr>
          <p:nvPr/>
        </p:nvSpPr>
        <p:spPr bwMode="auto">
          <a:xfrm>
            <a:off x="3048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e</a:t>
            </a:r>
          </a:p>
        </p:txBody>
      </p:sp>
      <p:sp>
        <p:nvSpPr>
          <p:cNvPr id="121862" name="Oval 6"/>
          <p:cNvSpPr>
            <a:spLocks noChangeArrowheads="1"/>
          </p:cNvSpPr>
          <p:nvPr/>
        </p:nvSpPr>
        <p:spPr bwMode="auto">
          <a:xfrm>
            <a:off x="2133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d</a:t>
            </a:r>
          </a:p>
        </p:txBody>
      </p:sp>
      <p:sp>
        <p:nvSpPr>
          <p:cNvPr id="121863" name="Oval 7"/>
          <p:cNvSpPr>
            <a:spLocks noChangeArrowheads="1"/>
          </p:cNvSpPr>
          <p:nvPr/>
        </p:nvSpPr>
        <p:spPr bwMode="auto">
          <a:xfrm>
            <a:off x="3429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b</a:t>
            </a:r>
          </a:p>
        </p:txBody>
      </p:sp>
      <p:cxnSp>
        <p:nvCxnSpPr>
          <p:cNvPr id="121864" name="AutoShape 8"/>
          <p:cNvCxnSpPr>
            <a:cxnSpLocks noChangeShapeType="1"/>
            <a:stCxn id="121859" idx="7"/>
            <a:endCxn id="121863" idx="2"/>
          </p:cNvCxnSpPr>
          <p:nvPr/>
        </p:nvCxnSpPr>
        <p:spPr bwMode="auto">
          <a:xfrm flipV="1">
            <a:off x="1697038" y="2552700"/>
            <a:ext cx="1731962" cy="169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1865" name="AutoShape 9"/>
          <p:cNvCxnSpPr>
            <a:cxnSpLocks noChangeShapeType="1"/>
            <a:stCxn id="121862" idx="6"/>
            <a:endCxn id="121863" idx="3"/>
          </p:cNvCxnSpPr>
          <p:nvPr/>
        </p:nvCxnSpPr>
        <p:spPr bwMode="auto">
          <a:xfrm flipV="1">
            <a:off x="2514600" y="2687638"/>
            <a:ext cx="969963" cy="3984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1866" name="AutoShape 10"/>
          <p:cNvCxnSpPr>
            <a:cxnSpLocks noChangeShapeType="1"/>
            <a:stCxn id="121859" idx="4"/>
            <a:endCxn id="121860" idx="0"/>
          </p:cNvCxnSpPr>
          <p:nvPr/>
        </p:nvCxnSpPr>
        <p:spPr bwMode="auto">
          <a:xfrm>
            <a:off x="1562100" y="3048000"/>
            <a:ext cx="228600" cy="914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1867" name="AutoShape 11"/>
          <p:cNvCxnSpPr>
            <a:cxnSpLocks noChangeShapeType="1"/>
            <a:stCxn id="121859" idx="5"/>
            <a:endCxn id="121862" idx="2"/>
          </p:cNvCxnSpPr>
          <p:nvPr/>
        </p:nvCxnSpPr>
        <p:spPr bwMode="auto">
          <a:xfrm>
            <a:off x="1697038" y="2992438"/>
            <a:ext cx="436562" cy="9366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21868" name="AutoShape 12"/>
          <p:cNvCxnSpPr>
            <a:cxnSpLocks noChangeShapeType="1"/>
            <a:stCxn id="121860" idx="7"/>
            <a:endCxn id="121862" idx="3"/>
          </p:cNvCxnSpPr>
          <p:nvPr/>
        </p:nvCxnSpPr>
        <p:spPr bwMode="auto">
          <a:xfrm flipV="1">
            <a:off x="1925638" y="3221038"/>
            <a:ext cx="263525" cy="7969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21869" name="AutoShape 13"/>
          <p:cNvCxnSpPr>
            <a:cxnSpLocks noChangeShapeType="1"/>
            <a:stCxn id="121862" idx="5"/>
            <a:endCxn id="121861" idx="1"/>
          </p:cNvCxnSpPr>
          <p:nvPr/>
        </p:nvCxnSpPr>
        <p:spPr bwMode="auto">
          <a:xfrm>
            <a:off x="2459038" y="3221038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21870" name="AutoShape 14"/>
          <p:cNvCxnSpPr>
            <a:cxnSpLocks noChangeShapeType="1"/>
            <a:stCxn id="121863" idx="4"/>
            <a:endCxn id="121861" idx="0"/>
          </p:cNvCxnSpPr>
          <p:nvPr/>
        </p:nvCxnSpPr>
        <p:spPr bwMode="auto">
          <a:xfrm flipH="1">
            <a:off x="3238500" y="2743200"/>
            <a:ext cx="381000" cy="990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1871" name="AutoShape 15"/>
          <p:cNvCxnSpPr>
            <a:cxnSpLocks noChangeShapeType="1"/>
            <a:stCxn id="121861" idx="2"/>
            <a:endCxn id="121860" idx="6"/>
          </p:cNvCxnSpPr>
          <p:nvPr/>
        </p:nvCxnSpPr>
        <p:spPr bwMode="auto">
          <a:xfrm flipH="1">
            <a:off x="1981200" y="39243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21872" name="Text Box 16"/>
          <p:cNvSpPr txBox="1">
            <a:spLocks noChangeArrowheads="1"/>
          </p:cNvSpPr>
          <p:nvPr/>
        </p:nvSpPr>
        <p:spPr bwMode="auto">
          <a:xfrm>
            <a:off x="1812925" y="27193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2</a:t>
            </a:r>
          </a:p>
        </p:txBody>
      </p:sp>
      <p:sp>
        <p:nvSpPr>
          <p:cNvPr id="121873" name="Text Box 17"/>
          <p:cNvSpPr txBox="1">
            <a:spLocks noChangeArrowheads="1"/>
          </p:cNvSpPr>
          <p:nvPr/>
        </p:nvSpPr>
        <p:spPr bwMode="auto">
          <a:xfrm>
            <a:off x="182880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21874" name="Text Box 18"/>
          <p:cNvSpPr txBox="1">
            <a:spLocks noChangeArrowheads="1"/>
          </p:cNvSpPr>
          <p:nvPr/>
        </p:nvSpPr>
        <p:spPr bwMode="auto">
          <a:xfrm>
            <a:off x="139065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21875" name="Text Box 19"/>
          <p:cNvSpPr txBox="1">
            <a:spLocks noChangeArrowheads="1"/>
          </p:cNvSpPr>
          <p:nvPr/>
        </p:nvSpPr>
        <p:spPr bwMode="auto">
          <a:xfrm>
            <a:off x="2355850" y="22860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9</a:t>
            </a:r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2660650" y="26812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6</a:t>
            </a: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266065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21878" name="Text Box 22"/>
          <p:cNvSpPr txBox="1">
            <a:spLocks noChangeArrowheads="1"/>
          </p:cNvSpPr>
          <p:nvPr/>
        </p:nvSpPr>
        <p:spPr bwMode="auto">
          <a:xfrm>
            <a:off x="2355850" y="37480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342900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5578475" y="3725864"/>
            <a:ext cx="2570163" cy="1938338"/>
            <a:chOff x="3605" y="1392"/>
            <a:chExt cx="1619" cy="1221"/>
          </a:xfrm>
        </p:grpSpPr>
        <p:sp>
          <p:nvSpPr>
            <p:cNvPr id="121881" name="Text Box 25"/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b</a:t>
              </a:r>
            </a:p>
          </p:txBody>
        </p:sp>
        <p:sp>
          <p:nvSpPr>
            <p:cNvPr id="121883" name="Text Box 27"/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5</a:t>
              </a:r>
            </a:p>
          </p:txBody>
        </p:sp>
        <p:sp>
          <p:nvSpPr>
            <p:cNvPr id="121884" name="Text Box 28"/>
            <p:cNvSpPr txBox="1">
              <a:spLocks noChangeArrowheads="1"/>
            </p:cNvSpPr>
            <p:nvPr/>
          </p:nvSpPr>
          <p:spPr bwMode="auto">
            <a:xfrm>
              <a:off x="4165" y="1392"/>
              <a:ext cx="1059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u="sng" dirty="0" smtClean="0">
                  <a:latin typeface="Arial" charset="0"/>
                </a:rPr>
                <a:t>Node	</a:t>
              </a:r>
              <a:r>
                <a:rPr lang="en-US" sz="2000" u="sng" dirty="0" err="1" smtClean="0">
                  <a:latin typeface="Arial" charset="0"/>
                </a:rPr>
                <a:t>Atasi</a:t>
              </a:r>
              <a:endParaRPr lang="en-US" sz="2000" u="sng" dirty="0" smtClean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e		-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b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c 		d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d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a 		d</a:t>
              </a:r>
            </a:p>
          </p:txBody>
        </p:sp>
      </p:grpSp>
      <p:sp>
        <p:nvSpPr>
          <p:cNvPr id="121885" name="Line 29"/>
          <p:cNvSpPr>
            <a:spLocks noChangeShapeType="1"/>
          </p:cNvSpPr>
          <p:nvPr/>
        </p:nvSpPr>
        <p:spPr bwMode="auto">
          <a:xfrm>
            <a:off x="3048000" y="3810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1886" name="Line 30"/>
          <p:cNvSpPr>
            <a:spLocks noChangeShapeType="1"/>
          </p:cNvSpPr>
          <p:nvPr/>
        </p:nvSpPr>
        <p:spPr bwMode="auto">
          <a:xfrm>
            <a:off x="1371600" y="2743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1887" name="Line 31"/>
          <p:cNvSpPr>
            <a:spLocks noChangeShapeType="1"/>
          </p:cNvSpPr>
          <p:nvPr/>
        </p:nvSpPr>
        <p:spPr bwMode="auto">
          <a:xfrm>
            <a:off x="2133600" y="29718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1888" name="Line 32"/>
          <p:cNvSpPr>
            <a:spLocks noChangeShapeType="1"/>
          </p:cNvSpPr>
          <p:nvPr/>
        </p:nvSpPr>
        <p:spPr bwMode="auto">
          <a:xfrm>
            <a:off x="1600200" y="4038600"/>
            <a:ext cx="381000" cy="3048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1890" name="Line 34"/>
          <p:cNvSpPr>
            <a:spLocks noChangeShapeType="1"/>
          </p:cNvSpPr>
          <p:nvPr/>
        </p:nvSpPr>
        <p:spPr bwMode="auto">
          <a:xfrm>
            <a:off x="4108450" y="3440113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214938" y="1293814"/>
            <a:ext cx="2933700" cy="1938338"/>
            <a:chOff x="3376" y="1392"/>
            <a:chExt cx="1848" cy="1221"/>
          </a:xfrm>
        </p:grpSpPr>
        <p:sp>
          <p:nvSpPr>
            <p:cNvPr id="121892" name="Text Box 36"/>
            <p:cNvSpPr txBox="1">
              <a:spLocks noChangeArrowheads="1"/>
            </p:cNvSpPr>
            <p:nvPr/>
          </p:nvSpPr>
          <p:spPr bwMode="auto">
            <a:xfrm>
              <a:off x="3376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121893" name="Text Box 37"/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b</a:t>
              </a:r>
            </a:p>
          </p:txBody>
        </p:sp>
        <p:sp>
          <p:nvSpPr>
            <p:cNvPr id="121894" name="Text Box 38"/>
            <p:cNvSpPr txBox="1">
              <a:spLocks noChangeArrowheads="1"/>
            </p:cNvSpPr>
            <p:nvPr/>
          </p:nvSpPr>
          <p:spPr bwMode="auto">
            <a:xfrm>
              <a:off x="3376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4</a:t>
              </a:r>
            </a:p>
          </p:txBody>
        </p:sp>
        <p:sp>
          <p:nvSpPr>
            <p:cNvPr id="121895" name="Text Box 39"/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5</a:t>
              </a:r>
            </a:p>
          </p:txBody>
        </p:sp>
        <p:sp>
          <p:nvSpPr>
            <p:cNvPr id="121896" name="Text Box 40"/>
            <p:cNvSpPr txBox="1">
              <a:spLocks noChangeArrowheads="1"/>
            </p:cNvSpPr>
            <p:nvPr/>
          </p:nvSpPr>
          <p:spPr bwMode="auto">
            <a:xfrm>
              <a:off x="4165" y="1392"/>
              <a:ext cx="1059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u="sng" dirty="0" smtClean="0">
                  <a:latin typeface="Arial" charset="0"/>
                </a:rPr>
                <a:t>Node	</a:t>
              </a:r>
              <a:r>
                <a:rPr lang="en-US" sz="2000" u="sng" dirty="0" err="1" smtClean="0">
                  <a:latin typeface="Arial" charset="0"/>
                </a:rPr>
                <a:t>Atasi</a:t>
              </a:r>
              <a:endParaRPr lang="en-US" sz="2000" u="sng" dirty="0" smtClean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e		-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b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c 		d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d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a 		d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1A9EB742-A4AD-4137-A2C0-E1E4D3F92F30}" type="slidenum">
              <a:rPr lang="en-US"/>
              <a:pPr/>
              <a:t>31</a:t>
            </a:fld>
            <a:endParaRPr lang="en-US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Prim’in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122906" name="Text Box 26"/>
          <p:cNvSpPr txBox="1">
            <a:spLocks noChangeArrowheads="1"/>
          </p:cNvSpPr>
          <p:nvPr/>
        </p:nvSpPr>
        <p:spPr bwMode="auto">
          <a:xfrm>
            <a:off x="6711950" y="3903663"/>
            <a:ext cx="168187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u="sng" dirty="0" smtClean="0">
                <a:latin typeface="Arial" charset="0"/>
              </a:rPr>
              <a:t>Node	</a:t>
            </a:r>
            <a:r>
              <a:rPr lang="en-US" sz="2000" u="sng" dirty="0" err="1" smtClean="0">
                <a:latin typeface="Arial" charset="0"/>
              </a:rPr>
              <a:t>Atasi</a:t>
            </a:r>
            <a:endParaRPr lang="en-US" sz="2000" u="sng" dirty="0" smtClean="0">
              <a:latin typeface="Arial" charset="0"/>
            </a:endParaRP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latin typeface="Arial" charset="0"/>
              </a:rPr>
              <a:t>	e		-</a:t>
            </a: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latin typeface="Arial" charset="0"/>
              </a:rPr>
              <a:t>	b		e</a:t>
            </a: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latin typeface="Arial" charset="0"/>
              </a:rPr>
              <a:t>	c 		d</a:t>
            </a: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latin typeface="Arial" charset="0"/>
              </a:rPr>
              <a:t>	d		e</a:t>
            </a:r>
          </a:p>
          <a:p>
            <a:pPr>
              <a:tabLst>
                <a:tab pos="227013" algn="l"/>
                <a:tab pos="917575" algn="l"/>
                <a:tab pos="1258888" algn="l"/>
              </a:tabLst>
            </a:pPr>
            <a:r>
              <a:rPr lang="en-US" sz="2000" dirty="0">
                <a:latin typeface="Arial" charset="0"/>
              </a:rPr>
              <a:t>	a 		d</a:t>
            </a:r>
          </a:p>
        </p:txBody>
      </p:sp>
      <p:sp>
        <p:nvSpPr>
          <p:cNvPr id="122883" name="Oval 3"/>
          <p:cNvSpPr>
            <a:spLocks noChangeArrowheads="1"/>
          </p:cNvSpPr>
          <p:nvPr/>
        </p:nvSpPr>
        <p:spPr bwMode="auto">
          <a:xfrm>
            <a:off x="1371600" y="2667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a</a:t>
            </a:r>
          </a:p>
        </p:txBody>
      </p:sp>
      <p:sp>
        <p:nvSpPr>
          <p:cNvPr id="122884" name="Oval 4"/>
          <p:cNvSpPr>
            <a:spLocks noChangeArrowheads="1"/>
          </p:cNvSpPr>
          <p:nvPr/>
        </p:nvSpPr>
        <p:spPr bwMode="auto">
          <a:xfrm>
            <a:off x="1600200" y="3962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</a:t>
            </a:r>
          </a:p>
        </p:txBody>
      </p:sp>
      <p:sp>
        <p:nvSpPr>
          <p:cNvPr id="122885" name="Oval 5"/>
          <p:cNvSpPr>
            <a:spLocks noChangeArrowheads="1"/>
          </p:cNvSpPr>
          <p:nvPr/>
        </p:nvSpPr>
        <p:spPr bwMode="auto">
          <a:xfrm>
            <a:off x="3048000" y="3733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e</a:t>
            </a:r>
          </a:p>
        </p:txBody>
      </p:sp>
      <p:sp>
        <p:nvSpPr>
          <p:cNvPr id="122886" name="Oval 6"/>
          <p:cNvSpPr>
            <a:spLocks noChangeArrowheads="1"/>
          </p:cNvSpPr>
          <p:nvPr/>
        </p:nvSpPr>
        <p:spPr bwMode="auto">
          <a:xfrm>
            <a:off x="2133600" y="2895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d</a:t>
            </a:r>
          </a:p>
        </p:txBody>
      </p:sp>
      <p:sp>
        <p:nvSpPr>
          <p:cNvPr id="122887" name="Oval 7"/>
          <p:cNvSpPr>
            <a:spLocks noChangeArrowheads="1"/>
          </p:cNvSpPr>
          <p:nvPr/>
        </p:nvSpPr>
        <p:spPr bwMode="auto">
          <a:xfrm>
            <a:off x="3429000" y="2362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b</a:t>
            </a:r>
          </a:p>
        </p:txBody>
      </p:sp>
      <p:cxnSp>
        <p:nvCxnSpPr>
          <p:cNvPr id="122888" name="AutoShape 8"/>
          <p:cNvCxnSpPr>
            <a:cxnSpLocks noChangeShapeType="1"/>
            <a:stCxn id="122883" idx="7"/>
            <a:endCxn id="122887" idx="2"/>
          </p:cNvCxnSpPr>
          <p:nvPr/>
        </p:nvCxnSpPr>
        <p:spPr bwMode="auto">
          <a:xfrm flipV="1">
            <a:off x="1697038" y="2552700"/>
            <a:ext cx="1731962" cy="169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2889" name="AutoShape 9"/>
          <p:cNvCxnSpPr>
            <a:cxnSpLocks noChangeShapeType="1"/>
            <a:stCxn id="122886" idx="6"/>
            <a:endCxn id="122887" idx="3"/>
          </p:cNvCxnSpPr>
          <p:nvPr/>
        </p:nvCxnSpPr>
        <p:spPr bwMode="auto">
          <a:xfrm flipV="1">
            <a:off x="2514600" y="2687638"/>
            <a:ext cx="969963" cy="3984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2890" name="AutoShape 10"/>
          <p:cNvCxnSpPr>
            <a:cxnSpLocks noChangeShapeType="1"/>
            <a:stCxn id="122883" idx="4"/>
            <a:endCxn id="122884" idx="0"/>
          </p:cNvCxnSpPr>
          <p:nvPr/>
        </p:nvCxnSpPr>
        <p:spPr bwMode="auto">
          <a:xfrm>
            <a:off x="1562100" y="3048000"/>
            <a:ext cx="228600" cy="914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2891" name="AutoShape 11"/>
          <p:cNvCxnSpPr>
            <a:cxnSpLocks noChangeShapeType="1"/>
            <a:stCxn id="122883" idx="5"/>
            <a:endCxn id="122886" idx="2"/>
          </p:cNvCxnSpPr>
          <p:nvPr/>
        </p:nvCxnSpPr>
        <p:spPr bwMode="auto">
          <a:xfrm>
            <a:off x="1697038" y="2992438"/>
            <a:ext cx="436562" cy="9366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22892" name="AutoShape 12"/>
          <p:cNvCxnSpPr>
            <a:cxnSpLocks noChangeShapeType="1"/>
            <a:stCxn id="122884" idx="7"/>
            <a:endCxn id="122886" idx="3"/>
          </p:cNvCxnSpPr>
          <p:nvPr/>
        </p:nvCxnSpPr>
        <p:spPr bwMode="auto">
          <a:xfrm flipV="1">
            <a:off x="1925638" y="3221038"/>
            <a:ext cx="263525" cy="7969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22893" name="AutoShape 13"/>
          <p:cNvCxnSpPr>
            <a:cxnSpLocks noChangeShapeType="1"/>
            <a:stCxn id="122886" idx="5"/>
            <a:endCxn id="122885" idx="1"/>
          </p:cNvCxnSpPr>
          <p:nvPr/>
        </p:nvCxnSpPr>
        <p:spPr bwMode="auto">
          <a:xfrm>
            <a:off x="2459038" y="3221038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22894" name="AutoShape 14"/>
          <p:cNvCxnSpPr>
            <a:cxnSpLocks noChangeShapeType="1"/>
            <a:stCxn id="122887" idx="4"/>
            <a:endCxn id="122885" idx="0"/>
          </p:cNvCxnSpPr>
          <p:nvPr/>
        </p:nvCxnSpPr>
        <p:spPr bwMode="auto">
          <a:xfrm flipH="1">
            <a:off x="3238500" y="2743200"/>
            <a:ext cx="381000" cy="990600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122895" name="AutoShape 15"/>
          <p:cNvCxnSpPr>
            <a:cxnSpLocks noChangeShapeType="1"/>
            <a:stCxn id="122885" idx="2"/>
            <a:endCxn id="122884" idx="6"/>
          </p:cNvCxnSpPr>
          <p:nvPr/>
        </p:nvCxnSpPr>
        <p:spPr bwMode="auto">
          <a:xfrm flipH="1">
            <a:off x="1981200" y="39243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122896" name="Text Box 16"/>
          <p:cNvSpPr txBox="1">
            <a:spLocks noChangeArrowheads="1"/>
          </p:cNvSpPr>
          <p:nvPr/>
        </p:nvSpPr>
        <p:spPr bwMode="auto">
          <a:xfrm>
            <a:off x="1812925" y="27193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2</a:t>
            </a:r>
          </a:p>
        </p:txBody>
      </p:sp>
      <p:sp>
        <p:nvSpPr>
          <p:cNvPr id="122897" name="Text Box 17"/>
          <p:cNvSpPr txBox="1">
            <a:spLocks noChangeArrowheads="1"/>
          </p:cNvSpPr>
          <p:nvPr/>
        </p:nvSpPr>
        <p:spPr bwMode="auto">
          <a:xfrm>
            <a:off x="182880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22898" name="Text Box 18"/>
          <p:cNvSpPr txBox="1">
            <a:spLocks noChangeArrowheads="1"/>
          </p:cNvSpPr>
          <p:nvPr/>
        </p:nvSpPr>
        <p:spPr bwMode="auto">
          <a:xfrm>
            <a:off x="1390650" y="3290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22899" name="Text Box 19"/>
          <p:cNvSpPr txBox="1">
            <a:spLocks noChangeArrowheads="1"/>
          </p:cNvSpPr>
          <p:nvPr/>
        </p:nvSpPr>
        <p:spPr bwMode="auto">
          <a:xfrm>
            <a:off x="2355850" y="22860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9</a:t>
            </a:r>
          </a:p>
        </p:txBody>
      </p:sp>
      <p:sp>
        <p:nvSpPr>
          <p:cNvPr id="122900" name="Text Box 20"/>
          <p:cNvSpPr txBox="1">
            <a:spLocks noChangeArrowheads="1"/>
          </p:cNvSpPr>
          <p:nvPr/>
        </p:nvSpPr>
        <p:spPr bwMode="auto">
          <a:xfrm>
            <a:off x="2660650" y="26812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6</a:t>
            </a:r>
          </a:p>
        </p:txBody>
      </p:sp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266065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122902" name="Text Box 22"/>
          <p:cNvSpPr txBox="1">
            <a:spLocks noChangeArrowheads="1"/>
          </p:cNvSpPr>
          <p:nvPr/>
        </p:nvSpPr>
        <p:spPr bwMode="auto">
          <a:xfrm>
            <a:off x="2355850" y="37480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22903" name="Text Box 23"/>
          <p:cNvSpPr txBox="1">
            <a:spLocks noChangeArrowheads="1"/>
          </p:cNvSpPr>
          <p:nvPr/>
        </p:nvSpPr>
        <p:spPr bwMode="auto">
          <a:xfrm>
            <a:off x="3429000" y="3138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122907" name="Line 27"/>
          <p:cNvSpPr>
            <a:spLocks noChangeShapeType="1"/>
          </p:cNvSpPr>
          <p:nvPr/>
        </p:nvSpPr>
        <p:spPr bwMode="auto">
          <a:xfrm>
            <a:off x="3048000" y="38100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2908" name="Line 28"/>
          <p:cNvSpPr>
            <a:spLocks noChangeShapeType="1"/>
          </p:cNvSpPr>
          <p:nvPr/>
        </p:nvSpPr>
        <p:spPr bwMode="auto">
          <a:xfrm>
            <a:off x="1371600" y="2743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2909" name="Line 29"/>
          <p:cNvSpPr>
            <a:spLocks noChangeShapeType="1"/>
          </p:cNvSpPr>
          <p:nvPr/>
        </p:nvSpPr>
        <p:spPr bwMode="auto">
          <a:xfrm>
            <a:off x="2133600" y="29718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2910" name="Line 30"/>
          <p:cNvSpPr>
            <a:spLocks noChangeShapeType="1"/>
          </p:cNvSpPr>
          <p:nvPr/>
        </p:nvSpPr>
        <p:spPr bwMode="auto">
          <a:xfrm>
            <a:off x="1600200" y="40386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2911" name="Line 31"/>
          <p:cNvSpPr>
            <a:spLocks noChangeShapeType="1"/>
          </p:cNvSpPr>
          <p:nvPr/>
        </p:nvSpPr>
        <p:spPr bwMode="auto">
          <a:xfrm>
            <a:off x="3429000" y="24384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22913" name="Rectangle 33"/>
          <p:cNvSpPr>
            <a:spLocks noChangeArrowheads="1"/>
          </p:cNvSpPr>
          <p:nvPr/>
        </p:nvSpPr>
        <p:spPr bwMode="auto">
          <a:xfrm>
            <a:off x="1570038" y="4803775"/>
            <a:ext cx="52709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Arial" charset="0"/>
              </a:rPr>
              <a:t>Sonuc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olarak</a:t>
            </a:r>
            <a:r>
              <a:rPr lang="en-US" sz="2400" dirty="0" smtClean="0">
                <a:latin typeface="Arial" charset="0"/>
              </a:rPr>
              <a:t> minimum spanning tree</a:t>
            </a:r>
            <a:endParaRPr lang="en-US" sz="2400" dirty="0">
              <a:latin typeface="Arial" charset="0"/>
            </a:endParaRPr>
          </a:p>
        </p:txBody>
      </p:sp>
      <p:sp>
        <p:nvSpPr>
          <p:cNvPr id="122920" name="Line 40"/>
          <p:cNvSpPr>
            <a:spLocks noChangeShapeType="1"/>
          </p:cNvSpPr>
          <p:nvPr/>
        </p:nvSpPr>
        <p:spPr bwMode="auto">
          <a:xfrm>
            <a:off x="4108450" y="3440113"/>
            <a:ext cx="487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tr-TR"/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5745163" y="1117601"/>
            <a:ext cx="2570162" cy="1938338"/>
            <a:chOff x="3605" y="1392"/>
            <a:chExt cx="1619" cy="1221"/>
          </a:xfrm>
        </p:grpSpPr>
        <p:sp>
          <p:nvSpPr>
            <p:cNvPr id="122922" name="Text Box 42"/>
            <p:cNvSpPr txBox="1">
              <a:spLocks noChangeArrowheads="1"/>
            </p:cNvSpPr>
            <p:nvPr/>
          </p:nvSpPr>
          <p:spPr bwMode="auto">
            <a:xfrm>
              <a:off x="3605" y="171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charset="0"/>
                </a:rPr>
                <a:t>b</a:t>
              </a:r>
            </a:p>
          </p:txBody>
        </p:sp>
        <p:sp>
          <p:nvSpPr>
            <p:cNvPr id="122923" name="Text Box 43"/>
            <p:cNvSpPr txBox="1">
              <a:spLocks noChangeArrowheads="1"/>
            </p:cNvSpPr>
            <p:nvPr/>
          </p:nvSpPr>
          <p:spPr bwMode="auto">
            <a:xfrm>
              <a:off x="3605" y="2010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>
                  <a:latin typeface="Arial" charset="0"/>
                  <a:sym typeface="Symbol" pitchFamily="18" charset="2"/>
                </a:rPr>
                <a:t>5</a:t>
              </a:r>
            </a:p>
          </p:txBody>
        </p:sp>
        <p:sp>
          <p:nvSpPr>
            <p:cNvPr id="122924" name="Text Box 44"/>
            <p:cNvSpPr txBox="1">
              <a:spLocks noChangeArrowheads="1"/>
            </p:cNvSpPr>
            <p:nvPr/>
          </p:nvSpPr>
          <p:spPr bwMode="auto">
            <a:xfrm>
              <a:off x="4165" y="1392"/>
              <a:ext cx="1059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u="sng" dirty="0" smtClean="0">
                  <a:latin typeface="Arial" charset="0"/>
                </a:rPr>
                <a:t>Node	</a:t>
              </a:r>
              <a:r>
                <a:rPr lang="en-US" sz="2000" u="sng" dirty="0" err="1" smtClean="0">
                  <a:latin typeface="Arial" charset="0"/>
                </a:rPr>
                <a:t>Atasi</a:t>
              </a:r>
              <a:endParaRPr lang="en-US" sz="2000" u="sng" dirty="0" smtClean="0">
                <a:latin typeface="Arial" charset="0"/>
              </a:endParaRP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e		-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b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c 		d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d		e</a:t>
              </a:r>
            </a:p>
            <a:p>
              <a:pPr>
                <a:tabLst>
                  <a:tab pos="227013" algn="l"/>
                  <a:tab pos="917575" algn="l"/>
                  <a:tab pos="1258888" algn="l"/>
                </a:tabLst>
              </a:pPr>
              <a:r>
                <a:rPr lang="en-US" sz="2000" dirty="0">
                  <a:latin typeface="Arial" charset="0"/>
                </a:rPr>
                <a:t>	a 		d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8B4A0BA2-0881-4198-8DF2-8F854A679194}" type="slidenum">
              <a:rPr lang="en-US"/>
              <a:pPr/>
              <a:t>32</a:t>
            </a:fld>
            <a:endParaRPr 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00" y="381000"/>
            <a:ext cx="8737600" cy="685800"/>
          </a:xfrm>
        </p:spPr>
        <p:txBody>
          <a:bodyPr>
            <a:normAutofit fontScale="90000"/>
          </a:bodyPr>
          <a:lstStyle/>
          <a:p>
            <a:r>
              <a:rPr lang="en-US" sz="3200" dirty="0" err="1" smtClean="0"/>
              <a:t>Prim’in</a:t>
            </a:r>
            <a:r>
              <a:rPr lang="en-US" sz="3200" dirty="0" smtClean="0"/>
              <a:t> </a:t>
            </a:r>
            <a:r>
              <a:rPr lang="en-US" sz="3200" dirty="0" err="1" smtClean="0"/>
              <a:t>Algoritmasinin</a:t>
            </a:r>
            <a:r>
              <a:rPr lang="en-US" sz="3200" dirty="0" smtClean="0"/>
              <a:t> Heap </a:t>
            </a:r>
            <a:r>
              <a:rPr lang="en-US" sz="3200" dirty="0" err="1" smtClean="0"/>
              <a:t>Olmadan</a:t>
            </a:r>
            <a:r>
              <a:rPr lang="en-US" sz="3200" dirty="0" smtClean="0"/>
              <a:t> </a:t>
            </a:r>
            <a:r>
              <a:rPr lang="en-US" sz="3200" dirty="0" err="1" smtClean="0"/>
              <a:t>Calisma</a:t>
            </a:r>
            <a:r>
              <a:rPr lang="en-US" sz="3200" dirty="0"/>
              <a:t> </a:t>
            </a:r>
            <a:r>
              <a:rPr lang="en-US" sz="3200" dirty="0" err="1" smtClean="0"/>
              <a:t>Zamani</a:t>
            </a:r>
            <a:endParaRPr lang="en-US" sz="3200" dirty="0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38200" y="1416050"/>
            <a:ext cx="7467600" cy="4376738"/>
            <a:chOff x="288" y="1440"/>
            <a:chExt cx="4704" cy="2757"/>
          </a:xfrm>
        </p:grpSpPr>
        <p:sp>
          <p:nvSpPr>
            <p:cNvPr id="38918" name="Text Box 6"/>
            <p:cNvSpPr txBox="1">
              <a:spLocks noChangeArrowheads="1"/>
            </p:cNvSpPr>
            <p:nvPr/>
          </p:nvSpPr>
          <p:spPr bwMode="auto">
            <a:xfrm>
              <a:off x="288" y="1440"/>
              <a:ext cx="4704" cy="27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400" b="1" dirty="0" err="1" smtClean="0">
                  <a:latin typeface="Arial" charset="0"/>
                </a:rPr>
                <a:t>Baslangic</a:t>
              </a:r>
              <a:r>
                <a:rPr lang="en-US" sz="2400" b="1" dirty="0" smtClean="0">
                  <a:latin typeface="Arial" charset="0"/>
                </a:rPr>
                <a:t> </a:t>
              </a:r>
              <a:r>
                <a:rPr lang="en-US" sz="2400" b="1" dirty="0" err="1" smtClean="0">
                  <a:latin typeface="Arial" charset="0"/>
                </a:rPr>
                <a:t>degerlerinin</a:t>
              </a:r>
              <a:r>
                <a:rPr lang="en-US" sz="2400" b="1" dirty="0" smtClean="0">
                  <a:latin typeface="Arial" charset="0"/>
                </a:rPr>
                <a:t> </a:t>
              </a:r>
              <a:r>
                <a:rPr lang="en-US" sz="2400" b="1" dirty="0" err="1" smtClean="0">
                  <a:latin typeface="Arial" charset="0"/>
                </a:rPr>
                <a:t>verilmesi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>
                  <a:latin typeface="Arial" charset="0"/>
                </a:rPr>
                <a:t>(array): O(|</a:t>
              </a:r>
              <a:r>
                <a:rPr lang="en-US" sz="2400" b="1" i="1" dirty="0"/>
                <a:t>V</a:t>
              </a:r>
              <a:r>
                <a:rPr lang="en-US" sz="2400" dirty="0">
                  <a:latin typeface="Arial" charset="0"/>
                </a:rPr>
                <a:t>|)</a:t>
              </a:r>
            </a:p>
            <a:p>
              <a:endParaRPr lang="en-US" sz="2400" dirty="0">
                <a:latin typeface="Arial" charset="0"/>
              </a:endParaRPr>
            </a:p>
            <a:p>
              <a:r>
                <a:rPr lang="en-US" sz="2400" b="1" dirty="0" err="1" smtClean="0">
                  <a:latin typeface="Arial" charset="0"/>
                </a:rPr>
                <a:t>Guncelleme</a:t>
              </a:r>
              <a:r>
                <a:rPr lang="en-US" sz="2400" b="1" dirty="0" smtClean="0">
                  <a:latin typeface="Arial" charset="0"/>
                </a:rPr>
                <a:t> </a:t>
              </a:r>
              <a:r>
                <a:rPr lang="en-US" sz="2400" b="1" dirty="0" err="1" smtClean="0">
                  <a:latin typeface="Arial" charset="0"/>
                </a:rPr>
                <a:t>dongusu</a:t>
              </a:r>
              <a:r>
                <a:rPr lang="en-US" sz="2400" dirty="0" smtClean="0">
                  <a:latin typeface="Arial" charset="0"/>
                </a:rPr>
                <a:t>:  </a:t>
              </a:r>
              <a:r>
                <a:rPr lang="en-US" sz="2400" dirty="0">
                  <a:latin typeface="Arial" charset="0"/>
                </a:rPr>
                <a:t>|</a:t>
              </a:r>
              <a:r>
                <a:rPr lang="en-US" sz="2400" b="1" i="1" dirty="0"/>
                <a:t>V</a:t>
              </a:r>
              <a:r>
                <a:rPr lang="en-US" sz="2400" dirty="0">
                  <a:latin typeface="Arial" charset="0"/>
                </a:rPr>
                <a:t>| </a:t>
              </a:r>
              <a:r>
                <a:rPr lang="en-US" sz="2400" dirty="0" err="1" smtClean="0">
                  <a:latin typeface="Arial" charset="0"/>
                </a:rPr>
                <a:t>defa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cagrilir</a:t>
              </a:r>
              <a:endParaRPr lang="en-US" sz="2400" dirty="0">
                <a:latin typeface="Arial" charset="0"/>
              </a:endParaRPr>
            </a:p>
            <a:p>
              <a:pPr marL="681038" lvl="1" indent="-223838">
                <a:buFontTx/>
                <a:buChar char="•"/>
              </a:pPr>
              <a:r>
                <a:rPr lang="en-US" sz="2400" dirty="0" smtClean="0">
                  <a:latin typeface="Arial" charset="0"/>
                </a:rPr>
                <a:t>Minimum </a:t>
              </a:r>
              <a:r>
                <a:rPr lang="en-US" sz="2400" dirty="0" err="1" smtClean="0">
                  <a:latin typeface="Arial" charset="0"/>
                </a:rPr>
                <a:t>degerli</a:t>
              </a:r>
              <a:r>
                <a:rPr lang="en-US" sz="2400" dirty="0" smtClean="0">
                  <a:latin typeface="Arial" charset="0"/>
                </a:rPr>
                <a:t> node </a:t>
              </a:r>
              <a:r>
                <a:rPr lang="en-US" sz="2400" dirty="0" err="1" smtClean="0">
                  <a:latin typeface="Arial" charset="0"/>
                </a:rPr>
                <a:t>secilir</a:t>
              </a:r>
              <a:r>
                <a:rPr lang="en-US" sz="2400" dirty="0" smtClean="0">
                  <a:latin typeface="Arial" charset="0"/>
                </a:rPr>
                <a:t>: </a:t>
              </a:r>
              <a:r>
                <a:rPr lang="en-US" sz="2400" dirty="0">
                  <a:latin typeface="Arial" charset="0"/>
                </a:rPr>
                <a:t>O(|</a:t>
              </a:r>
              <a:r>
                <a:rPr lang="en-US" sz="2400" b="1" i="1" dirty="0"/>
                <a:t>V</a:t>
              </a:r>
              <a:r>
                <a:rPr lang="en-US" sz="2400" dirty="0">
                  <a:latin typeface="Arial" charset="0"/>
                </a:rPr>
                <a:t>|)</a:t>
              </a:r>
            </a:p>
            <a:p>
              <a:pPr marL="681038" lvl="1" indent="-223838">
                <a:buFontTx/>
                <a:buChar char="•"/>
              </a:pPr>
              <a:r>
                <a:rPr lang="en-US" sz="2400" dirty="0" smtClean="0">
                  <a:latin typeface="Arial" charset="0"/>
                </a:rPr>
                <a:t>Tree de </a:t>
              </a:r>
              <a:r>
                <a:rPr lang="en-US" sz="2400" dirty="0" err="1" smtClean="0">
                  <a:latin typeface="Arial" charset="0"/>
                </a:rPr>
                <a:t>olmayan</a:t>
              </a:r>
              <a:r>
                <a:rPr lang="en-US" sz="2400" dirty="0" smtClean="0">
                  <a:latin typeface="Arial" charset="0"/>
                </a:rPr>
                <a:t> node </a:t>
              </a:r>
              <a:r>
                <a:rPr lang="en-US" sz="2400" dirty="0" err="1" smtClean="0">
                  <a:latin typeface="Arial" charset="0"/>
                </a:rPr>
                <a:t>lar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yeni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degerleri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ile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guncellenir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bu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islem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toplamda</a:t>
              </a:r>
              <a:r>
                <a:rPr lang="en-US" sz="2400" dirty="0" smtClean="0">
                  <a:latin typeface="Arial" charset="0"/>
                </a:rPr>
                <a:t> O</a:t>
              </a:r>
              <a:r>
                <a:rPr lang="en-US" sz="2400" dirty="0">
                  <a:latin typeface="Arial" charset="0"/>
                </a:rPr>
                <a:t>(|</a:t>
              </a:r>
              <a:r>
                <a:rPr lang="en-US" sz="2400" b="1" i="1" dirty="0"/>
                <a:t>E</a:t>
              </a:r>
              <a:r>
                <a:rPr lang="en-US" sz="2400" dirty="0">
                  <a:latin typeface="Arial" charset="0"/>
                </a:rPr>
                <a:t>|) </a:t>
              </a:r>
              <a:r>
                <a:rPr lang="en-US" sz="2400" dirty="0" err="1" smtClean="0">
                  <a:latin typeface="Arial" charset="0"/>
                </a:rPr>
                <a:t>guncelleme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yapar</a:t>
              </a:r>
              <a:r>
                <a:rPr lang="en-US" sz="2400" dirty="0" smtClean="0">
                  <a:latin typeface="Arial" charset="0"/>
                </a:rPr>
                <a:t>. </a:t>
              </a:r>
              <a:r>
                <a:rPr lang="en-US" sz="2400" dirty="0">
                  <a:latin typeface="Arial" charset="0"/>
                </a:rPr>
                <a:t>			</a:t>
              </a:r>
            </a:p>
            <a:p>
              <a:r>
                <a:rPr lang="en-US" sz="2400" b="1" dirty="0" smtClean="0">
                  <a:latin typeface="Arial" charset="0"/>
                </a:rPr>
                <a:t>Heap </a:t>
              </a:r>
              <a:r>
                <a:rPr lang="en-US" sz="2400" b="1" dirty="0" err="1" smtClean="0">
                  <a:latin typeface="Arial" charset="0"/>
                </a:rPr>
                <a:t>siz</a:t>
              </a:r>
              <a:r>
                <a:rPr lang="en-US" sz="2400" b="1" dirty="0" smtClean="0">
                  <a:latin typeface="Arial" charset="0"/>
                </a:rPr>
                <a:t> </a:t>
              </a:r>
              <a:r>
                <a:rPr lang="en-US" sz="2400" b="1" dirty="0" err="1" smtClean="0">
                  <a:latin typeface="Arial" charset="0"/>
                </a:rPr>
                <a:t>toplam</a:t>
              </a:r>
              <a:r>
                <a:rPr lang="en-US" sz="2400" b="1" dirty="0" smtClean="0">
                  <a:latin typeface="Arial" charset="0"/>
                </a:rPr>
                <a:t> </a:t>
              </a:r>
              <a:r>
                <a:rPr lang="en-US" sz="2400" b="1" dirty="0" err="1" smtClean="0">
                  <a:latin typeface="Arial" charset="0"/>
                </a:rPr>
                <a:t>maliyet</a:t>
              </a:r>
              <a:r>
                <a:rPr lang="en-US" sz="2400" dirty="0" smtClean="0">
                  <a:latin typeface="Arial" charset="0"/>
                </a:rPr>
                <a:t>:</a:t>
              </a:r>
              <a:endParaRPr lang="en-US" sz="2400" dirty="0">
                <a:latin typeface="Arial" charset="0"/>
              </a:endParaRPr>
            </a:p>
            <a:p>
              <a:endParaRPr lang="en-US" sz="2400" dirty="0">
                <a:latin typeface="Arial" charset="0"/>
              </a:endParaRPr>
            </a:p>
            <a:p>
              <a:pPr>
                <a:lnSpc>
                  <a:spcPct val="80000"/>
                </a:lnSpc>
              </a:pPr>
              <a:r>
                <a:rPr lang="en-US" sz="2400" dirty="0" smtClean="0">
                  <a:latin typeface="Arial" charset="0"/>
                </a:rPr>
                <a:t>Heap </a:t>
              </a:r>
              <a:r>
                <a:rPr lang="en-US" sz="2400" dirty="0" err="1" smtClean="0">
                  <a:latin typeface="Arial" charset="0"/>
                </a:rPr>
                <a:t>kullanarak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Dijkstra’nin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algoritmasindaki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gibi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daha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iyi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bir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calisma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zamanina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sahip</a:t>
              </a:r>
              <a:r>
                <a:rPr lang="en-US" sz="2400" dirty="0" smtClean="0">
                  <a:latin typeface="Arial" charset="0"/>
                </a:rPr>
                <a:t> </a:t>
              </a:r>
              <a:r>
                <a:rPr lang="en-US" sz="2400" dirty="0" err="1" smtClean="0">
                  <a:latin typeface="Arial" charset="0"/>
                </a:rPr>
                <a:t>olabilirsiniz</a:t>
              </a:r>
              <a:r>
                <a:rPr lang="en-US" sz="2400" dirty="0" smtClean="0">
                  <a:latin typeface="Arial" charset="0"/>
                </a:rPr>
                <a:t>.</a:t>
              </a:r>
              <a:endParaRPr lang="en-US" sz="2400" i="1" dirty="0">
                <a:solidFill>
                  <a:srgbClr val="CC0000"/>
                </a:solidFill>
                <a:latin typeface="Arial" charset="0"/>
              </a:endParaRPr>
            </a:p>
            <a:p>
              <a:endParaRPr lang="en-US" sz="2400" dirty="0">
                <a:latin typeface="Arial" charset="0"/>
              </a:endParaRPr>
            </a:p>
          </p:txBody>
        </p:sp>
        <p:sp>
          <p:nvSpPr>
            <p:cNvPr id="38919" name="Rectangle 7"/>
            <p:cNvSpPr>
              <a:spLocks noChangeArrowheads="1"/>
            </p:cNvSpPr>
            <p:nvPr/>
          </p:nvSpPr>
          <p:spPr bwMode="auto">
            <a:xfrm>
              <a:off x="2928" y="3270"/>
              <a:ext cx="1203" cy="3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>
                  <a:latin typeface="Arial" charset="0"/>
                </a:rPr>
                <a:t>O(|</a:t>
              </a:r>
              <a:r>
                <a:rPr lang="en-US" sz="2400" b="1" i="1"/>
                <a:t>E</a:t>
              </a:r>
              <a:r>
                <a:rPr lang="en-US" sz="2400">
                  <a:latin typeface="Arial" charset="0"/>
                </a:rPr>
                <a:t>| + |</a:t>
              </a:r>
              <a:r>
                <a:rPr lang="en-US" sz="2400" b="1" i="1"/>
                <a:t>V</a:t>
              </a:r>
              <a:r>
                <a:rPr lang="en-US" sz="2400">
                  <a:latin typeface="Arial" charset="0"/>
                </a:rPr>
                <a:t>| </a:t>
              </a:r>
              <a:r>
                <a:rPr lang="en-US" sz="2400" baseline="30000">
                  <a:latin typeface="Arial" charset="0"/>
                </a:rPr>
                <a:t>2</a:t>
              </a:r>
              <a:r>
                <a:rPr lang="en-US" sz="2400">
                  <a:latin typeface="Arial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608EB817-7524-4183-8000-E625E70C2481}" type="slidenum">
              <a:rPr lang="en-US"/>
              <a:pPr/>
              <a:t>33</a:t>
            </a:fld>
            <a:endParaRPr 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Prim’in</a:t>
            </a:r>
            <a:r>
              <a:rPr lang="en-US" dirty="0" smtClean="0"/>
              <a:t> </a:t>
            </a:r>
            <a:r>
              <a:rPr lang="en-US" dirty="0" err="1" smtClean="0"/>
              <a:t>Algoritmasinin</a:t>
            </a:r>
            <a:r>
              <a:rPr lang="en-US" dirty="0" smtClean="0"/>
              <a:t> </a:t>
            </a:r>
            <a:r>
              <a:rPr lang="en-US" dirty="0" err="1" smtClean="0"/>
              <a:t>Gercekleri</a:t>
            </a:r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7162800" cy="4343400"/>
          </a:xfrm>
        </p:spPr>
        <p:txBody>
          <a:bodyPr/>
          <a:lstStyle/>
          <a:p>
            <a:r>
              <a:rPr lang="en-US" sz="2400" dirty="0" smtClean="0"/>
              <a:t>Her </a:t>
            </a:r>
            <a:r>
              <a:rPr lang="en-US" sz="2400" dirty="0" err="1" smtClean="0"/>
              <a:t>adimda</a:t>
            </a:r>
            <a:r>
              <a:rPr lang="en-US" sz="2400" dirty="0" smtClean="0"/>
              <a:t> </a:t>
            </a:r>
            <a:r>
              <a:rPr lang="en-US" sz="2400" dirty="0" err="1" smtClean="0"/>
              <a:t>agac</a:t>
            </a:r>
            <a:r>
              <a:rPr lang="en-US" sz="2400" dirty="0" smtClean="0"/>
              <a:t> </a:t>
            </a:r>
            <a:r>
              <a:rPr lang="en-US" sz="2400" dirty="0" err="1" smtClean="0"/>
              <a:t>ta</a:t>
            </a:r>
            <a:r>
              <a:rPr lang="en-US" sz="2400" dirty="0" smtClean="0"/>
              <a:t> </a:t>
            </a:r>
            <a:r>
              <a:rPr lang="en-US" sz="2400" dirty="0" err="1" smtClean="0"/>
              <a:t>olan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u node u </a:t>
            </a:r>
            <a:r>
              <a:rPr lang="en-US" sz="2400" dirty="0" err="1" smtClean="0"/>
              <a:t>ile</a:t>
            </a:r>
            <a:r>
              <a:rPr lang="en-US" sz="2400" dirty="0" smtClean="0"/>
              <a:t> </a:t>
            </a:r>
            <a:r>
              <a:rPr lang="en-US" sz="2400" dirty="0" err="1" smtClean="0"/>
              <a:t>olmayan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v node u </a:t>
            </a:r>
            <a:r>
              <a:rPr lang="en-US" sz="2400" dirty="0" err="1" smtClean="0"/>
              <a:t>icin</a:t>
            </a:r>
            <a:r>
              <a:rPr lang="en-US" sz="2400" dirty="0" smtClean="0"/>
              <a:t> (</a:t>
            </a:r>
            <a:r>
              <a:rPr lang="en-US" sz="2400" dirty="0" err="1" smtClean="0"/>
              <a:t>u,v</a:t>
            </a:r>
            <a:r>
              <a:rPr lang="en-US" sz="2400" dirty="0" smtClean="0"/>
              <a:t>) </a:t>
            </a:r>
            <a:r>
              <a:rPr lang="en-US" sz="2400" dirty="0" err="1" smtClean="0"/>
              <a:t>seklinde</a:t>
            </a:r>
            <a:r>
              <a:rPr lang="en-US" sz="2400" dirty="0" smtClean="0"/>
              <a:t> </a:t>
            </a:r>
            <a:r>
              <a:rPr lang="en-US" sz="2400" dirty="0" err="1" smtClean="0"/>
              <a:t>olan</a:t>
            </a:r>
            <a:r>
              <a:rPr lang="en-US" sz="2400" dirty="0" smtClean="0"/>
              <a:t> </a:t>
            </a:r>
            <a:r>
              <a:rPr lang="en-US" sz="2400" dirty="0" err="1" smtClean="0"/>
              <a:t>edgelerden</a:t>
            </a:r>
            <a:r>
              <a:rPr lang="en-US" sz="2400" dirty="0" smtClean="0"/>
              <a:t> minimum </a:t>
            </a:r>
            <a:r>
              <a:rPr lang="en-US" sz="2400" dirty="0" err="1" smtClean="0"/>
              <a:t>maliyetli</a:t>
            </a:r>
            <a:r>
              <a:rPr lang="en-US" sz="2400" dirty="0" smtClean="0"/>
              <a:t> </a:t>
            </a:r>
            <a:r>
              <a:rPr lang="en-US" sz="2400" dirty="0" err="1" smtClean="0"/>
              <a:t>olani</a:t>
            </a:r>
            <a:r>
              <a:rPr lang="en-US" sz="2400" dirty="0" smtClean="0"/>
              <a:t> </a:t>
            </a:r>
            <a:r>
              <a:rPr lang="en-US" sz="2400" dirty="0" err="1" smtClean="0"/>
              <a:t>secilir</a:t>
            </a:r>
            <a:r>
              <a:rPr lang="en-US" sz="2400" dirty="0" smtClean="0"/>
              <a:t>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smtClean="0"/>
              <a:t>Her </a:t>
            </a:r>
            <a:r>
              <a:rPr lang="en-US" sz="2400" dirty="0" err="1" smtClean="0"/>
              <a:t>adimda</a:t>
            </a:r>
            <a:r>
              <a:rPr lang="en-US" sz="2400" dirty="0" smtClean="0"/>
              <a:t> </a:t>
            </a:r>
            <a:r>
              <a:rPr lang="en-US" sz="2400" dirty="0" err="1" smtClean="0"/>
              <a:t>simdiye</a:t>
            </a:r>
            <a:r>
              <a:rPr lang="en-US" sz="2400" dirty="0" smtClean="0"/>
              <a:t> </a:t>
            </a:r>
            <a:r>
              <a:rPr lang="en-US" sz="2400" dirty="0" err="1" smtClean="0"/>
              <a:t>kadar</a:t>
            </a:r>
            <a:r>
              <a:rPr lang="en-US" sz="2400" dirty="0" smtClean="0"/>
              <a:t> </a:t>
            </a:r>
            <a:r>
              <a:rPr lang="en-US" sz="2400" dirty="0" err="1" smtClean="0"/>
              <a:t>belirlenmis</a:t>
            </a:r>
            <a:r>
              <a:rPr lang="en-US" sz="2400" dirty="0" smtClean="0"/>
              <a:t> </a:t>
            </a:r>
            <a:r>
              <a:rPr lang="en-US" sz="2400" dirty="0" err="1" smtClean="0"/>
              <a:t>olan</a:t>
            </a:r>
            <a:r>
              <a:rPr lang="en-US" sz="2400" dirty="0" smtClean="0"/>
              <a:t> </a:t>
            </a:r>
            <a:r>
              <a:rPr lang="en-US" sz="2400" dirty="0" err="1" smtClean="0"/>
              <a:t>edgeler</a:t>
            </a:r>
            <a:r>
              <a:rPr lang="en-US" sz="2400" dirty="0" smtClean="0"/>
              <a:t> </a:t>
            </a:r>
            <a:r>
              <a:rPr lang="en-US" sz="2400" dirty="0" err="1" smtClean="0"/>
              <a:t>mst</a:t>
            </a:r>
            <a:r>
              <a:rPr lang="en-US" sz="2400" dirty="0" smtClean="0"/>
              <a:t> </a:t>
            </a:r>
            <a:r>
              <a:rPr lang="en-US" sz="2400" dirty="0" err="1" smtClean="0"/>
              <a:t>nin</a:t>
            </a:r>
            <a:r>
              <a:rPr lang="en-US" sz="2400" dirty="0" smtClean="0"/>
              <a:t> </a:t>
            </a:r>
            <a:r>
              <a:rPr lang="en-US" sz="2400" dirty="0" err="1" smtClean="0"/>
              <a:t>belirli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</a:t>
            </a:r>
            <a:r>
              <a:rPr lang="en-US" sz="2400" dirty="0" err="1" smtClean="0"/>
              <a:t>kismini</a:t>
            </a:r>
            <a:r>
              <a:rPr lang="en-US" sz="2400" dirty="0" smtClean="0"/>
              <a:t> </a:t>
            </a:r>
            <a:r>
              <a:rPr lang="en-US" sz="2400" dirty="0" err="1" smtClean="0"/>
              <a:t>olusturur</a:t>
            </a:r>
            <a:r>
              <a:rPr lang="en-US" sz="2400" dirty="0" smtClean="0"/>
              <a:t> </a:t>
            </a:r>
            <a:r>
              <a:rPr lang="en-US" sz="2400" dirty="0" err="1" smtClean="0"/>
              <a:t>yani</a:t>
            </a:r>
            <a:r>
              <a:rPr lang="en-US" sz="2400" dirty="0" smtClean="0"/>
              <a:t> </a:t>
            </a:r>
            <a:r>
              <a:rPr lang="en-US" sz="2400" dirty="0" err="1" smtClean="0"/>
              <a:t>secilen</a:t>
            </a:r>
            <a:r>
              <a:rPr lang="en-US" sz="2400" dirty="0" smtClean="0"/>
              <a:t> </a:t>
            </a:r>
            <a:r>
              <a:rPr lang="en-US" sz="2400" dirty="0" err="1" smtClean="0"/>
              <a:t>edgelerden</a:t>
            </a:r>
            <a:r>
              <a:rPr lang="en-US" sz="2400" dirty="0" smtClean="0"/>
              <a:t> hic </a:t>
            </a:r>
            <a:r>
              <a:rPr lang="en-US" sz="2400" dirty="0" err="1" smtClean="0"/>
              <a:t>bir</a:t>
            </a:r>
            <a:r>
              <a:rPr lang="en-US" sz="2400" dirty="0" smtClean="0"/>
              <a:t> </a:t>
            </a:r>
            <a:r>
              <a:rPr lang="en-US" sz="2400" dirty="0" err="1" smtClean="0"/>
              <a:t>zaman</a:t>
            </a:r>
            <a:r>
              <a:rPr lang="en-US" sz="2400" dirty="0" smtClean="0"/>
              <a:t> </a:t>
            </a:r>
            <a:r>
              <a:rPr lang="en-US" sz="2400" dirty="0" err="1" smtClean="0"/>
              <a:t>vazgecilmez</a:t>
            </a:r>
            <a:r>
              <a:rPr lang="en-US" sz="2400" dirty="0" smtClean="0"/>
              <a:t>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 smtClean="0"/>
              <a:t>Tum</a:t>
            </a:r>
            <a:r>
              <a:rPr lang="en-US" sz="2400" dirty="0" smtClean="0"/>
              <a:t> node </a:t>
            </a:r>
            <a:r>
              <a:rPr lang="en-US" sz="2400" dirty="0" err="1" smtClean="0"/>
              <a:t>lar</a:t>
            </a:r>
            <a:r>
              <a:rPr lang="en-US" sz="2400" dirty="0" smtClean="0"/>
              <a:t> </a:t>
            </a:r>
            <a:r>
              <a:rPr lang="en-US" sz="2400" dirty="0" err="1" smtClean="0"/>
              <a:t>gezildigi</a:t>
            </a:r>
            <a:r>
              <a:rPr lang="en-US" sz="2400" dirty="0" smtClean="0"/>
              <a:t> </a:t>
            </a:r>
            <a:r>
              <a:rPr lang="en-US" sz="2400" dirty="0" err="1" smtClean="0"/>
              <a:t>vakit</a:t>
            </a:r>
            <a:r>
              <a:rPr lang="en-US" sz="2400" dirty="0" smtClean="0"/>
              <a:t> </a:t>
            </a:r>
            <a:r>
              <a:rPr lang="en-US" sz="2400" dirty="0" err="1" smtClean="0"/>
              <a:t>mst</a:t>
            </a:r>
            <a:r>
              <a:rPr lang="en-US" sz="2400" dirty="0" smtClean="0"/>
              <a:t> </a:t>
            </a:r>
            <a:r>
              <a:rPr lang="en-US" sz="2400" dirty="0" err="1" smtClean="0"/>
              <a:t>bulunmustur</a:t>
            </a:r>
            <a:r>
              <a:rPr lang="en-US" sz="2400" dirty="0" smtClean="0"/>
              <a:t>!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18459152-F992-4F98-A068-2585F7443D18}" type="slidenum">
              <a:rPr lang="en-US"/>
              <a:pPr/>
              <a:t>34</a:t>
            </a:fld>
            <a:endParaRPr lang="en-US"/>
          </a:p>
        </p:txBody>
      </p:sp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 in </a:t>
            </a:r>
            <a:r>
              <a:rPr lang="en-US" dirty="0" err="1" smtClean="0"/>
              <a:t>Algoritmasinin</a:t>
            </a:r>
            <a:r>
              <a:rPr lang="en-US" dirty="0" smtClean="0"/>
              <a:t> </a:t>
            </a:r>
            <a:r>
              <a:rPr lang="en-US" dirty="0" err="1" smtClean="0"/>
              <a:t>Dogrulugu</a:t>
            </a:r>
            <a:endParaRPr lang="en-US" dirty="0"/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66813"/>
            <a:ext cx="7772400" cy="4810125"/>
          </a:xfrm>
        </p:spPr>
        <p:txBody>
          <a:bodyPr/>
          <a:lstStyle/>
          <a:p>
            <a:r>
              <a:rPr lang="en-US" sz="2400" dirty="0" smtClean="0"/>
              <a:t>Bu </a:t>
            </a:r>
            <a:r>
              <a:rPr lang="en-US" sz="2400" dirty="0" err="1" smtClean="0"/>
              <a:t>algoritma</a:t>
            </a:r>
            <a:r>
              <a:rPr lang="en-US" sz="2400" dirty="0" smtClean="0"/>
              <a:t> n-1 </a:t>
            </a:r>
            <a:r>
              <a:rPr lang="en-US" sz="2400" dirty="0" err="1" smtClean="0"/>
              <a:t>tane</a:t>
            </a:r>
            <a:r>
              <a:rPr lang="en-US" sz="2400" dirty="0" smtClean="0"/>
              <a:t> edge </a:t>
            </a:r>
            <a:r>
              <a:rPr lang="en-US" sz="2400" dirty="0" err="1" smtClean="0"/>
              <a:t>ekleyerek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spanning tree </a:t>
            </a:r>
            <a:r>
              <a:rPr lang="en-US" sz="2400" dirty="0" err="1" smtClean="0"/>
              <a:t>olusturur</a:t>
            </a:r>
            <a:r>
              <a:rPr lang="en-US" sz="2400" dirty="0" smtClean="0"/>
              <a:t> </a:t>
            </a:r>
            <a:r>
              <a:rPr lang="en-US" sz="2400" dirty="0" err="1" smtClean="0"/>
              <a:t>ve</a:t>
            </a:r>
            <a:r>
              <a:rPr lang="en-US" sz="2400" dirty="0" smtClean="0"/>
              <a:t> </a:t>
            </a:r>
            <a:r>
              <a:rPr lang="en-US" sz="2400" dirty="0" err="1" smtClean="0"/>
              <a:t>bagli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graph </a:t>
            </a:r>
            <a:r>
              <a:rPr lang="en-US" sz="2400" dirty="0" err="1" smtClean="0"/>
              <a:t>ta</a:t>
            </a:r>
            <a:r>
              <a:rPr lang="en-US" sz="2400" dirty="0" smtClean="0"/>
              <a:t> spanning tree </a:t>
            </a:r>
            <a:r>
              <a:rPr lang="en-US" sz="2400" dirty="0" err="1" smtClean="0"/>
              <a:t>olusturacagi</a:t>
            </a:r>
            <a:r>
              <a:rPr lang="en-US" sz="2400" dirty="0" smtClean="0"/>
              <a:t> </a:t>
            </a:r>
            <a:r>
              <a:rPr lang="en-US" sz="2400" dirty="0" err="1" smtClean="0"/>
              <a:t>aciktir</a:t>
            </a:r>
            <a:r>
              <a:rPr lang="en-US" sz="2400" dirty="0" smtClean="0"/>
              <a:t> (</a:t>
            </a:r>
            <a:r>
              <a:rPr lang="en-US" sz="2400" i="1" dirty="0" err="1" smtClean="0">
                <a:solidFill>
                  <a:srgbClr val="CC0000"/>
                </a:solidFill>
              </a:rPr>
              <a:t>isterseniz</a:t>
            </a:r>
            <a:r>
              <a:rPr lang="en-US" sz="2400" i="1" dirty="0" smtClean="0">
                <a:solidFill>
                  <a:srgbClr val="CC0000"/>
                </a:solidFill>
              </a:rPr>
              <a:t> </a:t>
            </a:r>
            <a:r>
              <a:rPr lang="en-US" sz="2400" i="1" dirty="0" err="1" smtClean="0">
                <a:solidFill>
                  <a:srgbClr val="CC0000"/>
                </a:solidFill>
              </a:rPr>
              <a:t>ispatlayabilirsiniz</a:t>
            </a:r>
            <a:r>
              <a:rPr lang="en-US" sz="2400" dirty="0" smtClean="0"/>
              <a:t>). </a:t>
            </a:r>
            <a:endParaRPr lang="en-US" sz="2400" dirty="0"/>
          </a:p>
          <a:p>
            <a:endParaRPr lang="en-US" sz="2400" dirty="0"/>
          </a:p>
          <a:p>
            <a:pPr algn="ctr">
              <a:buFontTx/>
              <a:buNone/>
            </a:pPr>
            <a:r>
              <a:rPr lang="en-US" sz="2400" dirty="0" err="1" smtClean="0">
                <a:solidFill>
                  <a:schemeClr val="accent2"/>
                </a:solidFill>
              </a:rPr>
              <a:t>Ama</a:t>
            </a:r>
            <a:r>
              <a:rPr lang="en-US" sz="2400" dirty="0" smtClean="0">
                <a:solidFill>
                  <a:schemeClr val="accent2"/>
                </a:solidFill>
              </a:rPr>
              <a:t> </a:t>
            </a:r>
            <a:r>
              <a:rPr lang="en-US" sz="2400" dirty="0" err="1" smtClean="0">
                <a:solidFill>
                  <a:schemeClr val="accent2"/>
                </a:solidFill>
              </a:rPr>
              <a:t>bu</a:t>
            </a:r>
            <a:r>
              <a:rPr lang="en-US" sz="2400" dirty="0" smtClean="0">
                <a:solidFill>
                  <a:schemeClr val="accent2"/>
                </a:solidFill>
              </a:rPr>
              <a:t> minimum spanning tree mi?</a:t>
            </a:r>
            <a:r>
              <a:rPr lang="en-US" sz="2400" dirty="0" smtClean="0"/>
              <a:t> </a:t>
            </a:r>
            <a:endParaRPr lang="en-US" sz="2400" dirty="0"/>
          </a:p>
          <a:p>
            <a:pPr algn="ctr">
              <a:buFontTx/>
              <a:buNone/>
            </a:pPr>
            <a:r>
              <a:rPr lang="en-US" sz="2400" dirty="0">
                <a:solidFill>
                  <a:srgbClr val="CC0000"/>
                </a:solidFill>
              </a:rPr>
              <a:t>Suppose it wasn't</a:t>
            </a:r>
            <a:r>
              <a:rPr lang="en-US" sz="2400" dirty="0"/>
              <a:t>. </a:t>
            </a:r>
          </a:p>
          <a:p>
            <a:pPr algn="ctr">
              <a:buFontTx/>
              <a:buNone/>
            </a:pPr>
            <a:endParaRPr lang="en-US" sz="2400" dirty="0"/>
          </a:p>
          <a:p>
            <a:r>
              <a:rPr lang="en-US" sz="2400" dirty="0"/>
              <a:t>There must be point at which it fails, and in particular there must a single edge whose insertion first prevented the spanning tree from being a minimum spanning tree.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0CEE0F53-7AD0-47E2-9F5F-3F95807333D2}" type="slidenum">
              <a:rPr lang="en-US"/>
              <a:pPr/>
              <a:t>35</a:t>
            </a:fld>
            <a:endParaRPr lang="en-US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 in </a:t>
            </a:r>
            <a:r>
              <a:rPr lang="en-US" dirty="0" err="1" smtClean="0"/>
              <a:t>Algoritmasinin</a:t>
            </a:r>
            <a:r>
              <a:rPr lang="en-US" dirty="0" smtClean="0"/>
              <a:t> </a:t>
            </a:r>
            <a:r>
              <a:rPr lang="en-US" dirty="0" err="1" smtClean="0"/>
              <a:t>Dogrulugu</a:t>
            </a:r>
            <a:endParaRPr lang="en-US" dirty="0"/>
          </a:p>
        </p:txBody>
      </p:sp>
      <p:sp>
        <p:nvSpPr>
          <p:cNvPr id="214019" name="Rectangle 3"/>
          <p:cNvSpPr>
            <a:spLocks noChangeArrowheads="1"/>
          </p:cNvSpPr>
          <p:nvPr/>
        </p:nvSpPr>
        <p:spPr bwMode="auto">
          <a:xfrm>
            <a:off x="276225" y="4641850"/>
            <a:ext cx="8591550" cy="208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</a:pPr>
            <a:endParaRPr lang="en-US" sz="2400" b="1" dirty="0">
              <a:latin typeface="Arial" charset="0"/>
            </a:endParaRPr>
          </a:p>
          <a:p>
            <a:pPr marL="231775" indent="-231775">
              <a:spcBef>
                <a:spcPct val="20000"/>
              </a:spcBef>
              <a:buFontTx/>
              <a:buChar char="•"/>
            </a:pPr>
            <a:r>
              <a:rPr lang="en-US" sz="2400" b="1" dirty="0" smtClean="0">
                <a:solidFill>
                  <a:srgbClr val="008000"/>
                </a:solidFill>
                <a:latin typeface="Arial" charset="0"/>
              </a:rPr>
              <a:t>V</a:t>
            </a:r>
            <a:r>
              <a:rPr lang="en-US" sz="2400" b="1" dirty="0">
                <a:solidFill>
                  <a:srgbClr val="008000"/>
                </a:solidFill>
                <a:latin typeface="Arial" charset="0"/>
              </a:rPr>
              <a:t>'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b="1" dirty="0" smtClean="0">
                <a:solidFill>
                  <a:srgbClr val="000099"/>
                </a:solidFill>
                <a:latin typeface="Arial" charset="0"/>
              </a:rPr>
              <a:t>S</a:t>
            </a:r>
            <a:r>
              <a:rPr lang="en-US" sz="2400" dirty="0" smtClean="0">
                <a:latin typeface="Arial" charset="0"/>
              </a:rPr>
              <a:t> de </a:t>
            </a:r>
            <a:r>
              <a:rPr lang="en-US" sz="2400" dirty="0" err="1" smtClean="0">
                <a:latin typeface="Arial" charset="0"/>
              </a:rPr>
              <a:t>olan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edgelerle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alakali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nodelar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kumesi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olsun</a:t>
            </a:r>
            <a:r>
              <a:rPr lang="en-US" sz="2400" dirty="0" smtClean="0">
                <a:latin typeface="Arial" charset="0"/>
              </a:rPr>
              <a:t>.</a:t>
            </a:r>
            <a:endParaRPr lang="en-US" sz="2400" dirty="0">
              <a:latin typeface="Arial" charset="0"/>
            </a:endParaRPr>
          </a:p>
          <a:p>
            <a:pPr marL="231775" indent="-231775">
              <a:spcBef>
                <a:spcPct val="20000"/>
              </a:spcBef>
              <a:buFontTx/>
              <a:buChar char="•"/>
            </a:pPr>
            <a:r>
              <a:rPr lang="en-US" sz="2400" b="1" dirty="0" smtClean="0">
                <a:latin typeface="Arial" charset="0"/>
              </a:rPr>
              <a:t>T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i="1" dirty="0" smtClean="0">
                <a:solidFill>
                  <a:schemeClr val="bg2"/>
                </a:solidFill>
                <a:latin typeface="Arial" charset="0"/>
              </a:rPr>
              <a:t>G </a:t>
            </a:r>
            <a:r>
              <a:rPr lang="en-US" sz="2400" dirty="0" err="1" smtClean="0">
                <a:latin typeface="Arial" charset="0"/>
              </a:rPr>
              <a:t>nin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mst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si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olsun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oyleki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dirty="0" smtClean="0">
                <a:solidFill>
                  <a:schemeClr val="accent2"/>
                </a:solidFill>
                <a:latin typeface="Arial" charset="0"/>
              </a:rPr>
              <a:t>S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deki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tum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edgeleri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icersin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ama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dirty="0" smtClean="0">
                <a:solidFill>
                  <a:srgbClr val="CC0000"/>
                </a:solidFill>
                <a:latin typeface="Arial" charset="0"/>
              </a:rPr>
              <a:t>(</a:t>
            </a:r>
            <a:r>
              <a:rPr lang="en-US" sz="2400" b="1" i="1" dirty="0" err="1" smtClean="0">
                <a:solidFill>
                  <a:srgbClr val="CC0000"/>
                </a:solidFill>
                <a:latin typeface="Arial" charset="0"/>
              </a:rPr>
              <a:t>x</a:t>
            </a:r>
            <a:r>
              <a:rPr lang="en-US" sz="2400" b="1" dirty="0" err="1" smtClean="0">
                <a:solidFill>
                  <a:srgbClr val="CC0000"/>
                </a:solidFill>
                <a:latin typeface="Arial" charset="0"/>
              </a:rPr>
              <a:t>,</a:t>
            </a:r>
            <a:r>
              <a:rPr lang="en-US" sz="2400" b="1" i="1" dirty="0" err="1" smtClean="0">
                <a:solidFill>
                  <a:srgbClr val="CC0000"/>
                </a:solidFill>
                <a:latin typeface="Arial" charset="0"/>
              </a:rPr>
              <a:t>y</a:t>
            </a:r>
            <a:r>
              <a:rPr lang="en-US" sz="2400" b="1" dirty="0" smtClean="0">
                <a:solidFill>
                  <a:srgbClr val="CC0000"/>
                </a:solidFill>
                <a:latin typeface="Arial" charset="0"/>
              </a:rPr>
              <a:t>)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yi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icermesin</a:t>
            </a:r>
            <a:r>
              <a:rPr lang="en-US" sz="2400" dirty="0" smtClean="0">
                <a:latin typeface="Arial" charset="0"/>
              </a:rPr>
              <a:t>. </a:t>
            </a:r>
            <a:endParaRPr lang="en-US" sz="2400" dirty="0">
              <a:latin typeface="Arial" charset="0"/>
            </a:endParaRPr>
          </a:p>
          <a:p>
            <a:pPr marL="231775" indent="-231775">
              <a:lnSpc>
                <a:spcPct val="90000"/>
              </a:lnSpc>
              <a:spcBef>
                <a:spcPct val="20000"/>
              </a:spcBef>
            </a:pPr>
            <a:endParaRPr lang="en-US" sz="2400" dirty="0">
              <a:latin typeface="Arial" charset="0"/>
            </a:endParaRPr>
          </a:p>
        </p:txBody>
      </p:sp>
      <p:sp>
        <p:nvSpPr>
          <p:cNvPr id="214020" name="Text Box 4"/>
          <p:cNvSpPr txBox="1">
            <a:spLocks noChangeArrowheads="1"/>
          </p:cNvSpPr>
          <p:nvPr/>
        </p:nvSpPr>
        <p:spPr bwMode="auto">
          <a:xfrm>
            <a:off x="323850" y="2278063"/>
            <a:ext cx="3724275" cy="2382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31775" indent="-231775">
              <a:spcBef>
                <a:spcPct val="50000"/>
              </a:spcBef>
              <a:buFontTx/>
              <a:buChar char="•"/>
            </a:pPr>
            <a:r>
              <a:rPr lang="en-US" sz="2400" b="1" i="1" dirty="0" smtClean="0">
                <a:solidFill>
                  <a:schemeClr val="bg2"/>
                </a:solidFill>
                <a:latin typeface="Arial" charset="0"/>
              </a:rPr>
              <a:t>G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bagli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yonsuz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graph </a:t>
            </a:r>
            <a:r>
              <a:rPr lang="en-US" sz="2400" dirty="0" err="1" smtClean="0">
                <a:latin typeface="Arial" charset="0"/>
              </a:rPr>
              <a:t>olsun</a:t>
            </a:r>
            <a:endParaRPr lang="en-US" sz="2400" dirty="0">
              <a:latin typeface="Arial" charset="0"/>
            </a:endParaRPr>
          </a:p>
          <a:p>
            <a:pPr marL="231775" indent="-231775">
              <a:spcBef>
                <a:spcPct val="20000"/>
              </a:spcBef>
              <a:buFontTx/>
              <a:buChar char="•"/>
            </a:pPr>
            <a:r>
              <a:rPr lang="en-US" sz="2400" b="1" dirty="0" smtClean="0">
                <a:solidFill>
                  <a:schemeClr val="accent2"/>
                </a:solidFill>
                <a:latin typeface="Arial" charset="0"/>
              </a:rPr>
              <a:t>S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Prim’in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algoritmasinin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hatali</a:t>
            </a:r>
            <a:r>
              <a:rPr lang="en-US" sz="2400" dirty="0" smtClean="0">
                <a:latin typeface="Arial" charset="0"/>
              </a:rPr>
              <a:t> edge </a:t>
            </a:r>
            <a:r>
              <a:rPr lang="en-US" sz="2400" b="1" dirty="0" smtClean="0">
                <a:solidFill>
                  <a:srgbClr val="CC0000"/>
                </a:solidFill>
                <a:latin typeface="Arial" charset="0"/>
              </a:rPr>
              <a:t>(</a:t>
            </a:r>
            <a:r>
              <a:rPr lang="en-US" sz="2400" b="1" i="1" dirty="0" err="1" smtClean="0">
                <a:solidFill>
                  <a:srgbClr val="CC0000"/>
                </a:solidFill>
                <a:latin typeface="Arial" charset="0"/>
              </a:rPr>
              <a:t>x</a:t>
            </a:r>
            <a:r>
              <a:rPr lang="en-US" sz="2400" b="1" dirty="0" err="1" smtClean="0">
                <a:solidFill>
                  <a:srgbClr val="CC0000"/>
                </a:solidFill>
                <a:latin typeface="Arial" charset="0"/>
              </a:rPr>
              <a:t>,</a:t>
            </a:r>
            <a:r>
              <a:rPr lang="en-US" sz="2400" b="1" i="1" dirty="0" err="1" smtClean="0">
                <a:solidFill>
                  <a:srgbClr val="CC0000"/>
                </a:solidFill>
                <a:latin typeface="Arial" charset="0"/>
              </a:rPr>
              <a:t>y</a:t>
            </a:r>
            <a:r>
              <a:rPr lang="en-US" sz="2400" b="1" dirty="0" smtClean="0">
                <a:solidFill>
                  <a:srgbClr val="CC0000"/>
                </a:solidFill>
                <a:latin typeface="Arial" charset="0"/>
              </a:rPr>
              <a:t>) </a:t>
            </a:r>
            <a:r>
              <a:rPr lang="en-US" sz="2400" dirty="0" err="1" smtClean="0">
                <a:latin typeface="Arial" charset="0"/>
              </a:rPr>
              <a:t>secmeden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i="1" dirty="0" smtClean="0">
                <a:solidFill>
                  <a:srgbClr val="CC0000"/>
                </a:solidFill>
                <a:latin typeface="Arial" charset="0"/>
              </a:rPr>
              <a:t>once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sectigi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edgeler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olsun</a:t>
            </a:r>
            <a:endParaRPr lang="en-US" sz="2400" dirty="0">
              <a:latin typeface="Arial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72000" y="1100138"/>
            <a:ext cx="4413250" cy="3652837"/>
            <a:chOff x="218" y="744"/>
            <a:chExt cx="2780" cy="2301"/>
          </a:xfrm>
        </p:grpSpPr>
        <p:sp>
          <p:nvSpPr>
            <p:cNvPr id="214022" name="Freeform 6"/>
            <p:cNvSpPr>
              <a:spLocks/>
            </p:cNvSpPr>
            <p:nvPr/>
          </p:nvSpPr>
          <p:spPr bwMode="auto">
            <a:xfrm>
              <a:off x="331" y="1336"/>
              <a:ext cx="1713" cy="1709"/>
            </a:xfrm>
            <a:custGeom>
              <a:avLst/>
              <a:gdLst/>
              <a:ahLst/>
              <a:cxnLst>
                <a:cxn ang="0">
                  <a:pos x="1164" y="21"/>
                </a:cxn>
                <a:cxn ang="0">
                  <a:pos x="637" y="218"/>
                </a:cxn>
                <a:cxn ang="0">
                  <a:pos x="139" y="590"/>
                </a:cxn>
                <a:cxn ang="0">
                  <a:pos x="82" y="1131"/>
                </a:cxn>
                <a:cxn ang="0">
                  <a:pos x="630" y="1433"/>
                </a:cxn>
                <a:cxn ang="0">
                  <a:pos x="996" y="730"/>
                </a:cxn>
                <a:cxn ang="0">
                  <a:pos x="1298" y="695"/>
                </a:cxn>
                <a:cxn ang="0">
                  <a:pos x="1480" y="499"/>
                </a:cxn>
                <a:cxn ang="0">
                  <a:pos x="1417" y="225"/>
                </a:cxn>
                <a:cxn ang="0">
                  <a:pos x="1347" y="91"/>
                </a:cxn>
                <a:cxn ang="0">
                  <a:pos x="1164" y="21"/>
                </a:cxn>
              </a:cxnLst>
              <a:rect l="0" t="0" r="r" b="b"/>
              <a:pathLst>
                <a:path w="1500" h="1500">
                  <a:moveTo>
                    <a:pt x="1164" y="21"/>
                  </a:moveTo>
                  <a:cubicBezTo>
                    <a:pt x="1046" y="42"/>
                    <a:pt x="808" y="123"/>
                    <a:pt x="637" y="218"/>
                  </a:cubicBezTo>
                  <a:cubicBezTo>
                    <a:pt x="466" y="313"/>
                    <a:pt x="231" y="438"/>
                    <a:pt x="139" y="590"/>
                  </a:cubicBezTo>
                  <a:cubicBezTo>
                    <a:pt x="47" y="742"/>
                    <a:pt x="0" y="991"/>
                    <a:pt x="82" y="1131"/>
                  </a:cubicBezTo>
                  <a:cubicBezTo>
                    <a:pt x="164" y="1271"/>
                    <a:pt x="478" y="1500"/>
                    <a:pt x="630" y="1433"/>
                  </a:cubicBezTo>
                  <a:cubicBezTo>
                    <a:pt x="782" y="1366"/>
                    <a:pt x="885" y="853"/>
                    <a:pt x="996" y="730"/>
                  </a:cubicBezTo>
                  <a:cubicBezTo>
                    <a:pt x="1107" y="607"/>
                    <a:pt x="1217" y="733"/>
                    <a:pt x="1298" y="695"/>
                  </a:cubicBezTo>
                  <a:cubicBezTo>
                    <a:pt x="1379" y="657"/>
                    <a:pt x="1460" y="577"/>
                    <a:pt x="1480" y="499"/>
                  </a:cubicBezTo>
                  <a:cubicBezTo>
                    <a:pt x="1500" y="421"/>
                    <a:pt x="1439" y="293"/>
                    <a:pt x="1417" y="225"/>
                  </a:cubicBezTo>
                  <a:cubicBezTo>
                    <a:pt x="1395" y="157"/>
                    <a:pt x="1389" y="126"/>
                    <a:pt x="1347" y="91"/>
                  </a:cubicBezTo>
                  <a:cubicBezTo>
                    <a:pt x="1305" y="56"/>
                    <a:pt x="1282" y="0"/>
                    <a:pt x="1164" y="21"/>
                  </a:cubicBez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23" name="Oval 7"/>
            <p:cNvSpPr>
              <a:spLocks noChangeArrowheads="1"/>
            </p:cNvSpPr>
            <p:nvPr/>
          </p:nvSpPr>
          <p:spPr bwMode="auto">
            <a:xfrm>
              <a:off x="1869" y="2265"/>
              <a:ext cx="80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24" name="Oval 8"/>
            <p:cNvSpPr>
              <a:spLocks noChangeArrowheads="1"/>
            </p:cNvSpPr>
            <p:nvPr/>
          </p:nvSpPr>
          <p:spPr bwMode="auto">
            <a:xfrm>
              <a:off x="218" y="1168"/>
              <a:ext cx="80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25" name="Oval 9"/>
            <p:cNvSpPr>
              <a:spLocks noChangeArrowheads="1"/>
            </p:cNvSpPr>
            <p:nvPr/>
          </p:nvSpPr>
          <p:spPr bwMode="auto">
            <a:xfrm>
              <a:off x="368" y="1373"/>
              <a:ext cx="79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26" name="Oval 10"/>
            <p:cNvSpPr>
              <a:spLocks noChangeArrowheads="1"/>
            </p:cNvSpPr>
            <p:nvPr/>
          </p:nvSpPr>
          <p:spPr bwMode="auto">
            <a:xfrm>
              <a:off x="1528" y="2358"/>
              <a:ext cx="79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27" name="Oval 11"/>
            <p:cNvSpPr>
              <a:spLocks noChangeArrowheads="1"/>
            </p:cNvSpPr>
            <p:nvPr/>
          </p:nvSpPr>
          <p:spPr bwMode="auto">
            <a:xfrm>
              <a:off x="2092" y="2053"/>
              <a:ext cx="79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28" name="Oval 12"/>
            <p:cNvSpPr>
              <a:spLocks noChangeArrowheads="1"/>
            </p:cNvSpPr>
            <p:nvPr/>
          </p:nvSpPr>
          <p:spPr bwMode="auto">
            <a:xfrm>
              <a:off x="2354" y="2233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29" name="Oval 13"/>
            <p:cNvSpPr>
              <a:spLocks noChangeArrowheads="1"/>
            </p:cNvSpPr>
            <p:nvPr/>
          </p:nvSpPr>
          <p:spPr bwMode="auto">
            <a:xfrm>
              <a:off x="2918" y="2635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30" name="Oval 14"/>
            <p:cNvSpPr>
              <a:spLocks noChangeArrowheads="1"/>
            </p:cNvSpPr>
            <p:nvPr/>
          </p:nvSpPr>
          <p:spPr bwMode="auto">
            <a:xfrm>
              <a:off x="2658" y="2442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31" name="Oval 15"/>
            <p:cNvSpPr>
              <a:spLocks noChangeArrowheads="1"/>
            </p:cNvSpPr>
            <p:nvPr/>
          </p:nvSpPr>
          <p:spPr bwMode="auto">
            <a:xfrm>
              <a:off x="2434" y="2805"/>
              <a:ext cx="80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32" name="Oval 16"/>
            <p:cNvSpPr>
              <a:spLocks noChangeArrowheads="1"/>
            </p:cNvSpPr>
            <p:nvPr/>
          </p:nvSpPr>
          <p:spPr bwMode="auto">
            <a:xfrm>
              <a:off x="2310" y="1708"/>
              <a:ext cx="79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1909" y="2096"/>
              <a:ext cx="281" cy="616"/>
              <a:chOff x="3449" y="2922"/>
              <a:chExt cx="246" cy="541"/>
            </a:xfrm>
          </p:grpSpPr>
          <p:sp>
            <p:nvSpPr>
              <p:cNvPr id="214034" name="Oval 18"/>
              <p:cNvSpPr>
                <a:spLocks noChangeArrowheads="1"/>
              </p:cNvSpPr>
              <p:nvPr/>
            </p:nvSpPr>
            <p:spPr bwMode="auto">
              <a:xfrm>
                <a:off x="3625" y="3393"/>
                <a:ext cx="70" cy="7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14035" name="Line 19"/>
              <p:cNvSpPr>
                <a:spLocks noChangeShapeType="1"/>
              </p:cNvSpPr>
              <p:nvPr/>
            </p:nvSpPr>
            <p:spPr bwMode="auto">
              <a:xfrm>
                <a:off x="3468" y="3140"/>
                <a:ext cx="185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14036" name="Line 20"/>
              <p:cNvSpPr>
                <a:spLocks noChangeShapeType="1"/>
              </p:cNvSpPr>
              <p:nvPr/>
            </p:nvSpPr>
            <p:spPr bwMode="auto">
              <a:xfrm flipV="1">
                <a:off x="3449" y="2922"/>
                <a:ext cx="204" cy="19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214037" name="Line 21"/>
            <p:cNvSpPr>
              <a:spLocks noChangeShapeType="1"/>
            </p:cNvSpPr>
            <p:nvPr/>
          </p:nvSpPr>
          <p:spPr bwMode="auto">
            <a:xfrm>
              <a:off x="2434" y="2301"/>
              <a:ext cx="260" cy="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38" name="Line 22"/>
            <p:cNvSpPr>
              <a:spLocks noChangeShapeType="1"/>
            </p:cNvSpPr>
            <p:nvPr/>
          </p:nvSpPr>
          <p:spPr bwMode="auto">
            <a:xfrm>
              <a:off x="2738" y="2501"/>
              <a:ext cx="26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39" name="Line 23"/>
            <p:cNvSpPr>
              <a:spLocks noChangeShapeType="1"/>
            </p:cNvSpPr>
            <p:nvPr/>
          </p:nvSpPr>
          <p:spPr bwMode="auto">
            <a:xfrm flipH="1">
              <a:off x="2474" y="2501"/>
              <a:ext cx="208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40" name="Line 24"/>
            <p:cNvSpPr>
              <a:spLocks noChangeShapeType="1"/>
            </p:cNvSpPr>
            <p:nvPr/>
          </p:nvSpPr>
          <p:spPr bwMode="auto">
            <a:xfrm>
              <a:off x="2142" y="2092"/>
              <a:ext cx="26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41" name="Line 25"/>
            <p:cNvSpPr>
              <a:spLocks noChangeShapeType="1"/>
            </p:cNvSpPr>
            <p:nvPr/>
          </p:nvSpPr>
          <p:spPr bwMode="auto">
            <a:xfrm flipH="1">
              <a:off x="2142" y="1748"/>
              <a:ext cx="208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42" name="Line 26"/>
            <p:cNvSpPr>
              <a:spLocks noChangeShapeType="1"/>
            </p:cNvSpPr>
            <p:nvPr/>
          </p:nvSpPr>
          <p:spPr bwMode="auto">
            <a:xfrm>
              <a:off x="2092" y="1548"/>
              <a:ext cx="260" cy="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43" name="Oval 27"/>
            <p:cNvSpPr>
              <a:spLocks noChangeArrowheads="1"/>
            </p:cNvSpPr>
            <p:nvPr/>
          </p:nvSpPr>
          <p:spPr bwMode="auto">
            <a:xfrm>
              <a:off x="2045" y="1508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44" name="Oval 28"/>
            <p:cNvSpPr>
              <a:spLocks noChangeArrowheads="1"/>
            </p:cNvSpPr>
            <p:nvPr/>
          </p:nvSpPr>
          <p:spPr bwMode="auto">
            <a:xfrm>
              <a:off x="2532" y="1349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45" name="Line 29"/>
            <p:cNvSpPr>
              <a:spLocks noChangeShapeType="1"/>
            </p:cNvSpPr>
            <p:nvPr/>
          </p:nvSpPr>
          <p:spPr bwMode="auto">
            <a:xfrm flipH="1">
              <a:off x="2360" y="1410"/>
              <a:ext cx="208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46" name="Line 30"/>
            <p:cNvSpPr>
              <a:spLocks noChangeShapeType="1"/>
            </p:cNvSpPr>
            <p:nvPr/>
          </p:nvSpPr>
          <p:spPr bwMode="auto">
            <a:xfrm flipH="1">
              <a:off x="1528" y="2333"/>
              <a:ext cx="379" cy="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47" name="Oval 31"/>
            <p:cNvSpPr>
              <a:spLocks noChangeArrowheads="1"/>
            </p:cNvSpPr>
            <p:nvPr/>
          </p:nvSpPr>
          <p:spPr bwMode="auto">
            <a:xfrm>
              <a:off x="1048" y="1826"/>
              <a:ext cx="80" cy="80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48" name="Oval 32"/>
            <p:cNvSpPr>
              <a:spLocks noChangeArrowheads="1"/>
            </p:cNvSpPr>
            <p:nvPr/>
          </p:nvSpPr>
          <p:spPr bwMode="auto">
            <a:xfrm>
              <a:off x="1003" y="2624"/>
              <a:ext cx="80" cy="79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49" name="Oval 33"/>
            <p:cNvSpPr>
              <a:spLocks noChangeArrowheads="1"/>
            </p:cNvSpPr>
            <p:nvPr/>
          </p:nvSpPr>
          <p:spPr bwMode="auto">
            <a:xfrm>
              <a:off x="1403" y="2846"/>
              <a:ext cx="80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50" name="Oval 34"/>
            <p:cNvSpPr>
              <a:spLocks noChangeArrowheads="1"/>
            </p:cNvSpPr>
            <p:nvPr/>
          </p:nvSpPr>
          <p:spPr bwMode="auto">
            <a:xfrm>
              <a:off x="1219" y="2323"/>
              <a:ext cx="80" cy="80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51" name="Oval 35"/>
            <p:cNvSpPr>
              <a:spLocks noChangeArrowheads="1"/>
            </p:cNvSpPr>
            <p:nvPr/>
          </p:nvSpPr>
          <p:spPr bwMode="auto">
            <a:xfrm>
              <a:off x="1381" y="1617"/>
              <a:ext cx="80" cy="79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52" name="Line 36"/>
            <p:cNvSpPr>
              <a:spLocks noChangeShapeType="1"/>
            </p:cNvSpPr>
            <p:nvPr/>
          </p:nvSpPr>
          <p:spPr bwMode="auto">
            <a:xfrm flipH="1" flipV="1">
              <a:off x="1307" y="2350"/>
              <a:ext cx="210" cy="3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53" name="Line 37"/>
            <p:cNvSpPr>
              <a:spLocks noChangeShapeType="1"/>
            </p:cNvSpPr>
            <p:nvPr/>
          </p:nvSpPr>
          <p:spPr bwMode="auto">
            <a:xfrm>
              <a:off x="1274" y="2409"/>
              <a:ext cx="16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54" name="Line 38"/>
            <p:cNvSpPr>
              <a:spLocks noChangeShapeType="1"/>
            </p:cNvSpPr>
            <p:nvPr/>
          </p:nvSpPr>
          <p:spPr bwMode="auto">
            <a:xfrm flipH="1">
              <a:off x="1067" y="2404"/>
              <a:ext cx="163" cy="21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55" name="Line 39"/>
            <p:cNvSpPr>
              <a:spLocks noChangeShapeType="1"/>
            </p:cNvSpPr>
            <p:nvPr/>
          </p:nvSpPr>
          <p:spPr bwMode="auto">
            <a:xfrm>
              <a:off x="1104" y="1909"/>
              <a:ext cx="139" cy="40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56" name="Line 40"/>
            <p:cNvSpPr>
              <a:spLocks noChangeShapeType="1"/>
            </p:cNvSpPr>
            <p:nvPr/>
          </p:nvSpPr>
          <p:spPr bwMode="auto">
            <a:xfrm flipH="1">
              <a:off x="824" y="1895"/>
              <a:ext cx="222" cy="20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57" name="Line 41"/>
            <p:cNvSpPr>
              <a:spLocks noChangeShapeType="1"/>
            </p:cNvSpPr>
            <p:nvPr/>
          </p:nvSpPr>
          <p:spPr bwMode="auto">
            <a:xfrm flipH="1">
              <a:off x="1128" y="1685"/>
              <a:ext cx="250" cy="154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58" name="Line 42"/>
            <p:cNvSpPr>
              <a:spLocks noChangeShapeType="1"/>
            </p:cNvSpPr>
            <p:nvPr/>
          </p:nvSpPr>
          <p:spPr bwMode="auto">
            <a:xfrm>
              <a:off x="1458" y="1686"/>
              <a:ext cx="290" cy="25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59" name="Oval 43"/>
            <p:cNvSpPr>
              <a:spLocks noChangeArrowheads="1"/>
            </p:cNvSpPr>
            <p:nvPr/>
          </p:nvSpPr>
          <p:spPr bwMode="auto">
            <a:xfrm>
              <a:off x="807" y="1385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60" name="Oval 44"/>
            <p:cNvSpPr>
              <a:spLocks noChangeArrowheads="1"/>
            </p:cNvSpPr>
            <p:nvPr/>
          </p:nvSpPr>
          <p:spPr bwMode="auto">
            <a:xfrm>
              <a:off x="1717" y="1888"/>
              <a:ext cx="80" cy="79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61" name="Oval 45"/>
            <p:cNvSpPr>
              <a:spLocks noChangeArrowheads="1"/>
            </p:cNvSpPr>
            <p:nvPr/>
          </p:nvSpPr>
          <p:spPr bwMode="auto">
            <a:xfrm>
              <a:off x="656" y="2445"/>
              <a:ext cx="80" cy="79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62" name="Oval 46"/>
            <p:cNvSpPr>
              <a:spLocks noChangeArrowheads="1"/>
            </p:cNvSpPr>
            <p:nvPr/>
          </p:nvSpPr>
          <p:spPr bwMode="auto">
            <a:xfrm>
              <a:off x="759" y="2081"/>
              <a:ext cx="80" cy="80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63" name="Line 47"/>
            <p:cNvSpPr>
              <a:spLocks noChangeShapeType="1"/>
            </p:cNvSpPr>
            <p:nvPr/>
          </p:nvSpPr>
          <p:spPr bwMode="auto">
            <a:xfrm flipH="1">
              <a:off x="701" y="2162"/>
              <a:ext cx="82" cy="27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64" name="Line 48"/>
            <p:cNvSpPr>
              <a:spLocks noChangeShapeType="1"/>
            </p:cNvSpPr>
            <p:nvPr/>
          </p:nvSpPr>
          <p:spPr bwMode="auto">
            <a:xfrm>
              <a:off x="871" y="1426"/>
              <a:ext cx="191" cy="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65" name="Line 49"/>
            <p:cNvSpPr>
              <a:spLocks noChangeShapeType="1"/>
            </p:cNvSpPr>
            <p:nvPr/>
          </p:nvSpPr>
          <p:spPr bwMode="auto">
            <a:xfrm flipH="1">
              <a:off x="425" y="1408"/>
              <a:ext cx="3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66" name="Oval 50"/>
            <p:cNvSpPr>
              <a:spLocks noChangeArrowheads="1"/>
            </p:cNvSpPr>
            <p:nvPr/>
          </p:nvSpPr>
          <p:spPr bwMode="auto">
            <a:xfrm>
              <a:off x="858" y="744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67" name="Oval 51"/>
            <p:cNvSpPr>
              <a:spLocks noChangeArrowheads="1"/>
            </p:cNvSpPr>
            <p:nvPr/>
          </p:nvSpPr>
          <p:spPr bwMode="auto">
            <a:xfrm>
              <a:off x="607" y="984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68" name="Oval 52"/>
            <p:cNvSpPr>
              <a:spLocks noChangeArrowheads="1"/>
            </p:cNvSpPr>
            <p:nvPr/>
          </p:nvSpPr>
          <p:spPr bwMode="auto">
            <a:xfrm>
              <a:off x="984" y="1128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4069" name="Line 53"/>
            <p:cNvSpPr>
              <a:spLocks noChangeShapeType="1"/>
            </p:cNvSpPr>
            <p:nvPr/>
          </p:nvSpPr>
          <p:spPr bwMode="auto">
            <a:xfrm flipH="1" flipV="1">
              <a:off x="257" y="1208"/>
              <a:ext cx="144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70" name="Line 54"/>
            <p:cNvSpPr>
              <a:spLocks noChangeShapeType="1"/>
            </p:cNvSpPr>
            <p:nvPr/>
          </p:nvSpPr>
          <p:spPr bwMode="auto">
            <a:xfrm flipH="1">
              <a:off x="839" y="1147"/>
              <a:ext cx="209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71" name="Line 55"/>
            <p:cNvSpPr>
              <a:spLocks noChangeShapeType="1"/>
            </p:cNvSpPr>
            <p:nvPr/>
          </p:nvSpPr>
          <p:spPr bwMode="auto">
            <a:xfrm flipH="1" flipV="1">
              <a:off x="642" y="1024"/>
              <a:ext cx="320" cy="1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72" name="Line 56"/>
            <p:cNvSpPr>
              <a:spLocks noChangeShapeType="1"/>
            </p:cNvSpPr>
            <p:nvPr/>
          </p:nvSpPr>
          <p:spPr bwMode="auto">
            <a:xfrm flipH="1">
              <a:off x="642" y="784"/>
              <a:ext cx="25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73" name="Text Box 57"/>
            <p:cNvSpPr txBox="1">
              <a:spLocks noChangeArrowheads="1"/>
            </p:cNvSpPr>
            <p:nvPr/>
          </p:nvSpPr>
          <p:spPr bwMode="auto">
            <a:xfrm>
              <a:off x="981" y="2088"/>
              <a:ext cx="278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>
                  <a:solidFill>
                    <a:srgbClr val="CC0000"/>
                  </a:solidFill>
                  <a:latin typeface="Arial" charset="0"/>
                </a:rPr>
                <a:t>x</a:t>
              </a:r>
            </a:p>
          </p:txBody>
        </p:sp>
        <p:sp>
          <p:nvSpPr>
            <p:cNvPr id="214074" name="Text Box 58"/>
            <p:cNvSpPr txBox="1">
              <a:spLocks noChangeArrowheads="1"/>
            </p:cNvSpPr>
            <p:nvPr/>
          </p:nvSpPr>
          <p:spPr bwMode="auto">
            <a:xfrm>
              <a:off x="1465" y="2350"/>
              <a:ext cx="278" cy="365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>
                  <a:solidFill>
                    <a:srgbClr val="CC0000"/>
                  </a:solidFill>
                  <a:latin typeface="Arial" charset="0"/>
                </a:rPr>
                <a:t>y</a:t>
              </a:r>
            </a:p>
          </p:txBody>
        </p:sp>
        <p:sp>
          <p:nvSpPr>
            <p:cNvPr id="214075" name="Line 59"/>
            <p:cNvSpPr>
              <a:spLocks noChangeShapeType="1"/>
            </p:cNvSpPr>
            <p:nvPr/>
          </p:nvSpPr>
          <p:spPr bwMode="auto">
            <a:xfrm flipV="1">
              <a:off x="298" y="1047"/>
              <a:ext cx="309" cy="1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76" name="Line 60"/>
            <p:cNvSpPr>
              <a:spLocks noChangeShapeType="1"/>
            </p:cNvSpPr>
            <p:nvPr/>
          </p:nvSpPr>
          <p:spPr bwMode="auto">
            <a:xfrm flipV="1">
              <a:off x="1786" y="1579"/>
              <a:ext cx="264" cy="3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77" name="Line 61"/>
            <p:cNvSpPr>
              <a:spLocks noChangeShapeType="1"/>
            </p:cNvSpPr>
            <p:nvPr/>
          </p:nvSpPr>
          <p:spPr bwMode="auto">
            <a:xfrm flipV="1">
              <a:off x="2519" y="2690"/>
              <a:ext cx="397" cy="1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4078" name="Line 62"/>
            <p:cNvSpPr>
              <a:spLocks noChangeShapeType="1"/>
            </p:cNvSpPr>
            <p:nvPr/>
          </p:nvSpPr>
          <p:spPr bwMode="auto">
            <a:xfrm>
              <a:off x="736" y="2506"/>
              <a:ext cx="267" cy="12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348CE5CF-D910-4F04-A52D-8F7A4ECE5AEE}" type="slidenum">
              <a:rPr lang="en-US"/>
              <a:pPr/>
              <a:t>36</a:t>
            </a:fld>
            <a:endParaRPr lang="en-US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 in </a:t>
            </a:r>
            <a:r>
              <a:rPr lang="en-US" dirty="0" err="1" smtClean="0"/>
              <a:t>Algoritmasinin</a:t>
            </a:r>
            <a:r>
              <a:rPr lang="en-US" dirty="0" smtClean="0"/>
              <a:t> </a:t>
            </a:r>
            <a:r>
              <a:rPr lang="en-US" dirty="0" err="1" smtClean="0"/>
              <a:t>Dogrulugu</a:t>
            </a:r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257675" y="1182688"/>
            <a:ext cx="4413250" cy="3652837"/>
            <a:chOff x="218" y="744"/>
            <a:chExt cx="2780" cy="2301"/>
          </a:xfrm>
        </p:grpSpPr>
        <p:sp>
          <p:nvSpPr>
            <p:cNvPr id="212998" name="Freeform 6"/>
            <p:cNvSpPr>
              <a:spLocks/>
            </p:cNvSpPr>
            <p:nvPr/>
          </p:nvSpPr>
          <p:spPr bwMode="auto">
            <a:xfrm>
              <a:off x="331" y="1336"/>
              <a:ext cx="1713" cy="1709"/>
            </a:xfrm>
            <a:custGeom>
              <a:avLst/>
              <a:gdLst/>
              <a:ahLst/>
              <a:cxnLst>
                <a:cxn ang="0">
                  <a:pos x="1164" y="21"/>
                </a:cxn>
                <a:cxn ang="0">
                  <a:pos x="637" y="218"/>
                </a:cxn>
                <a:cxn ang="0">
                  <a:pos x="139" y="590"/>
                </a:cxn>
                <a:cxn ang="0">
                  <a:pos x="82" y="1131"/>
                </a:cxn>
                <a:cxn ang="0">
                  <a:pos x="630" y="1433"/>
                </a:cxn>
                <a:cxn ang="0">
                  <a:pos x="996" y="730"/>
                </a:cxn>
                <a:cxn ang="0">
                  <a:pos x="1298" y="695"/>
                </a:cxn>
                <a:cxn ang="0">
                  <a:pos x="1480" y="499"/>
                </a:cxn>
                <a:cxn ang="0">
                  <a:pos x="1417" y="225"/>
                </a:cxn>
                <a:cxn ang="0">
                  <a:pos x="1347" y="91"/>
                </a:cxn>
                <a:cxn ang="0">
                  <a:pos x="1164" y="21"/>
                </a:cxn>
              </a:cxnLst>
              <a:rect l="0" t="0" r="r" b="b"/>
              <a:pathLst>
                <a:path w="1500" h="1500">
                  <a:moveTo>
                    <a:pt x="1164" y="21"/>
                  </a:moveTo>
                  <a:cubicBezTo>
                    <a:pt x="1046" y="42"/>
                    <a:pt x="808" y="123"/>
                    <a:pt x="637" y="218"/>
                  </a:cubicBezTo>
                  <a:cubicBezTo>
                    <a:pt x="466" y="313"/>
                    <a:pt x="231" y="438"/>
                    <a:pt x="139" y="590"/>
                  </a:cubicBezTo>
                  <a:cubicBezTo>
                    <a:pt x="47" y="742"/>
                    <a:pt x="0" y="991"/>
                    <a:pt x="82" y="1131"/>
                  </a:cubicBezTo>
                  <a:cubicBezTo>
                    <a:pt x="164" y="1271"/>
                    <a:pt x="478" y="1500"/>
                    <a:pt x="630" y="1433"/>
                  </a:cubicBezTo>
                  <a:cubicBezTo>
                    <a:pt x="782" y="1366"/>
                    <a:pt x="885" y="853"/>
                    <a:pt x="996" y="730"/>
                  </a:cubicBezTo>
                  <a:cubicBezTo>
                    <a:pt x="1107" y="607"/>
                    <a:pt x="1217" y="733"/>
                    <a:pt x="1298" y="695"/>
                  </a:cubicBezTo>
                  <a:cubicBezTo>
                    <a:pt x="1379" y="657"/>
                    <a:pt x="1460" y="577"/>
                    <a:pt x="1480" y="499"/>
                  </a:cubicBezTo>
                  <a:cubicBezTo>
                    <a:pt x="1500" y="421"/>
                    <a:pt x="1439" y="293"/>
                    <a:pt x="1417" y="225"/>
                  </a:cubicBezTo>
                  <a:cubicBezTo>
                    <a:pt x="1395" y="157"/>
                    <a:pt x="1389" y="126"/>
                    <a:pt x="1347" y="91"/>
                  </a:cubicBezTo>
                  <a:cubicBezTo>
                    <a:pt x="1305" y="56"/>
                    <a:pt x="1282" y="0"/>
                    <a:pt x="1164" y="21"/>
                  </a:cubicBez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2999" name="Oval 7"/>
            <p:cNvSpPr>
              <a:spLocks noChangeArrowheads="1"/>
            </p:cNvSpPr>
            <p:nvPr/>
          </p:nvSpPr>
          <p:spPr bwMode="auto">
            <a:xfrm>
              <a:off x="1869" y="2265"/>
              <a:ext cx="80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0" name="Oval 8"/>
            <p:cNvSpPr>
              <a:spLocks noChangeArrowheads="1"/>
            </p:cNvSpPr>
            <p:nvPr/>
          </p:nvSpPr>
          <p:spPr bwMode="auto">
            <a:xfrm>
              <a:off x="218" y="1168"/>
              <a:ext cx="80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1" name="Oval 9"/>
            <p:cNvSpPr>
              <a:spLocks noChangeArrowheads="1"/>
            </p:cNvSpPr>
            <p:nvPr/>
          </p:nvSpPr>
          <p:spPr bwMode="auto">
            <a:xfrm>
              <a:off x="368" y="1373"/>
              <a:ext cx="79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2" name="Oval 10"/>
            <p:cNvSpPr>
              <a:spLocks noChangeArrowheads="1"/>
            </p:cNvSpPr>
            <p:nvPr/>
          </p:nvSpPr>
          <p:spPr bwMode="auto">
            <a:xfrm>
              <a:off x="1528" y="2358"/>
              <a:ext cx="79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3" name="Oval 11"/>
            <p:cNvSpPr>
              <a:spLocks noChangeArrowheads="1"/>
            </p:cNvSpPr>
            <p:nvPr/>
          </p:nvSpPr>
          <p:spPr bwMode="auto">
            <a:xfrm>
              <a:off x="2092" y="2053"/>
              <a:ext cx="79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4" name="Oval 12"/>
            <p:cNvSpPr>
              <a:spLocks noChangeArrowheads="1"/>
            </p:cNvSpPr>
            <p:nvPr/>
          </p:nvSpPr>
          <p:spPr bwMode="auto">
            <a:xfrm>
              <a:off x="2354" y="2233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5" name="Oval 13"/>
            <p:cNvSpPr>
              <a:spLocks noChangeArrowheads="1"/>
            </p:cNvSpPr>
            <p:nvPr/>
          </p:nvSpPr>
          <p:spPr bwMode="auto">
            <a:xfrm>
              <a:off x="2918" y="2635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6" name="Oval 14"/>
            <p:cNvSpPr>
              <a:spLocks noChangeArrowheads="1"/>
            </p:cNvSpPr>
            <p:nvPr/>
          </p:nvSpPr>
          <p:spPr bwMode="auto">
            <a:xfrm>
              <a:off x="2658" y="2442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7" name="Oval 15"/>
            <p:cNvSpPr>
              <a:spLocks noChangeArrowheads="1"/>
            </p:cNvSpPr>
            <p:nvPr/>
          </p:nvSpPr>
          <p:spPr bwMode="auto">
            <a:xfrm>
              <a:off x="2434" y="2805"/>
              <a:ext cx="80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08" name="Oval 16"/>
            <p:cNvSpPr>
              <a:spLocks noChangeArrowheads="1"/>
            </p:cNvSpPr>
            <p:nvPr/>
          </p:nvSpPr>
          <p:spPr bwMode="auto">
            <a:xfrm>
              <a:off x="2310" y="1708"/>
              <a:ext cx="79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1909" y="2096"/>
              <a:ext cx="281" cy="616"/>
              <a:chOff x="3449" y="2922"/>
              <a:chExt cx="246" cy="541"/>
            </a:xfrm>
          </p:grpSpPr>
          <p:sp>
            <p:nvSpPr>
              <p:cNvPr id="213010" name="Oval 18"/>
              <p:cNvSpPr>
                <a:spLocks noChangeArrowheads="1"/>
              </p:cNvSpPr>
              <p:nvPr/>
            </p:nvSpPr>
            <p:spPr bwMode="auto">
              <a:xfrm>
                <a:off x="3625" y="3393"/>
                <a:ext cx="70" cy="70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13011" name="Line 19"/>
              <p:cNvSpPr>
                <a:spLocks noChangeShapeType="1"/>
              </p:cNvSpPr>
              <p:nvPr/>
            </p:nvSpPr>
            <p:spPr bwMode="auto">
              <a:xfrm>
                <a:off x="3468" y="3140"/>
                <a:ext cx="185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13012" name="Line 20"/>
              <p:cNvSpPr>
                <a:spLocks noChangeShapeType="1"/>
              </p:cNvSpPr>
              <p:nvPr/>
            </p:nvSpPr>
            <p:spPr bwMode="auto">
              <a:xfrm flipV="1">
                <a:off x="3449" y="2922"/>
                <a:ext cx="204" cy="19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213013" name="Line 21"/>
            <p:cNvSpPr>
              <a:spLocks noChangeShapeType="1"/>
            </p:cNvSpPr>
            <p:nvPr/>
          </p:nvSpPr>
          <p:spPr bwMode="auto">
            <a:xfrm>
              <a:off x="2434" y="2301"/>
              <a:ext cx="260" cy="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14" name="Line 22"/>
            <p:cNvSpPr>
              <a:spLocks noChangeShapeType="1"/>
            </p:cNvSpPr>
            <p:nvPr/>
          </p:nvSpPr>
          <p:spPr bwMode="auto">
            <a:xfrm>
              <a:off x="2738" y="2501"/>
              <a:ext cx="26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15" name="Line 23"/>
            <p:cNvSpPr>
              <a:spLocks noChangeShapeType="1"/>
            </p:cNvSpPr>
            <p:nvPr/>
          </p:nvSpPr>
          <p:spPr bwMode="auto">
            <a:xfrm flipH="1">
              <a:off x="2474" y="2501"/>
              <a:ext cx="208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16" name="Line 24"/>
            <p:cNvSpPr>
              <a:spLocks noChangeShapeType="1"/>
            </p:cNvSpPr>
            <p:nvPr/>
          </p:nvSpPr>
          <p:spPr bwMode="auto">
            <a:xfrm>
              <a:off x="2142" y="2092"/>
              <a:ext cx="26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17" name="Line 25"/>
            <p:cNvSpPr>
              <a:spLocks noChangeShapeType="1"/>
            </p:cNvSpPr>
            <p:nvPr/>
          </p:nvSpPr>
          <p:spPr bwMode="auto">
            <a:xfrm flipH="1">
              <a:off x="2142" y="1748"/>
              <a:ext cx="208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18" name="Line 26"/>
            <p:cNvSpPr>
              <a:spLocks noChangeShapeType="1"/>
            </p:cNvSpPr>
            <p:nvPr/>
          </p:nvSpPr>
          <p:spPr bwMode="auto">
            <a:xfrm>
              <a:off x="2092" y="1548"/>
              <a:ext cx="260" cy="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19" name="Oval 27"/>
            <p:cNvSpPr>
              <a:spLocks noChangeArrowheads="1"/>
            </p:cNvSpPr>
            <p:nvPr/>
          </p:nvSpPr>
          <p:spPr bwMode="auto">
            <a:xfrm>
              <a:off x="2045" y="1508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20" name="Oval 28"/>
            <p:cNvSpPr>
              <a:spLocks noChangeArrowheads="1"/>
            </p:cNvSpPr>
            <p:nvPr/>
          </p:nvSpPr>
          <p:spPr bwMode="auto">
            <a:xfrm>
              <a:off x="2532" y="1349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21" name="Line 29"/>
            <p:cNvSpPr>
              <a:spLocks noChangeShapeType="1"/>
            </p:cNvSpPr>
            <p:nvPr/>
          </p:nvSpPr>
          <p:spPr bwMode="auto">
            <a:xfrm flipH="1">
              <a:off x="2360" y="1410"/>
              <a:ext cx="208" cy="3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22" name="Line 30"/>
            <p:cNvSpPr>
              <a:spLocks noChangeShapeType="1"/>
            </p:cNvSpPr>
            <p:nvPr/>
          </p:nvSpPr>
          <p:spPr bwMode="auto">
            <a:xfrm flipH="1">
              <a:off x="1528" y="2333"/>
              <a:ext cx="379" cy="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23" name="Oval 31"/>
            <p:cNvSpPr>
              <a:spLocks noChangeArrowheads="1"/>
            </p:cNvSpPr>
            <p:nvPr/>
          </p:nvSpPr>
          <p:spPr bwMode="auto">
            <a:xfrm>
              <a:off x="1048" y="1826"/>
              <a:ext cx="80" cy="80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24" name="Oval 32"/>
            <p:cNvSpPr>
              <a:spLocks noChangeArrowheads="1"/>
            </p:cNvSpPr>
            <p:nvPr/>
          </p:nvSpPr>
          <p:spPr bwMode="auto">
            <a:xfrm>
              <a:off x="1003" y="2624"/>
              <a:ext cx="80" cy="79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25" name="Oval 33"/>
            <p:cNvSpPr>
              <a:spLocks noChangeArrowheads="1"/>
            </p:cNvSpPr>
            <p:nvPr/>
          </p:nvSpPr>
          <p:spPr bwMode="auto">
            <a:xfrm>
              <a:off x="1403" y="2846"/>
              <a:ext cx="80" cy="79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26" name="Oval 34"/>
            <p:cNvSpPr>
              <a:spLocks noChangeArrowheads="1"/>
            </p:cNvSpPr>
            <p:nvPr/>
          </p:nvSpPr>
          <p:spPr bwMode="auto">
            <a:xfrm>
              <a:off x="1219" y="2323"/>
              <a:ext cx="80" cy="80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27" name="Oval 35"/>
            <p:cNvSpPr>
              <a:spLocks noChangeArrowheads="1"/>
            </p:cNvSpPr>
            <p:nvPr/>
          </p:nvSpPr>
          <p:spPr bwMode="auto">
            <a:xfrm>
              <a:off x="1381" y="1617"/>
              <a:ext cx="80" cy="79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28" name="Line 36"/>
            <p:cNvSpPr>
              <a:spLocks noChangeShapeType="1"/>
            </p:cNvSpPr>
            <p:nvPr/>
          </p:nvSpPr>
          <p:spPr bwMode="auto">
            <a:xfrm flipH="1" flipV="1">
              <a:off x="1307" y="2350"/>
              <a:ext cx="210" cy="3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29" name="Line 37"/>
            <p:cNvSpPr>
              <a:spLocks noChangeShapeType="1"/>
            </p:cNvSpPr>
            <p:nvPr/>
          </p:nvSpPr>
          <p:spPr bwMode="auto">
            <a:xfrm>
              <a:off x="1274" y="2409"/>
              <a:ext cx="16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30" name="Line 38"/>
            <p:cNvSpPr>
              <a:spLocks noChangeShapeType="1"/>
            </p:cNvSpPr>
            <p:nvPr/>
          </p:nvSpPr>
          <p:spPr bwMode="auto">
            <a:xfrm flipH="1">
              <a:off x="1067" y="2404"/>
              <a:ext cx="163" cy="21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31" name="Line 39"/>
            <p:cNvSpPr>
              <a:spLocks noChangeShapeType="1"/>
            </p:cNvSpPr>
            <p:nvPr/>
          </p:nvSpPr>
          <p:spPr bwMode="auto">
            <a:xfrm>
              <a:off x="1104" y="1909"/>
              <a:ext cx="139" cy="40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32" name="Line 40"/>
            <p:cNvSpPr>
              <a:spLocks noChangeShapeType="1"/>
            </p:cNvSpPr>
            <p:nvPr/>
          </p:nvSpPr>
          <p:spPr bwMode="auto">
            <a:xfrm flipH="1">
              <a:off x="824" y="1895"/>
              <a:ext cx="222" cy="20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33" name="Line 41"/>
            <p:cNvSpPr>
              <a:spLocks noChangeShapeType="1"/>
            </p:cNvSpPr>
            <p:nvPr/>
          </p:nvSpPr>
          <p:spPr bwMode="auto">
            <a:xfrm flipH="1">
              <a:off x="1128" y="1685"/>
              <a:ext cx="250" cy="154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34" name="Line 42"/>
            <p:cNvSpPr>
              <a:spLocks noChangeShapeType="1"/>
            </p:cNvSpPr>
            <p:nvPr/>
          </p:nvSpPr>
          <p:spPr bwMode="auto">
            <a:xfrm>
              <a:off x="1458" y="1686"/>
              <a:ext cx="290" cy="25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35" name="Oval 43"/>
            <p:cNvSpPr>
              <a:spLocks noChangeArrowheads="1"/>
            </p:cNvSpPr>
            <p:nvPr/>
          </p:nvSpPr>
          <p:spPr bwMode="auto">
            <a:xfrm>
              <a:off x="807" y="1385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36" name="Oval 44"/>
            <p:cNvSpPr>
              <a:spLocks noChangeArrowheads="1"/>
            </p:cNvSpPr>
            <p:nvPr/>
          </p:nvSpPr>
          <p:spPr bwMode="auto">
            <a:xfrm>
              <a:off x="1717" y="1888"/>
              <a:ext cx="80" cy="79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37" name="Oval 45"/>
            <p:cNvSpPr>
              <a:spLocks noChangeArrowheads="1"/>
            </p:cNvSpPr>
            <p:nvPr/>
          </p:nvSpPr>
          <p:spPr bwMode="auto">
            <a:xfrm>
              <a:off x="656" y="2445"/>
              <a:ext cx="80" cy="79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38" name="Oval 46"/>
            <p:cNvSpPr>
              <a:spLocks noChangeArrowheads="1"/>
            </p:cNvSpPr>
            <p:nvPr/>
          </p:nvSpPr>
          <p:spPr bwMode="auto">
            <a:xfrm>
              <a:off x="759" y="2081"/>
              <a:ext cx="80" cy="80"/>
            </a:xfrm>
            <a:prstGeom prst="ellipse">
              <a:avLst/>
            </a:prstGeom>
            <a:solidFill>
              <a:srgbClr val="008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39" name="Line 47"/>
            <p:cNvSpPr>
              <a:spLocks noChangeShapeType="1"/>
            </p:cNvSpPr>
            <p:nvPr/>
          </p:nvSpPr>
          <p:spPr bwMode="auto">
            <a:xfrm flipH="1">
              <a:off x="701" y="2162"/>
              <a:ext cx="82" cy="27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40" name="Line 48"/>
            <p:cNvSpPr>
              <a:spLocks noChangeShapeType="1"/>
            </p:cNvSpPr>
            <p:nvPr/>
          </p:nvSpPr>
          <p:spPr bwMode="auto">
            <a:xfrm>
              <a:off x="871" y="1426"/>
              <a:ext cx="191" cy="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41" name="Line 49"/>
            <p:cNvSpPr>
              <a:spLocks noChangeShapeType="1"/>
            </p:cNvSpPr>
            <p:nvPr/>
          </p:nvSpPr>
          <p:spPr bwMode="auto">
            <a:xfrm flipH="1">
              <a:off x="425" y="1408"/>
              <a:ext cx="3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42" name="Oval 50"/>
            <p:cNvSpPr>
              <a:spLocks noChangeArrowheads="1"/>
            </p:cNvSpPr>
            <p:nvPr/>
          </p:nvSpPr>
          <p:spPr bwMode="auto">
            <a:xfrm>
              <a:off x="858" y="744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43" name="Oval 51"/>
            <p:cNvSpPr>
              <a:spLocks noChangeArrowheads="1"/>
            </p:cNvSpPr>
            <p:nvPr/>
          </p:nvSpPr>
          <p:spPr bwMode="auto">
            <a:xfrm>
              <a:off x="607" y="984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44" name="Oval 52"/>
            <p:cNvSpPr>
              <a:spLocks noChangeArrowheads="1"/>
            </p:cNvSpPr>
            <p:nvPr/>
          </p:nvSpPr>
          <p:spPr bwMode="auto">
            <a:xfrm>
              <a:off x="984" y="1128"/>
              <a:ext cx="80" cy="8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3045" name="Line 53"/>
            <p:cNvSpPr>
              <a:spLocks noChangeShapeType="1"/>
            </p:cNvSpPr>
            <p:nvPr/>
          </p:nvSpPr>
          <p:spPr bwMode="auto">
            <a:xfrm flipH="1" flipV="1">
              <a:off x="257" y="1208"/>
              <a:ext cx="144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46" name="Line 54"/>
            <p:cNvSpPr>
              <a:spLocks noChangeShapeType="1"/>
            </p:cNvSpPr>
            <p:nvPr/>
          </p:nvSpPr>
          <p:spPr bwMode="auto">
            <a:xfrm flipH="1">
              <a:off x="839" y="1147"/>
              <a:ext cx="209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47" name="Line 55"/>
            <p:cNvSpPr>
              <a:spLocks noChangeShapeType="1"/>
            </p:cNvSpPr>
            <p:nvPr/>
          </p:nvSpPr>
          <p:spPr bwMode="auto">
            <a:xfrm flipH="1" flipV="1">
              <a:off x="642" y="1024"/>
              <a:ext cx="320" cy="1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48" name="Line 56"/>
            <p:cNvSpPr>
              <a:spLocks noChangeShapeType="1"/>
            </p:cNvSpPr>
            <p:nvPr/>
          </p:nvSpPr>
          <p:spPr bwMode="auto">
            <a:xfrm flipH="1">
              <a:off x="642" y="784"/>
              <a:ext cx="25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49" name="Text Box 57"/>
            <p:cNvSpPr txBox="1">
              <a:spLocks noChangeArrowheads="1"/>
            </p:cNvSpPr>
            <p:nvPr/>
          </p:nvSpPr>
          <p:spPr bwMode="auto">
            <a:xfrm>
              <a:off x="981" y="2088"/>
              <a:ext cx="278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>
                  <a:solidFill>
                    <a:srgbClr val="CC0000"/>
                  </a:solidFill>
                  <a:latin typeface="Arial" charset="0"/>
                </a:rPr>
                <a:t>x</a:t>
              </a:r>
            </a:p>
          </p:txBody>
        </p:sp>
        <p:sp>
          <p:nvSpPr>
            <p:cNvPr id="213050" name="Text Box 58"/>
            <p:cNvSpPr txBox="1">
              <a:spLocks noChangeArrowheads="1"/>
            </p:cNvSpPr>
            <p:nvPr/>
          </p:nvSpPr>
          <p:spPr bwMode="auto">
            <a:xfrm>
              <a:off x="1465" y="2350"/>
              <a:ext cx="278" cy="365"/>
            </a:xfrm>
            <a:prstGeom prst="rect">
              <a:avLst/>
            </a:prstGeom>
            <a:noFill/>
            <a:ln w="412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>
                  <a:solidFill>
                    <a:srgbClr val="CC0000"/>
                  </a:solidFill>
                  <a:latin typeface="Arial" charset="0"/>
                </a:rPr>
                <a:t>y</a:t>
              </a:r>
            </a:p>
          </p:txBody>
        </p:sp>
        <p:sp>
          <p:nvSpPr>
            <p:cNvPr id="213051" name="Line 59"/>
            <p:cNvSpPr>
              <a:spLocks noChangeShapeType="1"/>
            </p:cNvSpPr>
            <p:nvPr/>
          </p:nvSpPr>
          <p:spPr bwMode="auto">
            <a:xfrm flipV="1">
              <a:off x="298" y="1047"/>
              <a:ext cx="309" cy="1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52" name="Line 60"/>
            <p:cNvSpPr>
              <a:spLocks noChangeShapeType="1"/>
            </p:cNvSpPr>
            <p:nvPr/>
          </p:nvSpPr>
          <p:spPr bwMode="auto">
            <a:xfrm flipV="1">
              <a:off x="1786" y="1579"/>
              <a:ext cx="264" cy="3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53" name="Line 61"/>
            <p:cNvSpPr>
              <a:spLocks noChangeShapeType="1"/>
            </p:cNvSpPr>
            <p:nvPr/>
          </p:nvSpPr>
          <p:spPr bwMode="auto">
            <a:xfrm flipV="1">
              <a:off x="2519" y="2690"/>
              <a:ext cx="397" cy="13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  <p:sp>
          <p:nvSpPr>
            <p:cNvPr id="213054" name="Line 62"/>
            <p:cNvSpPr>
              <a:spLocks noChangeShapeType="1"/>
            </p:cNvSpPr>
            <p:nvPr/>
          </p:nvSpPr>
          <p:spPr bwMode="auto">
            <a:xfrm>
              <a:off x="736" y="2506"/>
              <a:ext cx="267" cy="12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6508750" y="1892300"/>
            <a:ext cx="952500" cy="1146175"/>
            <a:chOff x="4100" y="1192"/>
            <a:chExt cx="600" cy="722"/>
          </a:xfrm>
        </p:grpSpPr>
        <p:sp>
          <p:nvSpPr>
            <p:cNvPr id="213055" name="Rectangle 63"/>
            <p:cNvSpPr>
              <a:spLocks noChangeArrowheads="1"/>
            </p:cNvSpPr>
            <p:nvPr/>
          </p:nvSpPr>
          <p:spPr bwMode="auto">
            <a:xfrm>
              <a:off x="4100" y="1549"/>
              <a:ext cx="25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CC0000"/>
                  </a:solidFill>
                  <a:latin typeface="Arial" charset="0"/>
                </a:rPr>
                <a:t>v</a:t>
              </a:r>
            </a:p>
          </p:txBody>
        </p:sp>
        <p:sp>
          <p:nvSpPr>
            <p:cNvPr id="213056" name="Rectangle 64"/>
            <p:cNvSpPr>
              <a:spLocks noChangeArrowheads="1"/>
            </p:cNvSpPr>
            <p:nvPr/>
          </p:nvSpPr>
          <p:spPr bwMode="auto">
            <a:xfrm>
              <a:off x="4385" y="1192"/>
              <a:ext cx="31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CC0000"/>
                  </a:solidFill>
                  <a:latin typeface="Arial" charset="0"/>
                </a:rPr>
                <a:t>w</a:t>
              </a:r>
            </a:p>
          </p:txBody>
        </p:sp>
      </p:grpSp>
      <p:sp>
        <p:nvSpPr>
          <p:cNvPr id="213057" name="Rectangle 65"/>
          <p:cNvSpPr>
            <a:spLocks noChangeArrowheads="1"/>
          </p:cNvSpPr>
          <p:nvPr/>
        </p:nvSpPr>
        <p:spPr bwMode="auto">
          <a:xfrm>
            <a:off x="454025" y="5435600"/>
            <a:ext cx="7916863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31775" indent="-231775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 smtClean="0">
                <a:latin typeface="Arial" charset="0"/>
              </a:rPr>
              <a:t>Bu </a:t>
            </a:r>
            <a:r>
              <a:rPr lang="en-US" sz="2400" dirty="0" err="1" smtClean="0">
                <a:latin typeface="Arial" charset="0"/>
              </a:rPr>
              <a:t>edgelerden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sadece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kosesi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dirty="0" smtClean="0">
                <a:solidFill>
                  <a:srgbClr val="008000"/>
                </a:solidFill>
                <a:latin typeface="Arial" charset="0"/>
              </a:rPr>
              <a:t>V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icinde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olan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sadece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edge </a:t>
            </a:r>
            <a:r>
              <a:rPr lang="en-US" sz="2400" dirty="0" err="1" smtClean="0">
                <a:latin typeface="Arial" charset="0"/>
              </a:rPr>
              <a:t>vardir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ve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bu</a:t>
            </a:r>
            <a:r>
              <a:rPr lang="en-US" sz="2400" dirty="0" smtClean="0">
                <a:latin typeface="Arial" charset="0"/>
              </a:rPr>
              <a:t> edge </a:t>
            </a:r>
            <a:r>
              <a:rPr lang="en-US" sz="2400" b="1" dirty="0" smtClean="0">
                <a:latin typeface="Arial" charset="0"/>
              </a:rPr>
              <a:t>(</a:t>
            </a:r>
            <a:r>
              <a:rPr lang="en-US" sz="2400" b="1" i="1" dirty="0" err="1">
                <a:latin typeface="Arial" charset="0"/>
              </a:rPr>
              <a:t>v</a:t>
            </a:r>
            <a:r>
              <a:rPr lang="en-US" sz="2400" b="1" dirty="0" err="1">
                <a:latin typeface="Arial" charset="0"/>
              </a:rPr>
              <a:t>,</a:t>
            </a:r>
            <a:r>
              <a:rPr lang="en-US" sz="2400" b="1" i="1" dirty="0" err="1">
                <a:latin typeface="Arial" charset="0"/>
              </a:rPr>
              <a:t>w</a:t>
            </a:r>
            <a:r>
              <a:rPr lang="en-US" sz="2400" b="1" dirty="0">
                <a:latin typeface="Arial" charset="0"/>
              </a:rPr>
              <a:t>) </a:t>
            </a:r>
            <a:r>
              <a:rPr lang="en-US" sz="2400" dirty="0" err="1" smtClean="0">
                <a:latin typeface="Arial" charset="0"/>
              </a:rPr>
              <a:t>olsun</a:t>
            </a:r>
            <a:r>
              <a:rPr lang="en-US" sz="2400" dirty="0" smtClean="0">
                <a:latin typeface="Arial" charset="0"/>
              </a:rPr>
              <a:t>.</a:t>
            </a:r>
            <a:endParaRPr lang="en-US" sz="2400" dirty="0">
              <a:latin typeface="Arial" charset="0"/>
            </a:endParaRPr>
          </a:p>
        </p:txBody>
      </p:sp>
      <p:sp>
        <p:nvSpPr>
          <p:cNvPr id="213058" name="Rectangle 66"/>
          <p:cNvSpPr>
            <a:spLocks noChangeArrowheads="1"/>
          </p:cNvSpPr>
          <p:nvPr/>
        </p:nvSpPr>
        <p:spPr bwMode="auto">
          <a:xfrm>
            <a:off x="500062" y="2865438"/>
            <a:ext cx="4186237" cy="260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31775" indent="-231775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>
                <a:latin typeface="Arial" charset="0"/>
              </a:rPr>
              <a:t>Edge </a:t>
            </a:r>
            <a:r>
              <a:rPr lang="en-US" sz="2400" b="1" dirty="0">
                <a:solidFill>
                  <a:srgbClr val="CC0000"/>
                </a:solidFill>
                <a:latin typeface="Arial" charset="0"/>
              </a:rPr>
              <a:t>(</a:t>
            </a:r>
            <a:r>
              <a:rPr lang="en-US" sz="2400" b="1" i="1" dirty="0" err="1">
                <a:solidFill>
                  <a:srgbClr val="CC0000"/>
                </a:solidFill>
                <a:latin typeface="Arial" charset="0"/>
              </a:rPr>
              <a:t>x</a:t>
            </a:r>
            <a:r>
              <a:rPr lang="en-US" sz="2400" b="1" dirty="0" err="1">
                <a:solidFill>
                  <a:srgbClr val="CC0000"/>
                </a:solidFill>
                <a:latin typeface="Arial" charset="0"/>
              </a:rPr>
              <a:t>,</a:t>
            </a:r>
            <a:r>
              <a:rPr lang="en-US" sz="2400" b="1" i="1" dirty="0" err="1">
                <a:solidFill>
                  <a:srgbClr val="CC0000"/>
                </a:solidFill>
                <a:latin typeface="Arial" charset="0"/>
              </a:rPr>
              <a:t>y</a:t>
            </a:r>
            <a:r>
              <a:rPr lang="en-US" sz="2400" b="1" dirty="0">
                <a:solidFill>
                  <a:srgbClr val="CC0000"/>
                </a:solidFill>
                <a:latin typeface="Arial" charset="0"/>
              </a:rPr>
              <a:t>)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b="1" dirty="0" smtClean="0">
                <a:latin typeface="Arial" charset="0"/>
              </a:rPr>
              <a:t>T</a:t>
            </a:r>
            <a:r>
              <a:rPr lang="en-US" sz="2400" b="1" dirty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nin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icinde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degil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bu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yuzden</a:t>
            </a:r>
            <a:r>
              <a:rPr lang="en-US" sz="2400" dirty="0" smtClean="0">
                <a:latin typeface="Arial" charset="0"/>
              </a:rPr>
              <a:t> x </a:t>
            </a:r>
            <a:r>
              <a:rPr lang="en-US" sz="2400" dirty="0" err="1" smtClean="0">
                <a:latin typeface="Arial" charset="0"/>
              </a:rPr>
              <a:t>ile</a:t>
            </a:r>
            <a:r>
              <a:rPr lang="en-US" sz="2400" dirty="0" smtClean="0">
                <a:latin typeface="Arial" charset="0"/>
              </a:rPr>
              <a:t> y </a:t>
            </a:r>
            <a:r>
              <a:rPr lang="en-US" sz="2400" dirty="0" err="1" smtClean="0">
                <a:latin typeface="Arial" charset="0"/>
              </a:rPr>
              <a:t>arasinda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baska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yol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olmali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cunku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dirty="0" smtClean="0">
                <a:latin typeface="Arial" charset="0"/>
              </a:rPr>
              <a:t>T 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bagli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olmak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zorunda</a:t>
            </a:r>
            <a:r>
              <a:rPr lang="en-US" sz="2400" dirty="0" smtClean="0">
                <a:latin typeface="Arial" charset="0"/>
              </a:rPr>
              <a:t>.</a:t>
            </a:r>
            <a:endParaRPr lang="en-US" sz="2400" dirty="0">
              <a:latin typeface="Arial" charset="0"/>
            </a:endParaRPr>
          </a:p>
          <a:p>
            <a:pPr marL="231775" indent="-231775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 smtClean="0">
                <a:latin typeface="Arial" charset="0"/>
              </a:rPr>
              <a:t>Edge </a:t>
            </a:r>
            <a:r>
              <a:rPr lang="en-US" sz="2400" b="1" dirty="0">
                <a:solidFill>
                  <a:srgbClr val="CC0000"/>
                </a:solidFill>
                <a:latin typeface="Arial" charset="0"/>
              </a:rPr>
              <a:t>(</a:t>
            </a:r>
            <a:r>
              <a:rPr lang="en-US" sz="2400" b="1" i="1" dirty="0" err="1">
                <a:solidFill>
                  <a:srgbClr val="CC0000"/>
                </a:solidFill>
                <a:latin typeface="Arial" charset="0"/>
              </a:rPr>
              <a:t>x</a:t>
            </a:r>
            <a:r>
              <a:rPr lang="en-US" sz="2400" b="1" dirty="0" err="1">
                <a:solidFill>
                  <a:srgbClr val="CC0000"/>
                </a:solidFill>
                <a:latin typeface="Arial" charset="0"/>
              </a:rPr>
              <a:t>,</a:t>
            </a:r>
            <a:r>
              <a:rPr lang="en-US" sz="2400" b="1" i="1" dirty="0" err="1">
                <a:solidFill>
                  <a:srgbClr val="CC0000"/>
                </a:solidFill>
                <a:latin typeface="Arial" charset="0"/>
              </a:rPr>
              <a:t>y</a:t>
            </a:r>
            <a:r>
              <a:rPr lang="en-US" sz="2400" b="1" dirty="0">
                <a:solidFill>
                  <a:srgbClr val="CC0000"/>
                </a:solidFill>
                <a:latin typeface="Arial" charset="0"/>
              </a:rPr>
              <a:t>)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yi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dirty="0">
                <a:latin typeface="Arial" charset="0"/>
              </a:rPr>
              <a:t>T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smtClean="0">
                <a:latin typeface="Arial" charset="0"/>
              </a:rPr>
              <a:t>ye </a:t>
            </a:r>
            <a:r>
              <a:rPr lang="en-US" sz="2400" dirty="0" err="1" smtClean="0">
                <a:latin typeface="Arial" charset="0"/>
              </a:rPr>
              <a:t>eklemek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istersek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cycle </a:t>
            </a:r>
            <a:r>
              <a:rPr lang="en-US" sz="2400" dirty="0" err="1" smtClean="0">
                <a:latin typeface="Arial" charset="0"/>
              </a:rPr>
              <a:t>olusturur</a:t>
            </a:r>
            <a:r>
              <a:rPr lang="en-US" sz="2400" dirty="0" smtClean="0">
                <a:latin typeface="Arial" charset="0"/>
              </a:rPr>
              <a:t>. 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081193B2-4A9A-4318-B810-DA52ADBA37F0}" type="slidenum">
              <a:rPr lang="en-US"/>
              <a:pPr/>
              <a:t>37</a:t>
            </a:fld>
            <a:endParaRPr lang="en-US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 in </a:t>
            </a:r>
            <a:r>
              <a:rPr lang="en-US" dirty="0" err="1" smtClean="0"/>
              <a:t>Algoritmasinin</a:t>
            </a:r>
            <a:r>
              <a:rPr lang="en-US" dirty="0" smtClean="0"/>
              <a:t> </a:t>
            </a:r>
            <a:r>
              <a:rPr lang="en-US" dirty="0" err="1" smtClean="0"/>
              <a:t>Dogrulugu</a:t>
            </a:r>
            <a:endParaRPr lang="en-US" dirty="0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921625" cy="4114800"/>
          </a:xfrm>
          <a:ln/>
        </p:spPr>
        <p:txBody>
          <a:bodyPr/>
          <a:lstStyle/>
          <a:p>
            <a:r>
              <a:rPr lang="en-US" sz="2400" dirty="0" err="1" smtClean="0"/>
              <a:t>Prim’in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C0000"/>
                </a:solidFill>
              </a:rPr>
              <a:t>(</a:t>
            </a:r>
            <a:r>
              <a:rPr lang="en-US" sz="2400" b="1" i="1" dirty="0" err="1" smtClean="0">
                <a:solidFill>
                  <a:srgbClr val="CC0000"/>
                </a:solidFill>
              </a:rPr>
              <a:t>x</a:t>
            </a:r>
            <a:r>
              <a:rPr lang="en-US" sz="2400" b="1" dirty="0" err="1" smtClean="0">
                <a:solidFill>
                  <a:srgbClr val="CC0000"/>
                </a:solidFill>
              </a:rPr>
              <a:t>,</a:t>
            </a:r>
            <a:r>
              <a:rPr lang="en-US" sz="2400" b="1" i="1" dirty="0" err="1" smtClean="0">
                <a:solidFill>
                  <a:srgbClr val="CC0000"/>
                </a:solidFill>
              </a:rPr>
              <a:t>y</a:t>
            </a:r>
            <a:r>
              <a:rPr lang="en-US" sz="2400" b="1" dirty="0">
                <a:solidFill>
                  <a:srgbClr val="CC0000"/>
                </a:solidFill>
              </a:rPr>
              <a:t>)</a:t>
            </a:r>
            <a:r>
              <a:rPr lang="en-US" sz="2400" b="1" dirty="0"/>
              <a:t> </a:t>
            </a:r>
            <a:r>
              <a:rPr lang="en-US" sz="2400" dirty="0" err="1" smtClean="0"/>
              <a:t>secmesi</a:t>
            </a:r>
            <a:r>
              <a:rPr lang="en-US" sz="2400" dirty="0" smtClean="0"/>
              <a:t> </a:t>
            </a:r>
            <a:r>
              <a:rPr lang="en-US" sz="2400" dirty="0" err="1" smtClean="0"/>
              <a:t>icin</a:t>
            </a:r>
            <a:r>
              <a:rPr lang="en-US" sz="2400" dirty="0" smtClean="0"/>
              <a:t> w(</a:t>
            </a:r>
            <a:r>
              <a:rPr lang="en-US" sz="2400" b="1" dirty="0" err="1" smtClean="0"/>
              <a:t>v,w</a:t>
            </a:r>
            <a:r>
              <a:rPr lang="en-US" sz="2400" dirty="0"/>
              <a:t>) &gt;= w(</a:t>
            </a:r>
            <a:r>
              <a:rPr lang="en-US" sz="2400" b="1" dirty="0" err="1">
                <a:solidFill>
                  <a:srgbClr val="CC0000"/>
                </a:solidFill>
              </a:rPr>
              <a:t>x,y</a:t>
            </a:r>
            <a:r>
              <a:rPr lang="en-US" sz="2400" dirty="0" smtClean="0"/>
              <a:t>) </a:t>
            </a:r>
            <a:r>
              <a:rPr lang="en-US" sz="2400" dirty="0" err="1" smtClean="0"/>
              <a:t>olmak</a:t>
            </a:r>
            <a:r>
              <a:rPr lang="en-US" sz="2400" dirty="0" smtClean="0"/>
              <a:t> </a:t>
            </a:r>
            <a:r>
              <a:rPr lang="en-US" sz="2400" dirty="0" err="1" smtClean="0"/>
              <a:t>zorundadir</a:t>
            </a:r>
            <a:r>
              <a:rPr lang="en-US" sz="2400" dirty="0"/>
              <a:t>.</a:t>
            </a:r>
            <a:r>
              <a:rPr lang="en-US" sz="2400" dirty="0" smtClean="0"/>
              <a:t> </a:t>
            </a:r>
            <a:endParaRPr lang="en-US" sz="2400" b="1" dirty="0"/>
          </a:p>
          <a:p>
            <a:r>
              <a:rPr lang="en-US" sz="2400" b="1" dirty="0" smtClean="0">
                <a:solidFill>
                  <a:srgbClr val="CC0000"/>
                </a:solidFill>
              </a:rPr>
              <a:t>(</a:t>
            </a:r>
            <a:r>
              <a:rPr lang="en-US" sz="2400" b="1" i="1" dirty="0" err="1">
                <a:solidFill>
                  <a:srgbClr val="CC0000"/>
                </a:solidFill>
              </a:rPr>
              <a:t>x</a:t>
            </a:r>
            <a:r>
              <a:rPr lang="en-US" sz="2400" b="1" dirty="0" err="1">
                <a:solidFill>
                  <a:srgbClr val="CC0000"/>
                </a:solidFill>
              </a:rPr>
              <a:t>,</a:t>
            </a:r>
            <a:r>
              <a:rPr lang="en-US" sz="2400" b="1" i="1" dirty="0" err="1">
                <a:solidFill>
                  <a:srgbClr val="CC0000"/>
                </a:solidFill>
              </a:rPr>
              <a:t>y</a:t>
            </a:r>
            <a:r>
              <a:rPr lang="en-US" sz="2400" b="1" dirty="0">
                <a:solidFill>
                  <a:srgbClr val="CC0000"/>
                </a:solidFill>
              </a:rPr>
              <a:t>)</a:t>
            </a:r>
            <a:r>
              <a:rPr lang="en-US" sz="2400" b="1" dirty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ekleyip</a:t>
            </a:r>
            <a:r>
              <a:rPr lang="en-US" sz="2400" dirty="0" smtClean="0"/>
              <a:t> </a:t>
            </a:r>
            <a:r>
              <a:rPr lang="en-US" sz="2400" b="1" dirty="0"/>
              <a:t>(</a:t>
            </a:r>
            <a:r>
              <a:rPr lang="en-US" sz="2400" b="1" i="1" dirty="0" err="1"/>
              <a:t>v</a:t>
            </a:r>
            <a:r>
              <a:rPr lang="en-US" sz="2400" b="1" dirty="0" err="1"/>
              <a:t>,</a:t>
            </a:r>
            <a:r>
              <a:rPr lang="en-US" sz="2400" b="1" i="1" dirty="0" err="1"/>
              <a:t>w</a:t>
            </a:r>
            <a:r>
              <a:rPr lang="en-US" sz="2400" b="1" dirty="0" smtClean="0"/>
              <a:t>) </a:t>
            </a:r>
            <a:r>
              <a:rPr lang="en-US" sz="2400" dirty="0" err="1" smtClean="0"/>
              <a:t>yi</a:t>
            </a:r>
            <a:r>
              <a:rPr lang="en-US" sz="2400" dirty="0" smtClean="0"/>
              <a:t> </a:t>
            </a:r>
            <a:r>
              <a:rPr lang="en-US" sz="2400" dirty="0" err="1" smtClean="0"/>
              <a:t>cikararak</a:t>
            </a:r>
            <a:r>
              <a:rPr lang="en-US" sz="2400" dirty="0" smtClean="0"/>
              <a:t> </a:t>
            </a:r>
            <a:r>
              <a:rPr lang="en-US" sz="2400" b="1" dirty="0" smtClean="0"/>
              <a:t>T </a:t>
            </a:r>
            <a:r>
              <a:rPr lang="en-US" sz="2400" dirty="0" smtClean="0"/>
              <a:t>den</a:t>
            </a:r>
            <a:r>
              <a:rPr lang="en-US" sz="2400" b="1" dirty="0" smtClean="0"/>
              <a:t> T’ </a:t>
            </a:r>
            <a:r>
              <a:rPr lang="en-US" sz="2400" dirty="0" err="1" smtClean="0"/>
              <a:t>agacini</a:t>
            </a:r>
            <a:r>
              <a:rPr lang="en-US" sz="2400" dirty="0" smtClean="0"/>
              <a:t> </a:t>
            </a:r>
            <a:r>
              <a:rPr lang="en-US" sz="2400" dirty="0" err="1" smtClean="0"/>
              <a:t>olusturalim</a:t>
            </a:r>
            <a:r>
              <a:rPr lang="en-US" sz="2400" b="1" dirty="0" smtClean="0"/>
              <a:t>. </a:t>
            </a:r>
            <a:r>
              <a:rPr lang="en-US" sz="2400" dirty="0" smtClean="0"/>
              <a:t>(</a:t>
            </a:r>
            <a:r>
              <a:rPr lang="en-US" sz="2400" i="1" dirty="0" err="1" smtClean="0">
                <a:solidFill>
                  <a:srgbClr val="CC0000"/>
                </a:solidFill>
              </a:rPr>
              <a:t>bunun</a:t>
            </a:r>
            <a:r>
              <a:rPr lang="en-US" sz="2400" i="1" dirty="0" smtClean="0">
                <a:solidFill>
                  <a:srgbClr val="CC0000"/>
                </a:solidFill>
              </a:rPr>
              <a:t> </a:t>
            </a:r>
            <a:r>
              <a:rPr lang="en-US" sz="2400" i="1" dirty="0" err="1" smtClean="0">
                <a:solidFill>
                  <a:srgbClr val="CC0000"/>
                </a:solidFill>
              </a:rPr>
              <a:t>bir</a:t>
            </a:r>
            <a:r>
              <a:rPr lang="en-US" sz="2400" i="1" dirty="0" smtClean="0">
                <a:solidFill>
                  <a:srgbClr val="CC0000"/>
                </a:solidFill>
              </a:rPr>
              <a:t> spanning tree </a:t>
            </a:r>
            <a:r>
              <a:rPr lang="en-US" sz="2400" i="1" dirty="0" err="1" smtClean="0">
                <a:solidFill>
                  <a:srgbClr val="CC0000"/>
                </a:solidFill>
              </a:rPr>
              <a:t>oldugu</a:t>
            </a:r>
            <a:r>
              <a:rPr lang="en-US" sz="2400" i="1" dirty="0" smtClean="0">
                <a:solidFill>
                  <a:srgbClr val="CC0000"/>
                </a:solidFill>
              </a:rPr>
              <a:t> </a:t>
            </a:r>
            <a:r>
              <a:rPr lang="en-US" sz="2400" i="1" dirty="0" err="1" smtClean="0">
                <a:solidFill>
                  <a:srgbClr val="CC0000"/>
                </a:solidFill>
              </a:rPr>
              <a:t>ispatlanabilir</a:t>
            </a:r>
            <a:r>
              <a:rPr lang="en-US" sz="2400" dirty="0" smtClean="0"/>
              <a:t>). </a:t>
            </a:r>
            <a:endParaRPr lang="en-US" sz="2400" dirty="0"/>
          </a:p>
          <a:p>
            <a:r>
              <a:rPr lang="en-US" sz="2400" dirty="0"/>
              <a:t>w(</a:t>
            </a:r>
            <a:r>
              <a:rPr lang="en-US" sz="2400" b="1" dirty="0"/>
              <a:t>T’</a:t>
            </a:r>
            <a:r>
              <a:rPr lang="en-US" sz="2400" dirty="0"/>
              <a:t>) </a:t>
            </a:r>
            <a:r>
              <a:rPr lang="en-US" sz="2400" dirty="0" err="1" smtClean="0"/>
              <a:t>kesinlikle</a:t>
            </a:r>
            <a:r>
              <a:rPr lang="en-US" sz="2400" dirty="0" smtClean="0"/>
              <a:t> w(</a:t>
            </a:r>
            <a:r>
              <a:rPr lang="en-US" sz="2400" b="1" dirty="0" smtClean="0"/>
              <a:t>T</a:t>
            </a:r>
            <a:r>
              <a:rPr lang="en-US" sz="2400" dirty="0" smtClean="0"/>
              <a:t>) </a:t>
            </a:r>
            <a:r>
              <a:rPr lang="en-US" sz="2400" dirty="0" err="1" smtClean="0"/>
              <a:t>buyuk</a:t>
            </a:r>
            <a:r>
              <a:rPr lang="en-US" sz="2400" dirty="0" smtClean="0"/>
              <a:t> </a:t>
            </a:r>
            <a:r>
              <a:rPr lang="en-US" sz="2400" dirty="0" err="1" smtClean="0"/>
              <a:t>degildir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 smtClean="0"/>
              <a:t>Bu </a:t>
            </a:r>
            <a:r>
              <a:rPr lang="en-US" sz="2400" dirty="0" err="1" smtClean="0"/>
              <a:t>da</a:t>
            </a:r>
            <a:r>
              <a:rPr lang="en-US" sz="2400" dirty="0" smtClean="0"/>
              <a:t> </a:t>
            </a:r>
            <a:r>
              <a:rPr lang="en-US" sz="2400" dirty="0" err="1" smtClean="0"/>
              <a:t>demek</a:t>
            </a:r>
            <a:r>
              <a:rPr lang="en-US" sz="2400" dirty="0" smtClean="0"/>
              <a:t> </a:t>
            </a:r>
            <a:r>
              <a:rPr lang="en-US" sz="2400" dirty="0" err="1" smtClean="0"/>
              <a:t>ki</a:t>
            </a:r>
            <a:r>
              <a:rPr lang="en-US" sz="2400" dirty="0" smtClean="0"/>
              <a:t> </a:t>
            </a:r>
            <a:r>
              <a:rPr lang="en-US" sz="2400" b="1" dirty="0"/>
              <a:t>T’ </a:t>
            </a:r>
            <a:r>
              <a:rPr lang="en-US" sz="2400" dirty="0" smtClean="0"/>
              <a:t>MST dir.</a:t>
            </a:r>
            <a:endParaRPr lang="en-US" sz="2400" b="1" dirty="0"/>
          </a:p>
          <a:p>
            <a:pPr>
              <a:buFontTx/>
              <a:buNone/>
            </a:pPr>
            <a:r>
              <a:rPr lang="en-US" sz="2400" dirty="0">
                <a:solidFill>
                  <a:srgbClr val="CC0000"/>
                </a:solidFill>
              </a:rPr>
              <a:t>                                                         </a:t>
            </a:r>
            <a:r>
              <a:rPr lang="en-US" sz="2400" dirty="0" smtClean="0">
                <a:solidFill>
                  <a:srgbClr val="CC0000"/>
                </a:solidFill>
              </a:rPr>
              <a:t>...</a:t>
            </a:r>
            <a:r>
              <a:rPr lang="en-US" sz="2400" dirty="0" err="1" smtClean="0">
                <a:solidFill>
                  <a:srgbClr val="CC0000"/>
                </a:solidFill>
              </a:rPr>
              <a:t>Celiski</a:t>
            </a:r>
            <a:endParaRPr lang="en-US" sz="2400" dirty="0">
              <a:solidFill>
                <a:srgbClr val="CC0000"/>
              </a:solidFill>
            </a:endParaRPr>
          </a:p>
          <a:p>
            <a:endParaRPr lang="en-US" sz="2400" dirty="0">
              <a:solidFill>
                <a:srgbClr val="CC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C9E7DABD-2687-4B79-A22B-8E58289FD80A}" type="slidenum">
              <a:rPr lang="en-US"/>
              <a:pPr/>
              <a:t>38</a:t>
            </a:fld>
            <a:endParaRPr 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Baska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Yaklasim</a:t>
            </a:r>
            <a:endParaRPr lang="en-US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295400" y="3733800"/>
            <a:ext cx="2438400" cy="2057400"/>
            <a:chOff x="2160" y="1344"/>
            <a:chExt cx="1536" cy="1296"/>
          </a:xfrm>
        </p:grpSpPr>
        <p:sp>
          <p:nvSpPr>
            <p:cNvPr id="37909" name="Oval 21"/>
            <p:cNvSpPr>
              <a:spLocks noChangeArrowheads="1"/>
            </p:cNvSpPr>
            <p:nvPr/>
          </p:nvSpPr>
          <p:spPr bwMode="auto">
            <a:xfrm>
              <a:off x="2160" y="158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a</a:t>
              </a:r>
            </a:p>
          </p:txBody>
        </p:sp>
        <p:sp>
          <p:nvSpPr>
            <p:cNvPr id="37910" name="Oval 22"/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37911" name="Oval 23"/>
            <p:cNvSpPr>
              <a:spLocks noChangeArrowheads="1"/>
            </p:cNvSpPr>
            <p:nvPr/>
          </p:nvSpPr>
          <p:spPr bwMode="auto">
            <a:xfrm>
              <a:off x="3216" y="225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e</a:t>
              </a:r>
            </a:p>
          </p:txBody>
        </p:sp>
        <p:sp>
          <p:nvSpPr>
            <p:cNvPr id="37912" name="Oval 24"/>
            <p:cNvSpPr>
              <a:spLocks noChangeArrowheads="1"/>
            </p:cNvSpPr>
            <p:nvPr/>
          </p:nvSpPr>
          <p:spPr bwMode="auto">
            <a:xfrm>
              <a:off x="2640" y="172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d</a:t>
              </a:r>
            </a:p>
          </p:txBody>
        </p:sp>
        <p:sp>
          <p:nvSpPr>
            <p:cNvPr id="37913" name="Oval 25"/>
            <p:cNvSpPr>
              <a:spLocks noChangeArrowheads="1"/>
            </p:cNvSpPr>
            <p:nvPr/>
          </p:nvSpPr>
          <p:spPr bwMode="auto">
            <a:xfrm>
              <a:off x="3456" y="139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b</a:t>
              </a:r>
            </a:p>
          </p:txBody>
        </p:sp>
        <p:cxnSp>
          <p:nvCxnSpPr>
            <p:cNvPr id="37914" name="AutoShape 26"/>
            <p:cNvCxnSpPr>
              <a:cxnSpLocks noChangeShapeType="1"/>
              <a:stCxn id="37909" idx="7"/>
              <a:endCxn id="37913" idx="2"/>
            </p:cNvCxnSpPr>
            <p:nvPr/>
          </p:nvCxnSpPr>
          <p:spPr bwMode="auto">
            <a:xfrm flipV="1">
              <a:off x="2365" y="1512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15" name="AutoShape 27"/>
            <p:cNvCxnSpPr>
              <a:cxnSpLocks noChangeShapeType="1"/>
              <a:stCxn id="37912" idx="6"/>
              <a:endCxn id="37913" idx="3"/>
            </p:cNvCxnSpPr>
            <p:nvPr/>
          </p:nvCxnSpPr>
          <p:spPr bwMode="auto">
            <a:xfrm flipV="1">
              <a:off x="2880" y="1597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16" name="AutoShape 28"/>
            <p:cNvCxnSpPr>
              <a:cxnSpLocks noChangeShapeType="1"/>
              <a:stCxn id="37909" idx="4"/>
              <a:endCxn id="37910" idx="0"/>
            </p:cNvCxnSpPr>
            <p:nvPr/>
          </p:nvCxnSpPr>
          <p:spPr bwMode="auto">
            <a:xfrm>
              <a:off x="2280" y="1824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17" name="AutoShape 29"/>
            <p:cNvCxnSpPr>
              <a:cxnSpLocks noChangeShapeType="1"/>
              <a:stCxn id="37909" idx="5"/>
              <a:endCxn id="37912" idx="2"/>
            </p:cNvCxnSpPr>
            <p:nvPr/>
          </p:nvCxnSpPr>
          <p:spPr bwMode="auto">
            <a:xfrm>
              <a:off x="2365" y="1789"/>
              <a:ext cx="275" cy="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18" name="AutoShape 30"/>
            <p:cNvCxnSpPr>
              <a:cxnSpLocks noChangeShapeType="1"/>
              <a:stCxn id="37910" idx="7"/>
              <a:endCxn id="37912" idx="3"/>
            </p:cNvCxnSpPr>
            <p:nvPr/>
          </p:nvCxnSpPr>
          <p:spPr bwMode="auto">
            <a:xfrm flipV="1">
              <a:off x="2509" y="1933"/>
              <a:ext cx="166" cy="5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19" name="AutoShape 31"/>
            <p:cNvCxnSpPr>
              <a:cxnSpLocks noChangeShapeType="1"/>
              <a:stCxn id="37912" idx="5"/>
              <a:endCxn id="37911" idx="1"/>
            </p:cNvCxnSpPr>
            <p:nvPr/>
          </p:nvCxnSpPr>
          <p:spPr bwMode="auto">
            <a:xfrm>
              <a:off x="2845" y="1933"/>
              <a:ext cx="406" cy="35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20" name="AutoShape 32"/>
            <p:cNvCxnSpPr>
              <a:cxnSpLocks noChangeShapeType="1"/>
              <a:stCxn id="37913" idx="4"/>
              <a:endCxn id="37911" idx="0"/>
            </p:cNvCxnSpPr>
            <p:nvPr/>
          </p:nvCxnSpPr>
          <p:spPr bwMode="auto">
            <a:xfrm flipH="1">
              <a:off x="3336" y="1632"/>
              <a:ext cx="240" cy="6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7921" name="AutoShape 33"/>
            <p:cNvCxnSpPr>
              <a:cxnSpLocks noChangeShapeType="1"/>
              <a:stCxn id="37911" idx="2"/>
              <a:endCxn id="37910" idx="6"/>
            </p:cNvCxnSpPr>
            <p:nvPr/>
          </p:nvCxnSpPr>
          <p:spPr bwMode="auto">
            <a:xfrm flipH="1">
              <a:off x="2544" y="2376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7922" name="Text Box 34"/>
            <p:cNvSpPr txBox="1">
              <a:spLocks noChangeArrowheads="1"/>
            </p:cNvSpPr>
            <p:nvPr/>
          </p:nvSpPr>
          <p:spPr bwMode="auto">
            <a:xfrm>
              <a:off x="2438" y="161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2</a:t>
              </a:r>
            </a:p>
          </p:txBody>
        </p:sp>
        <p:sp>
          <p:nvSpPr>
            <p:cNvPr id="37923" name="Text Box 35"/>
            <p:cNvSpPr txBox="1">
              <a:spLocks noChangeArrowheads="1"/>
            </p:cNvSpPr>
            <p:nvPr/>
          </p:nvSpPr>
          <p:spPr bwMode="auto">
            <a:xfrm>
              <a:off x="2448" y="197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37924" name="Text Box 36"/>
            <p:cNvSpPr txBox="1">
              <a:spLocks noChangeArrowheads="1"/>
            </p:cNvSpPr>
            <p:nvPr/>
          </p:nvSpPr>
          <p:spPr bwMode="auto">
            <a:xfrm>
              <a:off x="2172" y="197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37925" name="Text Box 37"/>
            <p:cNvSpPr txBox="1">
              <a:spLocks noChangeArrowheads="1"/>
            </p:cNvSpPr>
            <p:nvPr/>
          </p:nvSpPr>
          <p:spPr bwMode="auto">
            <a:xfrm>
              <a:off x="2780" y="134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9</a:t>
              </a:r>
            </a:p>
          </p:txBody>
        </p:sp>
        <p:sp>
          <p:nvSpPr>
            <p:cNvPr id="37926" name="Text Box 38"/>
            <p:cNvSpPr txBox="1">
              <a:spLocks noChangeArrowheads="1"/>
            </p:cNvSpPr>
            <p:nvPr/>
          </p:nvSpPr>
          <p:spPr bwMode="auto">
            <a:xfrm>
              <a:off x="2972" y="159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6</a:t>
              </a:r>
            </a:p>
          </p:txBody>
        </p:sp>
        <p:sp>
          <p:nvSpPr>
            <p:cNvPr id="37927" name="Text Box 39"/>
            <p:cNvSpPr txBox="1">
              <a:spLocks noChangeArrowheads="1"/>
            </p:cNvSpPr>
            <p:nvPr/>
          </p:nvSpPr>
          <p:spPr bwMode="auto">
            <a:xfrm>
              <a:off x="2972" y="188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37928" name="Text Box 40"/>
            <p:cNvSpPr txBox="1">
              <a:spLocks noChangeArrowheads="1"/>
            </p:cNvSpPr>
            <p:nvPr/>
          </p:nvSpPr>
          <p:spPr bwMode="auto">
            <a:xfrm>
              <a:off x="2780" y="226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37929" name="Text Box 41"/>
            <p:cNvSpPr txBox="1">
              <a:spLocks noChangeArrowheads="1"/>
            </p:cNvSpPr>
            <p:nvPr/>
          </p:nvSpPr>
          <p:spPr bwMode="auto">
            <a:xfrm>
              <a:off x="3456" y="188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</p:grpSp>
      <p:sp>
        <p:nvSpPr>
          <p:cNvPr id="37930" name="Rectangle 42"/>
          <p:cNvSpPr>
            <a:spLocks noChangeArrowheads="1"/>
          </p:cNvSpPr>
          <p:nvPr/>
        </p:nvSpPr>
        <p:spPr bwMode="auto">
          <a:xfrm>
            <a:off x="914400" y="1447800"/>
            <a:ext cx="73152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7013" indent="-227013">
              <a:buFontTx/>
              <a:buChar char="•"/>
            </a:pPr>
            <a:r>
              <a:rPr lang="en-US" sz="2400" dirty="0" err="1" smtClean="0">
                <a:latin typeface="Arial" charset="0"/>
              </a:rPr>
              <a:t>Sadece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baslangicta</a:t>
            </a:r>
            <a:r>
              <a:rPr lang="en-US" sz="2400" dirty="0" smtClean="0">
                <a:latin typeface="Arial" charset="0"/>
              </a:rPr>
              <a:t> node </a:t>
            </a:r>
            <a:r>
              <a:rPr lang="en-US" sz="2400" dirty="0" err="1" smtClean="0">
                <a:latin typeface="Arial" charset="0"/>
              </a:rPr>
              <a:t>lardan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olusan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forest </a:t>
            </a:r>
            <a:r>
              <a:rPr lang="en-US" sz="2400" dirty="0" err="1" smtClean="0">
                <a:latin typeface="Arial" charset="0"/>
              </a:rPr>
              <a:t>olusturalim</a:t>
            </a:r>
            <a:r>
              <a:rPr lang="en-US" sz="2400" dirty="0" smtClean="0">
                <a:latin typeface="Arial" charset="0"/>
              </a:rPr>
              <a:t>.</a:t>
            </a:r>
            <a:endParaRPr lang="en-US" sz="2400" dirty="0">
              <a:latin typeface="Arial" charset="0"/>
            </a:endParaRPr>
          </a:p>
          <a:p>
            <a:pPr marL="227013" indent="-227013">
              <a:buFontTx/>
              <a:buChar char="•"/>
            </a:pPr>
            <a:r>
              <a:rPr lang="en-US" sz="2400" dirty="0" err="1" smtClean="0">
                <a:latin typeface="Arial" charset="0"/>
              </a:rPr>
              <a:t>Surekli</a:t>
            </a:r>
            <a:r>
              <a:rPr lang="en-US" sz="2400" dirty="0" smtClean="0">
                <a:latin typeface="Arial" charset="0"/>
              </a:rPr>
              <a:t> “</a:t>
            </a:r>
            <a:r>
              <a:rPr lang="en-US" sz="2400" dirty="0" err="1" smtClean="0">
                <a:latin typeface="Arial" charset="0"/>
              </a:rPr>
              <a:t>guveni</a:t>
            </a:r>
            <a:r>
              <a:rPr lang="en-US" sz="2400" dirty="0" smtClean="0">
                <a:latin typeface="Arial" charset="0"/>
              </a:rPr>
              <a:t> edge” </a:t>
            </a:r>
            <a:r>
              <a:rPr lang="en-US" sz="2400" dirty="0" err="1" smtClean="0">
                <a:latin typeface="Arial" charset="0"/>
              </a:rPr>
              <a:t>leri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sadece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bir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agac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kalana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kadar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ekleyelim</a:t>
            </a:r>
            <a:endParaRPr lang="en-US" sz="2400" dirty="0">
              <a:latin typeface="Arial" charset="0"/>
            </a:endParaRPr>
          </a:p>
          <a:p>
            <a:pPr marL="227013" indent="-227013">
              <a:buFontTx/>
              <a:buChar char="•"/>
            </a:pPr>
            <a:r>
              <a:rPr lang="en-US" sz="2400" dirty="0" smtClean="0">
                <a:latin typeface="Arial" charset="0"/>
              </a:rPr>
              <a:t>“</a:t>
            </a:r>
            <a:r>
              <a:rPr lang="en-US" sz="2400" dirty="0" err="1" smtClean="0">
                <a:latin typeface="Arial" charset="0"/>
              </a:rPr>
              <a:t>guvenli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>
                <a:latin typeface="Arial" charset="0"/>
              </a:rPr>
              <a:t>edge” </a:t>
            </a:r>
            <a:r>
              <a:rPr lang="en-US" sz="2400" dirty="0" smtClean="0">
                <a:latin typeface="Arial" charset="0"/>
              </a:rPr>
              <a:t>cycle </a:t>
            </a:r>
            <a:r>
              <a:rPr lang="en-US" sz="2400" dirty="0" err="1" smtClean="0">
                <a:latin typeface="Arial" charset="0"/>
              </a:rPr>
              <a:t>olusturmayan</a:t>
            </a:r>
            <a:r>
              <a:rPr lang="en-US" sz="2400" dirty="0" smtClean="0">
                <a:latin typeface="Arial" charset="0"/>
              </a:rPr>
              <a:t> minimum </a:t>
            </a:r>
            <a:r>
              <a:rPr lang="en-US" sz="2400" dirty="0" err="1" smtClean="0">
                <a:latin typeface="Arial" charset="0"/>
              </a:rPr>
              <a:t>degerli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edgedir</a:t>
            </a:r>
            <a:r>
              <a:rPr lang="en-US" sz="2400" dirty="0" smtClean="0">
                <a:latin typeface="Arial" charset="0"/>
              </a:rPr>
              <a:t>.</a:t>
            </a:r>
            <a:endParaRPr lang="en-US" sz="2400" dirty="0">
              <a:latin typeface="Arial" charset="0"/>
            </a:endParaRPr>
          </a:p>
        </p:txBody>
      </p:sp>
      <p:sp>
        <p:nvSpPr>
          <p:cNvPr id="37931" name="Text Box 43"/>
          <p:cNvSpPr txBox="1">
            <a:spLocks noChangeArrowheads="1"/>
          </p:cNvSpPr>
          <p:nvPr/>
        </p:nvSpPr>
        <p:spPr bwMode="auto">
          <a:xfrm>
            <a:off x="4346575" y="4343400"/>
            <a:ext cx="3578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b="1">
                <a:latin typeface="Arial" charset="0"/>
              </a:rPr>
              <a:t>forest:</a:t>
            </a:r>
            <a:r>
              <a:rPr lang="en-US" sz="2400">
                <a:latin typeface="Arial" charset="0"/>
              </a:rPr>
              <a:t> {a}, {b}, {c}, {d}, {e}</a:t>
            </a:r>
            <a:endParaRPr lang="en-US" sz="2000" b="1">
              <a:latin typeface="Arial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9FBC1A60-38EC-4EDA-B63F-5077F1646BBA}" type="slidenum">
              <a:rPr lang="en-US"/>
              <a:pPr/>
              <a:t>39</a:t>
            </a:fld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Kruskal’in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1295400" y="1450975"/>
            <a:ext cx="6553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tabLst>
                <a:tab pos="341313" algn="l"/>
                <a:tab pos="681038" algn="l"/>
              </a:tabLst>
            </a:pPr>
            <a:r>
              <a:rPr lang="en-US" sz="2400" b="1" dirty="0" err="1" smtClean="0">
                <a:latin typeface="Arial" charset="0"/>
              </a:rPr>
              <a:t>Baslangicta</a:t>
            </a:r>
            <a:endParaRPr lang="en-US" sz="2400" b="1" dirty="0">
              <a:latin typeface="Arial" charset="0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a. 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Her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bir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vertex(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dugum,node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)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icin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i="1" dirty="0"/>
              <a:t>v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b="1" i="1" dirty="0" smtClean="0">
                <a:sym typeface="Symbol" pitchFamily="18" charset="2"/>
              </a:rPr>
              <a:t>V </a:t>
            </a:r>
            <a:r>
              <a:rPr lang="en-US" sz="2400" dirty="0" err="1" smtClean="0">
                <a:latin typeface="+mj-lt"/>
                <a:sym typeface="Symbol" pitchFamily="18" charset="2"/>
              </a:rPr>
              <a:t>olan</a:t>
            </a:r>
            <a:r>
              <a:rPr lang="en-US" sz="2400" dirty="0" smtClean="0">
                <a:latin typeface="+mj-lt"/>
                <a:sym typeface="Symbol" pitchFamily="18" charset="2"/>
              </a:rPr>
              <a:t> </a:t>
            </a:r>
            <a:r>
              <a:rPr lang="en-US" sz="2400" dirty="0" err="1" smtClean="0">
                <a:latin typeface="+mj-lt"/>
                <a:sym typeface="Symbol" pitchFamily="18" charset="2"/>
              </a:rPr>
              <a:t>bir</a:t>
            </a:r>
            <a:r>
              <a:rPr lang="en-US" sz="2400" dirty="0" smtClean="0">
                <a:latin typeface="+mj-lt"/>
                <a:sym typeface="Symbol" pitchFamily="18" charset="2"/>
              </a:rPr>
              <a:t> </a:t>
            </a:r>
            <a:r>
              <a:rPr lang="en-US" sz="2400" dirty="0" err="1" smtClean="0">
                <a:latin typeface="+mj-lt"/>
                <a:sym typeface="Symbol" pitchFamily="18" charset="2"/>
              </a:rPr>
              <a:t>kume</a:t>
            </a:r>
            <a:r>
              <a:rPr lang="en-US" sz="2400" dirty="0" smtClean="0">
                <a:latin typeface="+mj-lt"/>
                <a:sym typeface="Symbol" pitchFamily="18" charset="2"/>
              </a:rPr>
              <a:t> </a:t>
            </a:r>
            <a:r>
              <a:rPr lang="en-US" sz="2400" dirty="0" err="1" smtClean="0">
                <a:latin typeface="+mj-lt"/>
                <a:sym typeface="Symbol" pitchFamily="18" charset="2"/>
              </a:rPr>
              <a:t>olsutur</a:t>
            </a:r>
            <a:r>
              <a:rPr lang="en-US" sz="2400" dirty="0">
                <a:latin typeface="+mj-lt"/>
                <a:sym typeface="Symbol" pitchFamily="18" charset="2"/>
              </a:rPr>
              <a:t>.</a:t>
            </a: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b="1" i="1" dirty="0"/>
              <a:t>	</a:t>
            </a:r>
            <a:r>
              <a:rPr lang="en-US" sz="2400" dirty="0">
                <a:latin typeface="Arial" charset="0"/>
                <a:sym typeface="Symbol" pitchFamily="18" charset="2"/>
              </a:rPr>
              <a:t>b. 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MST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yi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belirtecek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olan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A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kumesini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temizle</a:t>
            </a: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c.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Edgeleri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artan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sirada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sirala</a:t>
            </a:r>
            <a:endParaRPr lang="en-US" sz="2400" dirty="0">
              <a:latin typeface="Arial" charset="0"/>
              <a:sym typeface="Symbol" pitchFamily="18" charset="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295400" y="3733800"/>
            <a:ext cx="2438400" cy="2057400"/>
            <a:chOff x="2160" y="1344"/>
            <a:chExt cx="1536" cy="1296"/>
          </a:xfrm>
        </p:grpSpPr>
        <p:sp>
          <p:nvSpPr>
            <p:cNvPr id="36870" name="Oval 6"/>
            <p:cNvSpPr>
              <a:spLocks noChangeArrowheads="1"/>
            </p:cNvSpPr>
            <p:nvPr/>
          </p:nvSpPr>
          <p:spPr bwMode="auto">
            <a:xfrm>
              <a:off x="2160" y="1584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a</a:t>
              </a:r>
            </a:p>
          </p:txBody>
        </p:sp>
        <p:sp>
          <p:nvSpPr>
            <p:cNvPr id="36871" name="Oval 7"/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c</a:t>
              </a:r>
            </a:p>
          </p:txBody>
        </p:sp>
        <p:sp>
          <p:nvSpPr>
            <p:cNvPr id="36872" name="Oval 8"/>
            <p:cNvSpPr>
              <a:spLocks noChangeArrowheads="1"/>
            </p:cNvSpPr>
            <p:nvPr/>
          </p:nvSpPr>
          <p:spPr bwMode="auto">
            <a:xfrm>
              <a:off x="3216" y="2256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e</a:t>
              </a:r>
            </a:p>
          </p:txBody>
        </p:sp>
        <p:sp>
          <p:nvSpPr>
            <p:cNvPr id="36873" name="Oval 9"/>
            <p:cNvSpPr>
              <a:spLocks noChangeArrowheads="1"/>
            </p:cNvSpPr>
            <p:nvPr/>
          </p:nvSpPr>
          <p:spPr bwMode="auto">
            <a:xfrm>
              <a:off x="2640" y="1728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d</a:t>
              </a:r>
            </a:p>
          </p:txBody>
        </p:sp>
        <p:sp>
          <p:nvSpPr>
            <p:cNvPr id="36874" name="Oval 10"/>
            <p:cNvSpPr>
              <a:spLocks noChangeArrowheads="1"/>
            </p:cNvSpPr>
            <p:nvPr/>
          </p:nvSpPr>
          <p:spPr bwMode="auto">
            <a:xfrm>
              <a:off x="3456" y="1392"/>
              <a:ext cx="240" cy="24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Arial" charset="0"/>
                </a:rPr>
                <a:t>b</a:t>
              </a:r>
            </a:p>
          </p:txBody>
        </p:sp>
        <p:cxnSp>
          <p:nvCxnSpPr>
            <p:cNvPr id="36875" name="AutoShape 11"/>
            <p:cNvCxnSpPr>
              <a:cxnSpLocks noChangeShapeType="1"/>
              <a:stCxn id="36870" idx="7"/>
              <a:endCxn id="36874" idx="2"/>
            </p:cNvCxnSpPr>
            <p:nvPr/>
          </p:nvCxnSpPr>
          <p:spPr bwMode="auto">
            <a:xfrm flipV="1">
              <a:off x="2365" y="1512"/>
              <a:ext cx="1091" cy="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876" name="AutoShape 12"/>
            <p:cNvCxnSpPr>
              <a:cxnSpLocks noChangeShapeType="1"/>
              <a:stCxn id="36873" idx="6"/>
              <a:endCxn id="36874" idx="3"/>
            </p:cNvCxnSpPr>
            <p:nvPr/>
          </p:nvCxnSpPr>
          <p:spPr bwMode="auto">
            <a:xfrm flipV="1">
              <a:off x="2880" y="1597"/>
              <a:ext cx="611" cy="2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877" name="AutoShape 13"/>
            <p:cNvCxnSpPr>
              <a:cxnSpLocks noChangeShapeType="1"/>
              <a:stCxn id="36870" idx="4"/>
              <a:endCxn id="36871" idx="0"/>
            </p:cNvCxnSpPr>
            <p:nvPr/>
          </p:nvCxnSpPr>
          <p:spPr bwMode="auto">
            <a:xfrm>
              <a:off x="2280" y="1824"/>
              <a:ext cx="144" cy="57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878" name="AutoShape 14"/>
            <p:cNvCxnSpPr>
              <a:cxnSpLocks noChangeShapeType="1"/>
              <a:stCxn id="36870" idx="5"/>
              <a:endCxn id="36873" idx="2"/>
            </p:cNvCxnSpPr>
            <p:nvPr/>
          </p:nvCxnSpPr>
          <p:spPr bwMode="auto">
            <a:xfrm>
              <a:off x="2365" y="1789"/>
              <a:ext cx="275" cy="5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879" name="AutoShape 15"/>
            <p:cNvCxnSpPr>
              <a:cxnSpLocks noChangeShapeType="1"/>
              <a:stCxn id="36871" idx="7"/>
              <a:endCxn id="36873" idx="3"/>
            </p:cNvCxnSpPr>
            <p:nvPr/>
          </p:nvCxnSpPr>
          <p:spPr bwMode="auto">
            <a:xfrm flipV="1">
              <a:off x="2509" y="1933"/>
              <a:ext cx="166" cy="5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880" name="AutoShape 16"/>
            <p:cNvCxnSpPr>
              <a:cxnSpLocks noChangeShapeType="1"/>
              <a:stCxn id="36873" idx="5"/>
              <a:endCxn id="36872" idx="1"/>
            </p:cNvCxnSpPr>
            <p:nvPr/>
          </p:nvCxnSpPr>
          <p:spPr bwMode="auto">
            <a:xfrm>
              <a:off x="2845" y="1933"/>
              <a:ext cx="406" cy="35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881" name="AutoShape 17"/>
            <p:cNvCxnSpPr>
              <a:cxnSpLocks noChangeShapeType="1"/>
              <a:stCxn id="36874" idx="4"/>
              <a:endCxn id="36872" idx="0"/>
            </p:cNvCxnSpPr>
            <p:nvPr/>
          </p:nvCxnSpPr>
          <p:spPr bwMode="auto">
            <a:xfrm flipH="1">
              <a:off x="3336" y="1632"/>
              <a:ext cx="240" cy="6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6882" name="AutoShape 18"/>
            <p:cNvCxnSpPr>
              <a:cxnSpLocks noChangeShapeType="1"/>
              <a:stCxn id="36872" idx="2"/>
              <a:endCxn id="36871" idx="6"/>
            </p:cNvCxnSpPr>
            <p:nvPr/>
          </p:nvCxnSpPr>
          <p:spPr bwMode="auto">
            <a:xfrm flipH="1">
              <a:off x="2544" y="2376"/>
              <a:ext cx="672" cy="14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6883" name="Text Box 19"/>
            <p:cNvSpPr txBox="1">
              <a:spLocks noChangeArrowheads="1"/>
            </p:cNvSpPr>
            <p:nvPr/>
          </p:nvSpPr>
          <p:spPr bwMode="auto">
            <a:xfrm>
              <a:off x="2438" y="161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2</a:t>
              </a:r>
            </a:p>
          </p:txBody>
        </p:sp>
        <p:sp>
          <p:nvSpPr>
            <p:cNvPr id="36884" name="Text Box 20"/>
            <p:cNvSpPr txBox="1">
              <a:spLocks noChangeArrowheads="1"/>
            </p:cNvSpPr>
            <p:nvPr/>
          </p:nvSpPr>
          <p:spPr bwMode="auto">
            <a:xfrm>
              <a:off x="2448" y="197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36885" name="Text Box 21"/>
            <p:cNvSpPr txBox="1">
              <a:spLocks noChangeArrowheads="1"/>
            </p:cNvSpPr>
            <p:nvPr/>
          </p:nvSpPr>
          <p:spPr bwMode="auto">
            <a:xfrm>
              <a:off x="2172" y="197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36886" name="Text Box 22"/>
            <p:cNvSpPr txBox="1">
              <a:spLocks noChangeArrowheads="1"/>
            </p:cNvSpPr>
            <p:nvPr/>
          </p:nvSpPr>
          <p:spPr bwMode="auto">
            <a:xfrm>
              <a:off x="2780" y="134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9</a:t>
              </a:r>
            </a:p>
          </p:txBody>
        </p:sp>
        <p:sp>
          <p:nvSpPr>
            <p:cNvPr id="36887" name="Text Box 23"/>
            <p:cNvSpPr txBox="1">
              <a:spLocks noChangeArrowheads="1"/>
            </p:cNvSpPr>
            <p:nvPr/>
          </p:nvSpPr>
          <p:spPr bwMode="auto">
            <a:xfrm>
              <a:off x="2972" y="159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6</a:t>
              </a:r>
            </a:p>
          </p:txBody>
        </p:sp>
        <p:sp>
          <p:nvSpPr>
            <p:cNvPr id="36888" name="Text Box 24"/>
            <p:cNvSpPr txBox="1">
              <a:spLocks noChangeArrowheads="1"/>
            </p:cNvSpPr>
            <p:nvPr/>
          </p:nvSpPr>
          <p:spPr bwMode="auto">
            <a:xfrm>
              <a:off x="2972" y="188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4</a:t>
              </a:r>
            </a:p>
          </p:txBody>
        </p:sp>
        <p:sp>
          <p:nvSpPr>
            <p:cNvPr id="36889" name="Text Box 25"/>
            <p:cNvSpPr txBox="1">
              <a:spLocks noChangeArrowheads="1"/>
            </p:cNvSpPr>
            <p:nvPr/>
          </p:nvSpPr>
          <p:spPr bwMode="auto">
            <a:xfrm>
              <a:off x="2780" y="226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  <p:sp>
          <p:nvSpPr>
            <p:cNvPr id="36890" name="Text Box 26"/>
            <p:cNvSpPr txBox="1">
              <a:spLocks noChangeArrowheads="1"/>
            </p:cNvSpPr>
            <p:nvPr/>
          </p:nvSpPr>
          <p:spPr bwMode="auto">
            <a:xfrm>
              <a:off x="3456" y="188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b="1">
                  <a:latin typeface="Arial" charset="0"/>
                </a:rPr>
                <a:t>5</a:t>
              </a:r>
            </a:p>
          </p:txBody>
        </p:sp>
      </p:grpSp>
      <p:sp>
        <p:nvSpPr>
          <p:cNvPr id="36905" name="Text Box 41"/>
          <p:cNvSpPr txBox="1">
            <a:spLocks noChangeArrowheads="1"/>
          </p:cNvSpPr>
          <p:nvPr/>
        </p:nvSpPr>
        <p:spPr bwMode="auto">
          <a:xfrm>
            <a:off x="4267200" y="4056063"/>
            <a:ext cx="39687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400" b="1" i="1"/>
              <a:t>F = </a:t>
            </a:r>
            <a:r>
              <a:rPr lang="en-US" sz="2400">
                <a:latin typeface="Arial" charset="0"/>
              </a:rPr>
              <a:t>{a}, {b}, {c}, {d}, {e}</a:t>
            </a:r>
          </a:p>
          <a:p>
            <a:r>
              <a:rPr lang="en-US" sz="2400" b="1" i="1"/>
              <a:t>A </a:t>
            </a:r>
            <a:r>
              <a:rPr lang="en-US" sz="2400" b="1"/>
              <a:t>=</a:t>
            </a:r>
            <a:r>
              <a:rPr lang="en-US" sz="2400">
                <a:latin typeface="Arial" charset="0"/>
              </a:rPr>
              <a:t> </a:t>
            </a:r>
            <a:r>
              <a:rPr lang="en-US" sz="2400">
                <a:latin typeface="Arial" charset="0"/>
                <a:sym typeface="Symbol" pitchFamily="18" charset="2"/>
              </a:rPr>
              <a:t></a:t>
            </a:r>
            <a:endParaRPr lang="en-US" sz="2400">
              <a:latin typeface="Arial" charset="0"/>
            </a:endParaRPr>
          </a:p>
          <a:p>
            <a:r>
              <a:rPr lang="en-US" sz="2400" b="1" i="1"/>
              <a:t>E </a:t>
            </a:r>
            <a:r>
              <a:rPr lang="en-US" sz="2400" b="1"/>
              <a:t>=</a:t>
            </a:r>
            <a:r>
              <a:rPr lang="en-US" sz="2400">
                <a:latin typeface="Arial" charset="0"/>
              </a:rPr>
              <a:t> {(a,d), (c,d), (d,e), (a,c), </a:t>
            </a:r>
          </a:p>
          <a:p>
            <a:r>
              <a:rPr lang="en-US" sz="2400">
                <a:latin typeface="Arial" charset="0"/>
              </a:rPr>
              <a:t>       (b,e), (c,e), (b,d), (a,b)}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41F7F91B-B640-4A8D-B0B1-A055947EE94B}" type="slidenum">
              <a:rPr lang="en-US"/>
              <a:pPr/>
              <a:t>40</a:t>
            </a:fld>
            <a:endParaRPr lang="en-US"/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Kruskal’in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942975" y="974725"/>
            <a:ext cx="6858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tabLst>
                <a:tab pos="341313" algn="l"/>
                <a:tab pos="681038" algn="l"/>
              </a:tabLst>
            </a:pPr>
            <a:r>
              <a:rPr lang="en-US" sz="2400" b="1" dirty="0" err="1" smtClean="0">
                <a:latin typeface="Arial" charset="0"/>
              </a:rPr>
              <a:t>Tum</a:t>
            </a:r>
            <a:r>
              <a:rPr lang="en-US" sz="2400" b="1" dirty="0" smtClean="0">
                <a:latin typeface="Arial" charset="0"/>
              </a:rPr>
              <a:t> edge</a:t>
            </a:r>
            <a:r>
              <a:rPr lang="en-US" sz="2400" dirty="0" smtClean="0"/>
              <a:t>(</a:t>
            </a:r>
            <a:r>
              <a:rPr lang="en-US" sz="2400" b="1" i="1" dirty="0" err="1" smtClean="0"/>
              <a:t>u,v</a:t>
            </a:r>
            <a:r>
              <a:rPr lang="en-US" sz="2400" dirty="0"/>
              <a:t>)</a:t>
            </a:r>
            <a:r>
              <a:rPr lang="en-US" sz="2400" b="1" i="1" dirty="0"/>
              <a:t>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i="1" dirty="0">
                <a:sym typeface="Symbol" pitchFamily="18" charset="2"/>
              </a:rPr>
              <a:t> E</a:t>
            </a:r>
            <a:r>
              <a:rPr lang="en-US" sz="2400" b="1" dirty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agirliklarina</a:t>
            </a:r>
            <a:r>
              <a:rPr lang="en-US" sz="2400" b="1" dirty="0" smtClean="0">
                <a:latin typeface="Arial" charset="0"/>
              </a:rPr>
              <a:t> gore </a:t>
            </a:r>
            <a:r>
              <a:rPr lang="en-US" sz="2400" b="1" dirty="0" err="1" smtClean="0">
                <a:latin typeface="Arial" charset="0"/>
              </a:rPr>
              <a:t>artan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sirada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bir</a:t>
            </a:r>
            <a:r>
              <a:rPr lang="en-US" sz="2400" b="1" dirty="0" smtClean="0">
                <a:latin typeface="Arial" charset="0"/>
              </a:rPr>
              <a:t> den </a:t>
            </a:r>
            <a:r>
              <a:rPr lang="en-US" sz="2400" b="1" dirty="0" err="1" smtClean="0">
                <a:latin typeface="Arial" charset="0"/>
              </a:rPr>
              <a:t>fazla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agac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oldugu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surece</a:t>
            </a:r>
            <a:r>
              <a:rPr lang="en-US" sz="2400" b="1" dirty="0" smtClean="0">
                <a:latin typeface="Arial" charset="0"/>
              </a:rPr>
              <a:t> </a:t>
            </a:r>
            <a:r>
              <a:rPr lang="en-US" sz="2400" b="1" dirty="0" err="1" smtClean="0">
                <a:latin typeface="Arial" charset="0"/>
              </a:rPr>
              <a:t>incele</a:t>
            </a:r>
            <a:r>
              <a:rPr lang="en-US" sz="2400" b="1" dirty="0" smtClean="0">
                <a:latin typeface="Arial" charset="0"/>
              </a:rPr>
              <a:t>:</a:t>
            </a:r>
            <a:endParaRPr lang="en-US" sz="2400" b="1" dirty="0">
              <a:latin typeface="Arial" charset="0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Eger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i="1" dirty="0"/>
              <a:t>u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ve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i="1" dirty="0"/>
              <a:t>v</a:t>
            </a:r>
            <a:r>
              <a:rPr lang="en-US" sz="2400" dirty="0">
                <a:latin typeface="Arial" charset="0"/>
                <a:sym typeface="Symbol" pitchFamily="18" charset="2"/>
              </a:rPr>
              <a:t>,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smtClean="0">
                <a:latin typeface="Arial" charset="0"/>
              </a:rPr>
              <a:t>forest </a:t>
            </a:r>
            <a:r>
              <a:rPr lang="en-US" sz="2400" dirty="0" err="1" smtClean="0">
                <a:latin typeface="Arial" charset="0"/>
              </a:rPr>
              <a:t>daki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farkli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agaclarin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icinde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ise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mesela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i="1" dirty="0" smtClean="0"/>
              <a:t>U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ve</a:t>
            </a:r>
            <a:r>
              <a:rPr lang="en-US" sz="2400" b="1" i="1" dirty="0" smtClean="0"/>
              <a:t> </a:t>
            </a:r>
            <a:r>
              <a:rPr lang="en-US" sz="2400" b="1" i="1" dirty="0"/>
              <a:t>V</a:t>
            </a:r>
            <a:endParaRPr lang="en-US" sz="2400" dirty="0">
              <a:latin typeface="Arial" charset="0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</a:rPr>
              <a:t>	 	a. </a:t>
            </a:r>
            <a:r>
              <a:rPr lang="en-US" sz="2400" dirty="0" err="1" smtClean="0">
                <a:latin typeface="Arial" charset="0"/>
              </a:rPr>
              <a:t>ekle</a:t>
            </a:r>
            <a:r>
              <a:rPr lang="en-US" sz="2400" dirty="0" smtClean="0">
                <a:latin typeface="Arial" charset="0"/>
              </a:rPr>
              <a:t> edge </a:t>
            </a:r>
            <a:r>
              <a:rPr lang="en-US" sz="2400" dirty="0"/>
              <a:t>(</a:t>
            </a:r>
            <a:r>
              <a:rPr lang="en-US" sz="2400" b="1" i="1" dirty="0" err="1"/>
              <a:t>u,v</a:t>
            </a:r>
            <a:r>
              <a:rPr lang="en-US" sz="2400" dirty="0"/>
              <a:t>) </a:t>
            </a:r>
            <a:r>
              <a:rPr lang="en-US" sz="2400" dirty="0" err="1" smtClean="0"/>
              <a:t>yi</a:t>
            </a:r>
            <a:r>
              <a:rPr lang="en-US" sz="2400" dirty="0" smtClean="0"/>
              <a:t> </a:t>
            </a:r>
            <a:r>
              <a:rPr lang="en-US" sz="2400" dirty="0" err="1" smtClean="0">
                <a:latin typeface="Arial" charset="0"/>
              </a:rPr>
              <a:t>guvenli</a:t>
            </a:r>
            <a:r>
              <a:rPr lang="en-US" sz="2400" dirty="0" smtClean="0">
                <a:latin typeface="Arial" charset="0"/>
              </a:rPr>
              <a:t> edge </a:t>
            </a:r>
            <a:r>
              <a:rPr lang="en-US" sz="2400" dirty="0" err="1" smtClean="0">
                <a:latin typeface="Arial" charset="0"/>
              </a:rPr>
              <a:t>kumesine</a:t>
            </a:r>
            <a:r>
              <a:rPr lang="en-US" sz="2400" dirty="0" smtClean="0"/>
              <a:t> </a:t>
            </a:r>
            <a:endParaRPr lang="en-US" sz="2400" dirty="0"/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/>
              <a:t>			 </a:t>
            </a:r>
            <a:r>
              <a:rPr lang="en-US" sz="2400" b="1" i="1" dirty="0">
                <a:sym typeface="Symbol" pitchFamily="18" charset="2"/>
              </a:rPr>
              <a:t>A = A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>
                <a:latin typeface="Arial" charset="0"/>
                <a:sym typeface="Symbol" pitchFamily="18" charset="2"/>
              </a:rPr>
              <a:t> </a:t>
            </a:r>
            <a:r>
              <a:rPr lang="en-US" sz="2400" dirty="0">
                <a:sym typeface="Symbol" pitchFamily="18" charset="2"/>
              </a:rPr>
              <a:t>{</a:t>
            </a:r>
            <a:r>
              <a:rPr lang="en-US" sz="2400" dirty="0"/>
              <a:t>(</a:t>
            </a:r>
            <a:r>
              <a:rPr lang="en-US" sz="2400" b="1" i="1" dirty="0" err="1"/>
              <a:t>u,v</a:t>
            </a:r>
            <a:r>
              <a:rPr lang="en-US" sz="2400" dirty="0"/>
              <a:t>)}</a:t>
            </a:r>
            <a:endParaRPr lang="en-US" sz="2400" dirty="0">
              <a:latin typeface="Arial" charset="0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dirty="0">
                <a:latin typeface="Arial" charset="0"/>
                <a:sym typeface="Symbol" pitchFamily="18" charset="2"/>
              </a:rPr>
              <a:t>	 	b. </a:t>
            </a:r>
            <a:r>
              <a:rPr lang="en-US" sz="2400" b="1" i="1" dirty="0" smtClean="0">
                <a:sym typeface="Symbol" pitchFamily="18" charset="2"/>
              </a:rPr>
              <a:t>U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dirty="0" err="1" smtClean="0">
                <a:latin typeface="Arial" charset="0"/>
                <a:sym typeface="Symbol" pitchFamily="18" charset="2"/>
              </a:rPr>
              <a:t>ve</a:t>
            </a:r>
            <a:r>
              <a:rPr lang="en-US" sz="2400" dirty="0" smtClean="0">
                <a:latin typeface="Arial" charset="0"/>
                <a:sym typeface="Symbol" pitchFamily="18" charset="2"/>
              </a:rPr>
              <a:t> </a:t>
            </a:r>
            <a:r>
              <a:rPr lang="en-US" sz="2400" b="1" i="1" dirty="0" smtClean="0">
                <a:sym typeface="Symbol" pitchFamily="18" charset="2"/>
              </a:rPr>
              <a:t>V </a:t>
            </a:r>
            <a:r>
              <a:rPr lang="en-US" sz="2400" dirty="0" err="1" smtClean="0">
                <a:latin typeface="+mj-lt"/>
                <a:sym typeface="Symbol" pitchFamily="18" charset="2"/>
              </a:rPr>
              <a:t>kumelerini</a:t>
            </a:r>
            <a:r>
              <a:rPr lang="en-US" sz="2400" dirty="0" smtClean="0">
                <a:latin typeface="+mj-lt"/>
                <a:sym typeface="Symbol" pitchFamily="18" charset="2"/>
              </a:rPr>
              <a:t> </a:t>
            </a:r>
            <a:r>
              <a:rPr lang="en-US" sz="2400" dirty="0" err="1" smtClean="0">
                <a:latin typeface="+mj-lt"/>
                <a:sym typeface="Symbol" pitchFamily="18" charset="2"/>
              </a:rPr>
              <a:t>birlestir</a:t>
            </a:r>
            <a:r>
              <a:rPr lang="en-US" sz="2400" dirty="0" smtClean="0">
                <a:latin typeface="+mj-lt"/>
                <a:sym typeface="Symbol" pitchFamily="18" charset="2"/>
              </a:rPr>
              <a:t>.</a:t>
            </a:r>
            <a:endParaRPr lang="en-US" sz="2400" dirty="0">
              <a:latin typeface="+mj-lt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b="1" i="1" dirty="0"/>
              <a:t>			 F = F</a:t>
            </a:r>
            <a:r>
              <a:rPr lang="en-US" sz="2400" dirty="0"/>
              <a:t> - </a:t>
            </a:r>
            <a:r>
              <a:rPr lang="en-US" sz="2400" b="1" i="1" dirty="0"/>
              <a:t>U</a:t>
            </a:r>
            <a:r>
              <a:rPr lang="en-US" sz="2400" dirty="0"/>
              <a:t> - </a:t>
            </a:r>
            <a:r>
              <a:rPr lang="en-US" sz="2400" b="1" i="1" dirty="0"/>
              <a:t>V + </a:t>
            </a:r>
            <a:r>
              <a:rPr lang="en-US" sz="2400" dirty="0"/>
              <a:t>(</a:t>
            </a:r>
            <a:r>
              <a:rPr lang="en-US" sz="2400" b="1" i="1" dirty="0"/>
              <a:t>U </a:t>
            </a:r>
            <a:r>
              <a:rPr lang="en-US" sz="2400" dirty="0">
                <a:latin typeface="Arial" charset="0"/>
                <a:sym typeface="Symbol" pitchFamily="18" charset="2"/>
              </a:rPr>
              <a:t></a:t>
            </a:r>
            <a:r>
              <a:rPr lang="en-US" sz="2400" b="1" i="1" dirty="0"/>
              <a:t> V</a:t>
            </a:r>
            <a:r>
              <a:rPr lang="en-US" sz="2400" dirty="0" smtClean="0"/>
              <a:t>)</a:t>
            </a:r>
            <a:endParaRPr lang="en-US" sz="2400" b="1" dirty="0">
              <a:latin typeface="Arial" charset="0"/>
            </a:endParaRPr>
          </a:p>
          <a:p>
            <a:pPr>
              <a:tabLst>
                <a:tab pos="341313" algn="l"/>
                <a:tab pos="681038" algn="l"/>
              </a:tabLst>
            </a:pPr>
            <a:r>
              <a:rPr lang="en-US" sz="2400" b="1" dirty="0">
                <a:latin typeface="Arial" charset="0"/>
              </a:rPr>
              <a:t>Return </a:t>
            </a:r>
            <a:r>
              <a:rPr lang="en-US" sz="2400" b="1" i="1" dirty="0"/>
              <a:t>A</a:t>
            </a:r>
          </a:p>
        </p:txBody>
      </p:sp>
      <p:sp>
        <p:nvSpPr>
          <p:cNvPr id="124955" name="Rectangle 27"/>
          <p:cNvSpPr>
            <a:spLocks noGrp="1" noChangeArrowheads="1"/>
          </p:cNvSpPr>
          <p:nvPr>
            <p:ph type="body" idx="1"/>
          </p:nvPr>
        </p:nvSpPr>
        <p:spPr>
          <a:xfrm>
            <a:off x="600075" y="4857750"/>
            <a:ext cx="7924800" cy="1371600"/>
          </a:xfrm>
          <a:noFill/>
          <a:ln/>
        </p:spPr>
        <p:txBody>
          <a:bodyPr/>
          <a:lstStyle/>
          <a:p>
            <a:r>
              <a:rPr lang="en-US" sz="2400" dirty="0" err="1" smtClean="0"/>
              <a:t>Calisma</a:t>
            </a:r>
            <a:r>
              <a:rPr lang="en-US" sz="2400" dirty="0" smtClean="0"/>
              <a:t> </a:t>
            </a:r>
            <a:r>
              <a:rPr lang="en-US" sz="2400" dirty="0" err="1" smtClean="0"/>
              <a:t>zamani</a:t>
            </a:r>
            <a:r>
              <a:rPr lang="en-US" sz="2400" dirty="0" smtClean="0"/>
              <a:t> </a:t>
            </a:r>
            <a:r>
              <a:rPr lang="en-US" sz="2400" dirty="0" err="1" smtClean="0"/>
              <a:t>guvenli</a:t>
            </a:r>
            <a:r>
              <a:rPr lang="en-US" sz="2400" dirty="0" smtClean="0"/>
              <a:t> edge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bulmaya</a:t>
            </a:r>
            <a:r>
              <a:rPr lang="en-US" sz="2400" dirty="0" smtClean="0"/>
              <a:t> </a:t>
            </a:r>
            <a:r>
              <a:rPr lang="en-US" sz="2400" dirty="0" err="1" smtClean="0"/>
              <a:t>bagli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err="1" smtClean="0"/>
              <a:t>siralama</a:t>
            </a:r>
            <a:r>
              <a:rPr lang="en-US" sz="2400" dirty="0" smtClean="0"/>
              <a:t> </a:t>
            </a:r>
            <a:r>
              <a:rPr lang="en-US" sz="2400" dirty="0" err="1" smtClean="0"/>
              <a:t>veya</a:t>
            </a:r>
            <a:r>
              <a:rPr lang="en-US" sz="2400" dirty="0" smtClean="0"/>
              <a:t> </a:t>
            </a:r>
            <a:r>
              <a:rPr lang="en-US" sz="2400" dirty="0" err="1"/>
              <a:t>findMin</a:t>
            </a:r>
            <a:r>
              <a:rPr lang="en-US" sz="2400" dirty="0"/>
              <a:t>)</a:t>
            </a:r>
          </a:p>
          <a:p>
            <a:r>
              <a:rPr lang="en-US" sz="2400" dirty="0"/>
              <a:t>O(</a:t>
            </a:r>
            <a:r>
              <a:rPr lang="en-US" sz="2400" b="1" dirty="0">
                <a:latin typeface="Times New Roman" pitchFamily="18" charset="0"/>
              </a:rPr>
              <a:t>|</a:t>
            </a:r>
            <a:r>
              <a:rPr lang="en-US" sz="2400" b="1" i="1" dirty="0" err="1">
                <a:latin typeface="Times New Roman" pitchFamily="18" charset="0"/>
              </a:rPr>
              <a:t>E</a:t>
            </a:r>
            <a:r>
              <a:rPr lang="en-US" sz="2400" b="1" dirty="0" err="1">
                <a:latin typeface="Times New Roman" pitchFamily="18" charset="0"/>
              </a:rPr>
              <a:t>|log|</a:t>
            </a:r>
            <a:r>
              <a:rPr lang="en-US" sz="2400" b="1" i="1" dirty="0" err="1">
                <a:latin typeface="Times New Roman" pitchFamily="18" charset="0"/>
              </a:rPr>
              <a:t>E</a:t>
            </a:r>
            <a:r>
              <a:rPr lang="en-US" sz="2400" b="1" dirty="0" smtClean="0">
                <a:latin typeface="Times New Roman" pitchFamily="18" charset="0"/>
              </a:rPr>
              <a:t>|</a:t>
            </a:r>
            <a:r>
              <a:rPr lang="en-US" sz="2400" dirty="0" smtClean="0"/>
              <a:t>) </a:t>
            </a:r>
            <a:r>
              <a:rPr lang="en-US" sz="2400" dirty="0" err="1" smtClean="0"/>
              <a:t>veya</a:t>
            </a:r>
            <a:r>
              <a:rPr lang="en-US" sz="2400" dirty="0" smtClean="0"/>
              <a:t> </a:t>
            </a:r>
            <a:r>
              <a:rPr lang="en-US" sz="2400" dirty="0"/>
              <a:t>O(</a:t>
            </a:r>
            <a:r>
              <a:rPr lang="en-US" sz="2400" b="1" dirty="0">
                <a:latin typeface="Times New Roman" pitchFamily="18" charset="0"/>
              </a:rPr>
              <a:t>|</a:t>
            </a:r>
            <a:r>
              <a:rPr lang="en-US" sz="2400" b="1" i="1" dirty="0" err="1">
                <a:latin typeface="Times New Roman" pitchFamily="18" charset="0"/>
              </a:rPr>
              <a:t>E</a:t>
            </a:r>
            <a:r>
              <a:rPr lang="en-US" sz="2400" b="1" dirty="0" err="1">
                <a:latin typeface="Times New Roman" pitchFamily="18" charset="0"/>
              </a:rPr>
              <a:t>|log|</a:t>
            </a:r>
            <a:r>
              <a:rPr lang="en-US" sz="2400" b="1" i="1" dirty="0" err="1">
                <a:latin typeface="Times New Roman" pitchFamily="18" charset="0"/>
              </a:rPr>
              <a:t>V</a:t>
            </a:r>
            <a:r>
              <a:rPr lang="en-US" sz="2400" b="1" dirty="0">
                <a:latin typeface="Times New Roman" pitchFamily="18" charset="0"/>
              </a:rPr>
              <a:t>|</a:t>
            </a:r>
            <a:r>
              <a:rPr lang="en-US" sz="2400" dirty="0"/>
              <a:t>) (</a:t>
            </a:r>
            <a:r>
              <a:rPr lang="en-US" sz="2400" b="1" i="1" dirty="0">
                <a:solidFill>
                  <a:srgbClr val="008000"/>
                </a:solidFill>
              </a:rPr>
              <a:t>why???</a:t>
            </a:r>
            <a:r>
              <a:rPr lang="en-US" sz="24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5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BCC7FB39-8991-41F0-B068-C720DE498CCB}" type="slidenum">
              <a:rPr lang="en-US"/>
              <a:pPr/>
              <a:t>41</a:t>
            </a:fld>
            <a:endParaRPr 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Kruskal’in</a:t>
            </a:r>
            <a:r>
              <a:rPr lang="en-US" dirty="0" smtClean="0"/>
              <a:t> </a:t>
            </a:r>
            <a:r>
              <a:rPr lang="en-US" dirty="0" err="1" smtClean="0"/>
              <a:t>algoritmasi</a:t>
            </a:r>
            <a:endParaRPr lang="en-US" dirty="0"/>
          </a:p>
        </p:txBody>
      </p:sp>
      <p:sp>
        <p:nvSpPr>
          <p:cNvPr id="35894" name="Text Box 54"/>
          <p:cNvSpPr txBox="1">
            <a:spLocks noChangeArrowheads="1"/>
          </p:cNvSpPr>
          <p:nvPr/>
        </p:nvSpPr>
        <p:spPr bwMode="auto">
          <a:xfrm>
            <a:off x="4335463" y="1828800"/>
            <a:ext cx="389413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000" b="1" i="1"/>
              <a:t>E </a:t>
            </a:r>
            <a:r>
              <a:rPr lang="en-US" sz="2000" b="1"/>
              <a:t>=</a:t>
            </a:r>
            <a:r>
              <a:rPr lang="en-US" sz="2400">
                <a:latin typeface="Arial" charset="0"/>
              </a:rPr>
              <a:t> {(a,d), (c,d), (d,e), (a,c), </a:t>
            </a:r>
          </a:p>
          <a:p>
            <a:r>
              <a:rPr lang="en-US" sz="2400">
                <a:latin typeface="Arial" charset="0"/>
              </a:rPr>
              <a:t>       (b,e), (c,e), (b,d), (a,b)}</a:t>
            </a:r>
          </a:p>
        </p:txBody>
      </p:sp>
      <p:grpSp>
        <p:nvGrpSpPr>
          <p:cNvPr id="2" name="Group 115"/>
          <p:cNvGrpSpPr>
            <a:grpSpLocks/>
          </p:cNvGrpSpPr>
          <p:nvPr/>
        </p:nvGrpSpPr>
        <p:grpSpPr bwMode="auto">
          <a:xfrm>
            <a:off x="1828800" y="3584575"/>
            <a:ext cx="6202363" cy="2282825"/>
            <a:chOff x="1488" y="2169"/>
            <a:chExt cx="3907" cy="1438"/>
          </a:xfrm>
        </p:grpSpPr>
        <p:sp>
          <p:nvSpPr>
            <p:cNvPr id="35895" name="Rectangle 55"/>
            <p:cNvSpPr>
              <a:spLocks noChangeArrowheads="1"/>
            </p:cNvSpPr>
            <p:nvPr/>
          </p:nvSpPr>
          <p:spPr bwMode="auto">
            <a:xfrm>
              <a:off x="1488" y="2169"/>
              <a:ext cx="1704" cy="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u="sng">
                  <a:latin typeface="Arial" charset="0"/>
                </a:rPr>
                <a:t>Forest</a:t>
              </a:r>
              <a:endParaRPr lang="en-US" sz="2400">
                <a:latin typeface="Arial" charset="0"/>
              </a:endParaRPr>
            </a:p>
            <a:p>
              <a:r>
                <a:rPr lang="en-US" sz="2400">
                  <a:latin typeface="Arial" charset="0"/>
                </a:rPr>
                <a:t>{a}, {b}, {c}, {d}, {e}</a:t>
              </a:r>
            </a:p>
            <a:p>
              <a:r>
                <a:rPr lang="en-US" sz="2400">
                  <a:latin typeface="Arial" charset="0"/>
                </a:rPr>
                <a:t>{a,d}, {b}, {c}, {e}</a:t>
              </a:r>
            </a:p>
            <a:p>
              <a:r>
                <a:rPr lang="en-US" sz="2400">
                  <a:latin typeface="Arial" charset="0"/>
                </a:rPr>
                <a:t>{a,d,c}, {b}, {e}</a:t>
              </a:r>
            </a:p>
            <a:p>
              <a:r>
                <a:rPr lang="en-US" sz="2400">
                  <a:latin typeface="Arial" charset="0"/>
                </a:rPr>
                <a:t>{a,d,c,e}, {b}</a:t>
              </a:r>
            </a:p>
            <a:p>
              <a:r>
                <a:rPr lang="en-US" sz="2400">
                  <a:latin typeface="Arial" charset="0"/>
                </a:rPr>
                <a:t>{a,d,c,e,b}</a:t>
              </a:r>
            </a:p>
          </p:txBody>
        </p:sp>
        <p:sp>
          <p:nvSpPr>
            <p:cNvPr id="35896" name="Rectangle 56"/>
            <p:cNvSpPr>
              <a:spLocks noChangeArrowheads="1"/>
            </p:cNvSpPr>
            <p:nvPr/>
          </p:nvSpPr>
          <p:spPr bwMode="auto">
            <a:xfrm>
              <a:off x="3264" y="2169"/>
              <a:ext cx="2131" cy="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i="1" u="sng"/>
                <a:t>A</a:t>
              </a:r>
              <a:endParaRPr lang="en-US" sz="2400" b="1" i="1"/>
            </a:p>
            <a:p>
              <a:r>
                <a:rPr lang="en-US" sz="2400">
                  <a:latin typeface="Arial" charset="0"/>
                  <a:sym typeface="Symbol" pitchFamily="18" charset="2"/>
                </a:rPr>
                <a:t></a:t>
              </a:r>
            </a:p>
            <a:p>
              <a:r>
                <a:rPr lang="en-US" sz="2400">
                  <a:latin typeface="Arial" charset="0"/>
                </a:rPr>
                <a:t>{(a,d)}</a:t>
              </a:r>
            </a:p>
            <a:p>
              <a:r>
                <a:rPr lang="en-US" sz="2400">
                  <a:latin typeface="Arial" charset="0"/>
                </a:rPr>
                <a:t>{(a,d), (c,d)}</a:t>
              </a:r>
            </a:p>
            <a:p>
              <a:r>
                <a:rPr lang="en-US" sz="2400">
                  <a:latin typeface="Arial" charset="0"/>
                </a:rPr>
                <a:t>{(a,d), (c,d), (d,e)}</a:t>
              </a:r>
            </a:p>
            <a:p>
              <a:r>
                <a:rPr lang="en-US" sz="2400">
                  <a:latin typeface="Arial" charset="0"/>
                </a:rPr>
                <a:t>{(a,d), (c,d), (d,e), (b,e)}</a:t>
              </a:r>
            </a:p>
          </p:txBody>
        </p:sp>
      </p:grpSp>
      <p:sp>
        <p:nvSpPr>
          <p:cNvPr id="35898" name="Oval 58"/>
          <p:cNvSpPr>
            <a:spLocks noChangeArrowheads="1"/>
          </p:cNvSpPr>
          <p:nvPr/>
        </p:nvSpPr>
        <p:spPr bwMode="auto">
          <a:xfrm>
            <a:off x="1447800" y="17526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a</a:t>
            </a:r>
          </a:p>
        </p:txBody>
      </p:sp>
      <p:sp>
        <p:nvSpPr>
          <p:cNvPr id="35899" name="Oval 59"/>
          <p:cNvSpPr>
            <a:spLocks noChangeArrowheads="1"/>
          </p:cNvSpPr>
          <p:nvPr/>
        </p:nvSpPr>
        <p:spPr bwMode="auto">
          <a:xfrm>
            <a:off x="1676400" y="30480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c</a:t>
            </a:r>
          </a:p>
        </p:txBody>
      </p:sp>
      <p:sp>
        <p:nvSpPr>
          <p:cNvPr id="35900" name="Oval 60"/>
          <p:cNvSpPr>
            <a:spLocks noChangeArrowheads="1"/>
          </p:cNvSpPr>
          <p:nvPr/>
        </p:nvSpPr>
        <p:spPr bwMode="auto">
          <a:xfrm>
            <a:off x="3124200" y="28194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e</a:t>
            </a:r>
          </a:p>
        </p:txBody>
      </p:sp>
      <p:sp>
        <p:nvSpPr>
          <p:cNvPr id="35901" name="Oval 61"/>
          <p:cNvSpPr>
            <a:spLocks noChangeArrowheads="1"/>
          </p:cNvSpPr>
          <p:nvPr/>
        </p:nvSpPr>
        <p:spPr bwMode="auto">
          <a:xfrm>
            <a:off x="2209800" y="19812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d</a:t>
            </a:r>
          </a:p>
        </p:txBody>
      </p:sp>
      <p:sp>
        <p:nvSpPr>
          <p:cNvPr id="35902" name="Oval 62"/>
          <p:cNvSpPr>
            <a:spLocks noChangeArrowheads="1"/>
          </p:cNvSpPr>
          <p:nvPr/>
        </p:nvSpPr>
        <p:spPr bwMode="auto">
          <a:xfrm>
            <a:off x="3505200" y="1447800"/>
            <a:ext cx="381000" cy="381000"/>
          </a:xfrm>
          <a:prstGeom prst="ellipse">
            <a:avLst/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>
                <a:latin typeface="Arial" charset="0"/>
              </a:rPr>
              <a:t>b</a:t>
            </a:r>
          </a:p>
        </p:txBody>
      </p:sp>
      <p:cxnSp>
        <p:nvCxnSpPr>
          <p:cNvPr id="35903" name="AutoShape 63"/>
          <p:cNvCxnSpPr>
            <a:cxnSpLocks noChangeShapeType="1"/>
            <a:stCxn id="35898" idx="7"/>
            <a:endCxn id="35902" idx="2"/>
          </p:cNvCxnSpPr>
          <p:nvPr/>
        </p:nvCxnSpPr>
        <p:spPr bwMode="auto">
          <a:xfrm flipV="1">
            <a:off x="1773238" y="1638300"/>
            <a:ext cx="1731962" cy="169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5904" name="AutoShape 64"/>
          <p:cNvCxnSpPr>
            <a:cxnSpLocks noChangeShapeType="1"/>
            <a:stCxn id="35901" idx="6"/>
            <a:endCxn id="35902" idx="3"/>
          </p:cNvCxnSpPr>
          <p:nvPr/>
        </p:nvCxnSpPr>
        <p:spPr bwMode="auto">
          <a:xfrm flipV="1">
            <a:off x="2590800" y="1773238"/>
            <a:ext cx="969963" cy="3984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5905" name="AutoShape 65"/>
          <p:cNvCxnSpPr>
            <a:cxnSpLocks noChangeShapeType="1"/>
            <a:stCxn id="35898" idx="4"/>
            <a:endCxn id="35899" idx="0"/>
          </p:cNvCxnSpPr>
          <p:nvPr/>
        </p:nvCxnSpPr>
        <p:spPr bwMode="auto">
          <a:xfrm>
            <a:off x="1638300" y="2133600"/>
            <a:ext cx="228600" cy="914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35906" name="AutoShape 66"/>
          <p:cNvCxnSpPr>
            <a:cxnSpLocks noChangeShapeType="1"/>
            <a:stCxn id="35898" idx="5"/>
            <a:endCxn id="35901" idx="2"/>
          </p:cNvCxnSpPr>
          <p:nvPr/>
        </p:nvCxnSpPr>
        <p:spPr bwMode="auto">
          <a:xfrm>
            <a:off x="1773238" y="2078038"/>
            <a:ext cx="436562" cy="93662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35907" name="AutoShape 67"/>
          <p:cNvCxnSpPr>
            <a:cxnSpLocks noChangeShapeType="1"/>
            <a:stCxn id="35899" idx="7"/>
            <a:endCxn id="35901" idx="3"/>
          </p:cNvCxnSpPr>
          <p:nvPr/>
        </p:nvCxnSpPr>
        <p:spPr bwMode="auto">
          <a:xfrm flipV="1">
            <a:off x="2001838" y="2306638"/>
            <a:ext cx="263525" cy="7969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35908" name="AutoShape 68"/>
          <p:cNvCxnSpPr>
            <a:cxnSpLocks noChangeShapeType="1"/>
            <a:stCxn id="35901" idx="5"/>
            <a:endCxn id="35900" idx="1"/>
          </p:cNvCxnSpPr>
          <p:nvPr/>
        </p:nvCxnSpPr>
        <p:spPr bwMode="auto">
          <a:xfrm>
            <a:off x="2535238" y="2306638"/>
            <a:ext cx="644525" cy="568325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35909" name="AutoShape 69"/>
          <p:cNvCxnSpPr>
            <a:cxnSpLocks noChangeShapeType="1"/>
            <a:stCxn id="35902" idx="4"/>
            <a:endCxn id="35900" idx="0"/>
          </p:cNvCxnSpPr>
          <p:nvPr/>
        </p:nvCxnSpPr>
        <p:spPr bwMode="auto">
          <a:xfrm flipH="1">
            <a:off x="3314700" y="1828800"/>
            <a:ext cx="381000" cy="990600"/>
          </a:xfrm>
          <a:prstGeom prst="straightConnector1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35910" name="AutoShape 70"/>
          <p:cNvCxnSpPr>
            <a:cxnSpLocks noChangeShapeType="1"/>
            <a:stCxn id="35900" idx="2"/>
            <a:endCxn id="35899" idx="6"/>
          </p:cNvCxnSpPr>
          <p:nvPr/>
        </p:nvCxnSpPr>
        <p:spPr bwMode="auto">
          <a:xfrm flipH="1">
            <a:off x="2057400" y="3009900"/>
            <a:ext cx="10668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35911" name="Text Box 71"/>
          <p:cNvSpPr txBox="1">
            <a:spLocks noChangeArrowheads="1"/>
          </p:cNvSpPr>
          <p:nvPr/>
        </p:nvSpPr>
        <p:spPr bwMode="auto">
          <a:xfrm>
            <a:off x="1889125" y="18049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2</a:t>
            </a:r>
          </a:p>
        </p:txBody>
      </p:sp>
      <p:sp>
        <p:nvSpPr>
          <p:cNvPr id="35912" name="Text Box 72"/>
          <p:cNvSpPr txBox="1">
            <a:spLocks noChangeArrowheads="1"/>
          </p:cNvSpPr>
          <p:nvPr/>
        </p:nvSpPr>
        <p:spPr bwMode="auto">
          <a:xfrm>
            <a:off x="1905000" y="2376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35913" name="Text Box 73"/>
          <p:cNvSpPr txBox="1">
            <a:spLocks noChangeArrowheads="1"/>
          </p:cNvSpPr>
          <p:nvPr/>
        </p:nvSpPr>
        <p:spPr bwMode="auto">
          <a:xfrm>
            <a:off x="1466850" y="23764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35914" name="Text Box 74"/>
          <p:cNvSpPr txBox="1">
            <a:spLocks noChangeArrowheads="1"/>
          </p:cNvSpPr>
          <p:nvPr/>
        </p:nvSpPr>
        <p:spPr bwMode="auto">
          <a:xfrm>
            <a:off x="2432050" y="137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9</a:t>
            </a:r>
          </a:p>
        </p:txBody>
      </p:sp>
      <p:sp>
        <p:nvSpPr>
          <p:cNvPr id="35915" name="Text Box 75"/>
          <p:cNvSpPr txBox="1">
            <a:spLocks noChangeArrowheads="1"/>
          </p:cNvSpPr>
          <p:nvPr/>
        </p:nvSpPr>
        <p:spPr bwMode="auto">
          <a:xfrm>
            <a:off x="2736850" y="17668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6</a:t>
            </a:r>
          </a:p>
        </p:txBody>
      </p:sp>
      <p:sp>
        <p:nvSpPr>
          <p:cNvPr id="35916" name="Text Box 76"/>
          <p:cNvSpPr txBox="1">
            <a:spLocks noChangeArrowheads="1"/>
          </p:cNvSpPr>
          <p:nvPr/>
        </p:nvSpPr>
        <p:spPr bwMode="auto">
          <a:xfrm>
            <a:off x="2736850" y="22240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4</a:t>
            </a:r>
          </a:p>
        </p:txBody>
      </p:sp>
      <p:sp>
        <p:nvSpPr>
          <p:cNvPr id="35917" name="Text Box 77"/>
          <p:cNvSpPr txBox="1">
            <a:spLocks noChangeArrowheads="1"/>
          </p:cNvSpPr>
          <p:nvPr/>
        </p:nvSpPr>
        <p:spPr bwMode="auto">
          <a:xfrm>
            <a:off x="2432050" y="28336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35918" name="Text Box 78"/>
          <p:cNvSpPr txBox="1">
            <a:spLocks noChangeArrowheads="1"/>
          </p:cNvSpPr>
          <p:nvPr/>
        </p:nvSpPr>
        <p:spPr bwMode="auto">
          <a:xfrm>
            <a:off x="3505200" y="22240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latin typeface="Arial" charset="0"/>
              </a:rPr>
              <a:t>5</a:t>
            </a:r>
          </a:p>
        </p:txBody>
      </p:sp>
      <p:sp>
        <p:nvSpPr>
          <p:cNvPr id="35922" name="Line 82"/>
          <p:cNvSpPr>
            <a:spLocks noChangeShapeType="1"/>
          </p:cNvSpPr>
          <p:nvPr/>
        </p:nvSpPr>
        <p:spPr bwMode="auto">
          <a:xfrm>
            <a:off x="5105400" y="1981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5951" name="Line 111"/>
          <p:cNvSpPr>
            <a:spLocks noChangeShapeType="1"/>
          </p:cNvSpPr>
          <p:nvPr/>
        </p:nvSpPr>
        <p:spPr bwMode="auto">
          <a:xfrm>
            <a:off x="5867400" y="1981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5952" name="Line 112"/>
          <p:cNvSpPr>
            <a:spLocks noChangeShapeType="1"/>
          </p:cNvSpPr>
          <p:nvPr/>
        </p:nvSpPr>
        <p:spPr bwMode="auto">
          <a:xfrm>
            <a:off x="6705600" y="1981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5953" name="Line 113"/>
          <p:cNvSpPr>
            <a:spLocks noChangeShapeType="1"/>
          </p:cNvSpPr>
          <p:nvPr/>
        </p:nvSpPr>
        <p:spPr bwMode="auto">
          <a:xfrm>
            <a:off x="7467600" y="1981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35954" name="Line 114"/>
          <p:cNvSpPr>
            <a:spLocks noChangeShapeType="1"/>
          </p:cNvSpPr>
          <p:nvPr/>
        </p:nvSpPr>
        <p:spPr bwMode="auto">
          <a:xfrm>
            <a:off x="5181600" y="2362200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B25A27B2-8B71-437C-B206-983170BEDC15}" type="slidenum">
              <a:rPr lang="en-US"/>
              <a:pPr/>
              <a:t>42</a:t>
            </a:fld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Her </a:t>
            </a:r>
            <a:r>
              <a:rPr lang="en-US" sz="2400" dirty="0" err="1" smtClean="0"/>
              <a:t>islemden</a:t>
            </a:r>
            <a:r>
              <a:rPr lang="en-US" sz="2400" dirty="0" smtClean="0"/>
              <a:t> </a:t>
            </a:r>
            <a:r>
              <a:rPr lang="en-US" sz="2400" dirty="0" err="1" smtClean="0"/>
              <a:t>sonra</a:t>
            </a:r>
            <a:r>
              <a:rPr lang="en-US" sz="2400" dirty="0" smtClean="0"/>
              <a:t> forest </a:t>
            </a:r>
            <a:r>
              <a:rPr lang="en-US" sz="2400" dirty="0" err="1" smtClean="0"/>
              <a:t>daki</a:t>
            </a:r>
            <a:r>
              <a:rPr lang="en-US" sz="2400" dirty="0" smtClean="0"/>
              <a:t> her tree </a:t>
            </a:r>
            <a:r>
              <a:rPr lang="en-US" sz="2400" dirty="0" err="1" smtClean="0"/>
              <a:t>kendi</a:t>
            </a:r>
            <a:r>
              <a:rPr lang="en-US" sz="2400" dirty="0" smtClean="0"/>
              <a:t> node </a:t>
            </a:r>
            <a:r>
              <a:rPr lang="en-US" sz="2400" dirty="0" err="1" smtClean="0"/>
              <a:t>larinin</a:t>
            </a:r>
            <a:r>
              <a:rPr lang="en-US" sz="2400" dirty="0" smtClean="0"/>
              <a:t> </a:t>
            </a:r>
            <a:r>
              <a:rPr lang="en-US" sz="2400" dirty="0" err="1" smtClean="0"/>
              <a:t>olusturdugu</a:t>
            </a:r>
            <a:r>
              <a:rPr lang="en-US" sz="2400" dirty="0" smtClean="0"/>
              <a:t>(</a:t>
            </a:r>
            <a:r>
              <a:rPr lang="en-US" sz="2400" dirty="0" err="1" smtClean="0"/>
              <a:t>yani</a:t>
            </a:r>
            <a:r>
              <a:rPr lang="en-US" sz="2400" dirty="0" smtClean="0"/>
              <a:t> </a:t>
            </a:r>
            <a:r>
              <a:rPr lang="en-US" sz="2400" dirty="0" err="1" smtClean="0"/>
              <a:t>sadece</a:t>
            </a:r>
            <a:r>
              <a:rPr lang="en-US" sz="2400" dirty="0" smtClean="0"/>
              <a:t> o node </a:t>
            </a:r>
            <a:r>
              <a:rPr lang="en-US" sz="2400" dirty="0" err="1" smtClean="0"/>
              <a:t>larla</a:t>
            </a:r>
            <a:r>
              <a:rPr lang="en-US" sz="2400" dirty="0" smtClean="0"/>
              <a:t> </a:t>
            </a:r>
            <a:r>
              <a:rPr lang="en-US" sz="2400" dirty="0" err="1" smtClean="0"/>
              <a:t>alakili</a:t>
            </a:r>
            <a:r>
              <a:rPr lang="en-US" sz="2400" dirty="0" smtClean="0"/>
              <a:t> </a:t>
            </a:r>
            <a:r>
              <a:rPr lang="en-US" sz="2400" dirty="0" err="1" smtClean="0"/>
              <a:t>olan</a:t>
            </a:r>
            <a:r>
              <a:rPr lang="en-US" sz="2400" dirty="0" smtClean="0"/>
              <a:t>) graph </a:t>
            </a:r>
            <a:r>
              <a:rPr lang="en-US" sz="2400" dirty="0" err="1" smtClean="0"/>
              <a:t>ta</a:t>
            </a:r>
            <a:r>
              <a:rPr lang="en-US" sz="2400" dirty="0" smtClean="0"/>
              <a:t> </a:t>
            </a:r>
            <a:r>
              <a:rPr lang="en-US" sz="2400" dirty="0" err="1" smtClean="0"/>
              <a:t>mst</a:t>
            </a:r>
            <a:r>
              <a:rPr lang="en-US" sz="2400" dirty="0" smtClean="0"/>
              <a:t> dir.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 smtClean="0"/>
              <a:t>Tum</a:t>
            </a:r>
            <a:r>
              <a:rPr lang="en-US" sz="2400" dirty="0" smtClean="0"/>
              <a:t> node </a:t>
            </a:r>
            <a:r>
              <a:rPr lang="en-US" sz="2400" dirty="0" err="1" smtClean="0"/>
              <a:t>lar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</a:t>
            </a:r>
            <a:r>
              <a:rPr lang="en-US" sz="2400" dirty="0" err="1" smtClean="0"/>
              <a:t>agacta</a:t>
            </a:r>
            <a:r>
              <a:rPr lang="en-US" sz="2400" dirty="0" smtClean="0"/>
              <a:t> </a:t>
            </a:r>
            <a:r>
              <a:rPr lang="en-US" sz="2400" dirty="0" err="1" smtClean="0"/>
              <a:t>oldugu</a:t>
            </a:r>
            <a:r>
              <a:rPr lang="en-US" sz="2400" dirty="0" smtClean="0"/>
              <a:t> </a:t>
            </a:r>
            <a:r>
              <a:rPr lang="en-US" sz="2400" dirty="0" err="1" smtClean="0"/>
              <a:t>zaman</a:t>
            </a:r>
            <a:r>
              <a:rPr lang="en-US" sz="2400" dirty="0" smtClean="0"/>
              <a:t> </a:t>
            </a:r>
            <a:r>
              <a:rPr lang="en-US" sz="2400" dirty="0" err="1" smtClean="0"/>
              <a:t>algoritma</a:t>
            </a:r>
            <a:r>
              <a:rPr lang="en-US" sz="2400" dirty="0" smtClean="0"/>
              <a:t> </a:t>
            </a:r>
            <a:r>
              <a:rPr lang="en-US" sz="2400" dirty="0" err="1" smtClean="0"/>
              <a:t>sonlanir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361949" y="152400"/>
            <a:ext cx="84486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600" b="1" dirty="0" err="1" smtClean="0">
                <a:solidFill>
                  <a:srgbClr val="000099"/>
                </a:solidFill>
                <a:latin typeface="Arial" charset="0"/>
              </a:rPr>
              <a:t>Kruskal’in</a:t>
            </a:r>
            <a:r>
              <a:rPr lang="en-US" sz="3600" b="1" dirty="0" smtClean="0">
                <a:solidFill>
                  <a:srgbClr val="000099"/>
                </a:solidFill>
                <a:latin typeface="Arial" charset="0"/>
              </a:rPr>
              <a:t> </a:t>
            </a:r>
            <a:r>
              <a:rPr lang="en-US" sz="3600" b="1" dirty="0" err="1" smtClean="0">
                <a:solidFill>
                  <a:srgbClr val="000099"/>
                </a:solidFill>
                <a:latin typeface="Arial" charset="0"/>
              </a:rPr>
              <a:t>Algoritmasinin</a:t>
            </a:r>
            <a:r>
              <a:rPr lang="en-US" sz="3600" b="1" dirty="0" smtClean="0">
                <a:solidFill>
                  <a:srgbClr val="000099"/>
                </a:solidFill>
                <a:latin typeface="Arial" charset="0"/>
              </a:rPr>
              <a:t> </a:t>
            </a:r>
            <a:r>
              <a:rPr lang="en-US" sz="3600" b="1" dirty="0" err="1" smtClean="0">
                <a:solidFill>
                  <a:srgbClr val="000099"/>
                </a:solidFill>
                <a:latin typeface="Arial" charset="0"/>
              </a:rPr>
              <a:t>Gercekleri</a:t>
            </a:r>
            <a:endParaRPr lang="en-US" sz="3600" b="1" dirty="0">
              <a:solidFill>
                <a:srgbClr val="000099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42C6EB62-8AAE-4FD5-978F-28A386CC46E9}" type="slidenum">
              <a:rPr lang="en-US"/>
              <a:pPr/>
              <a:t>43</a:t>
            </a:fld>
            <a:endParaRPr lang="en-US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152400"/>
            <a:ext cx="8391525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" charset="0"/>
              </a:rPr>
              <a:t>Kruskal’in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Algoritmasinin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Dogrulugu</a:t>
            </a:r>
            <a:endParaRPr lang="en-US" dirty="0">
              <a:latin typeface="Arial" charset="0"/>
            </a:endParaRP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66813"/>
            <a:ext cx="7772400" cy="4810125"/>
          </a:xfrm>
        </p:spPr>
        <p:txBody>
          <a:bodyPr/>
          <a:lstStyle/>
          <a:p>
            <a:r>
              <a:rPr lang="en-US" sz="2400" dirty="0" smtClean="0"/>
              <a:t>Bu </a:t>
            </a:r>
            <a:r>
              <a:rPr lang="en-US" sz="2400" dirty="0" err="1" smtClean="0"/>
              <a:t>algoritma</a:t>
            </a:r>
            <a:r>
              <a:rPr lang="en-US" sz="2400" dirty="0" smtClean="0"/>
              <a:t> n-1 </a:t>
            </a:r>
            <a:r>
              <a:rPr lang="en-US" sz="2400" dirty="0" err="1" smtClean="0"/>
              <a:t>tane</a:t>
            </a:r>
            <a:r>
              <a:rPr lang="en-US" sz="2400" dirty="0" smtClean="0"/>
              <a:t> edge </a:t>
            </a:r>
            <a:r>
              <a:rPr lang="en-US" sz="2400" dirty="0" err="1" smtClean="0"/>
              <a:t>ekleyerek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spanning tree </a:t>
            </a:r>
            <a:r>
              <a:rPr lang="en-US" sz="2400" dirty="0" err="1" smtClean="0"/>
              <a:t>olusturur</a:t>
            </a:r>
            <a:r>
              <a:rPr lang="en-US" sz="2400" dirty="0" smtClean="0"/>
              <a:t> </a:t>
            </a:r>
            <a:r>
              <a:rPr lang="en-US" sz="2400" dirty="0" err="1" smtClean="0"/>
              <a:t>ve</a:t>
            </a:r>
            <a:r>
              <a:rPr lang="en-US" sz="2400" dirty="0" smtClean="0"/>
              <a:t> </a:t>
            </a:r>
            <a:r>
              <a:rPr lang="en-US" sz="2400" dirty="0" err="1" smtClean="0"/>
              <a:t>bagli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graph </a:t>
            </a:r>
            <a:r>
              <a:rPr lang="en-US" sz="2400" dirty="0" err="1" smtClean="0"/>
              <a:t>ta</a:t>
            </a:r>
            <a:r>
              <a:rPr lang="en-US" sz="2400" dirty="0" smtClean="0"/>
              <a:t> spanning tree </a:t>
            </a:r>
            <a:r>
              <a:rPr lang="en-US" sz="2400" dirty="0" err="1" smtClean="0"/>
              <a:t>olusturacagi</a:t>
            </a:r>
            <a:r>
              <a:rPr lang="en-US" sz="2400" dirty="0" smtClean="0"/>
              <a:t> </a:t>
            </a:r>
            <a:r>
              <a:rPr lang="en-US" sz="2400" dirty="0" err="1" smtClean="0"/>
              <a:t>aciktir</a:t>
            </a:r>
            <a:r>
              <a:rPr lang="en-US" sz="2400" dirty="0" smtClean="0"/>
              <a:t> (</a:t>
            </a:r>
            <a:r>
              <a:rPr lang="en-US" sz="2400" i="1" dirty="0" err="1" smtClean="0">
                <a:solidFill>
                  <a:srgbClr val="CC0000"/>
                </a:solidFill>
              </a:rPr>
              <a:t>isterseniz</a:t>
            </a:r>
            <a:r>
              <a:rPr lang="en-US" sz="2400" i="1" dirty="0" smtClean="0">
                <a:solidFill>
                  <a:srgbClr val="CC0000"/>
                </a:solidFill>
              </a:rPr>
              <a:t> </a:t>
            </a:r>
            <a:r>
              <a:rPr lang="en-US" sz="2400" i="1" dirty="0" err="1" smtClean="0">
                <a:solidFill>
                  <a:srgbClr val="CC0000"/>
                </a:solidFill>
              </a:rPr>
              <a:t>ispatlayabilirsiniz</a:t>
            </a:r>
            <a:r>
              <a:rPr lang="en-US" sz="2400" dirty="0" smtClean="0"/>
              <a:t>). </a:t>
            </a:r>
          </a:p>
          <a:p>
            <a:endParaRPr lang="en-US" sz="2400" dirty="0"/>
          </a:p>
          <a:p>
            <a:pPr algn="ctr">
              <a:buFontTx/>
              <a:buNone/>
            </a:pPr>
            <a:r>
              <a:rPr lang="en-US" sz="2400" dirty="0" err="1" smtClean="0">
                <a:solidFill>
                  <a:schemeClr val="accent2"/>
                </a:solidFill>
              </a:rPr>
              <a:t>Ama</a:t>
            </a:r>
            <a:r>
              <a:rPr lang="en-US" sz="2400" dirty="0" smtClean="0">
                <a:solidFill>
                  <a:schemeClr val="accent2"/>
                </a:solidFill>
              </a:rPr>
              <a:t> </a:t>
            </a:r>
            <a:r>
              <a:rPr lang="en-US" sz="2400" dirty="0" err="1" smtClean="0">
                <a:solidFill>
                  <a:schemeClr val="accent2"/>
                </a:solidFill>
              </a:rPr>
              <a:t>bu</a:t>
            </a:r>
            <a:r>
              <a:rPr lang="en-US" sz="2400" dirty="0" smtClean="0">
                <a:solidFill>
                  <a:schemeClr val="accent2"/>
                </a:solidFill>
              </a:rPr>
              <a:t> minimum spanning tree mi?</a:t>
            </a:r>
            <a:r>
              <a:rPr lang="en-US" sz="2400" dirty="0" smtClean="0"/>
              <a:t> </a:t>
            </a:r>
          </a:p>
          <a:p>
            <a:pPr algn="ctr">
              <a:buFontTx/>
              <a:buNone/>
            </a:pPr>
            <a:r>
              <a:rPr lang="en-US" sz="2400" dirty="0" smtClean="0">
                <a:solidFill>
                  <a:srgbClr val="CC0000"/>
                </a:solidFill>
              </a:rPr>
              <a:t>Suppose it wasn't</a:t>
            </a:r>
            <a:r>
              <a:rPr lang="en-US" sz="2400" dirty="0" smtClean="0"/>
              <a:t>. </a:t>
            </a:r>
          </a:p>
          <a:p>
            <a:pPr algn="ctr">
              <a:buFontTx/>
              <a:buNone/>
            </a:pPr>
            <a:endParaRPr lang="en-US" sz="2400" dirty="0"/>
          </a:p>
          <a:p>
            <a:r>
              <a:rPr lang="en-US" sz="2400" dirty="0"/>
              <a:t>There must be point at which it fails, and in particular there must a single edge whose insertion first prevented the spanning tree from being a minimum spanning tree.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4CCBDA14-C596-49C2-9670-EC822494A98D}" type="slidenum">
              <a:rPr lang="en-US"/>
              <a:pPr/>
              <a:t>44</a:t>
            </a:fld>
            <a:endParaRPr lang="en-US"/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8288" y="3506788"/>
            <a:ext cx="8128000" cy="2522537"/>
          </a:xfrm>
        </p:spPr>
        <p:txBody>
          <a:bodyPr/>
          <a:lstStyle/>
          <a:p>
            <a:r>
              <a:rPr lang="en-US" sz="2400" b="1" dirty="0" smtClean="0"/>
              <a:t>e </a:t>
            </a:r>
            <a:r>
              <a:rPr lang="en-US" sz="2400" dirty="0" smtClean="0"/>
              <a:t>ilk </a:t>
            </a:r>
            <a:r>
              <a:rPr lang="en-US" sz="2400" dirty="0" err="1" smtClean="0"/>
              <a:t>hatali</a:t>
            </a:r>
            <a:r>
              <a:rPr lang="en-US" sz="2400" dirty="0" smtClean="0"/>
              <a:t> edge </a:t>
            </a:r>
            <a:r>
              <a:rPr lang="en-US" sz="2400" dirty="0" err="1" smtClean="0"/>
              <a:t>olsun</a:t>
            </a:r>
            <a:r>
              <a:rPr lang="en-US" sz="2400" dirty="0" smtClean="0"/>
              <a:t>.</a:t>
            </a:r>
            <a:endParaRPr lang="en-US" sz="2400" b="1" dirty="0"/>
          </a:p>
          <a:p>
            <a:r>
              <a:rPr lang="en-US" sz="2400" b="1" dirty="0" smtClean="0"/>
              <a:t>K</a:t>
            </a:r>
            <a:r>
              <a:rPr lang="en-US" sz="2400" dirty="0" smtClean="0"/>
              <a:t> </a:t>
            </a:r>
            <a:r>
              <a:rPr lang="en-US" sz="2400" dirty="0" err="1" smtClean="0"/>
              <a:t>kruskal</a:t>
            </a:r>
            <a:r>
              <a:rPr lang="en-US" sz="2400" dirty="0" smtClean="0"/>
              <a:t> in spanning tree </a:t>
            </a:r>
            <a:r>
              <a:rPr lang="en-US" sz="2400" dirty="0" err="1" smtClean="0"/>
              <a:t>si</a:t>
            </a:r>
            <a:r>
              <a:rPr lang="en-US" sz="2400" dirty="0" smtClean="0"/>
              <a:t> </a:t>
            </a:r>
            <a:r>
              <a:rPr lang="en-US" sz="2400" dirty="0" err="1" smtClean="0"/>
              <a:t>olsun</a:t>
            </a:r>
            <a:r>
              <a:rPr lang="en-US" sz="2400" dirty="0"/>
              <a:t>.</a:t>
            </a:r>
          </a:p>
          <a:p>
            <a:r>
              <a:rPr lang="en-US" sz="2400" b="1" dirty="0" smtClean="0"/>
              <a:t>S</a:t>
            </a:r>
            <a:r>
              <a:rPr lang="en-US" sz="2400" dirty="0" smtClean="0"/>
              <a:t> </a:t>
            </a:r>
            <a:r>
              <a:rPr lang="en-US" sz="2400" dirty="0" err="1" smtClean="0"/>
              <a:t>Kruskal’in</a:t>
            </a:r>
            <a:r>
              <a:rPr lang="en-US" sz="2400" dirty="0" smtClean="0"/>
              <a:t> </a:t>
            </a:r>
            <a:r>
              <a:rPr lang="en-US" sz="2400" dirty="0" err="1" smtClean="0"/>
              <a:t>algoritmasinin</a:t>
            </a:r>
            <a:r>
              <a:rPr lang="en-US" sz="2400" dirty="0" smtClean="0"/>
              <a:t> </a:t>
            </a:r>
            <a:r>
              <a:rPr lang="en-US" sz="2400" dirty="0" err="1" smtClean="0"/>
              <a:t>hata</a:t>
            </a:r>
            <a:r>
              <a:rPr lang="en-US" sz="2400" dirty="0" smtClean="0"/>
              <a:t> </a:t>
            </a:r>
            <a:r>
              <a:rPr lang="en-US" sz="2400" dirty="0" err="1" smtClean="0"/>
              <a:t>yapmadan</a:t>
            </a:r>
            <a:r>
              <a:rPr lang="en-US" sz="2400" dirty="0" smtClean="0"/>
              <a:t> </a:t>
            </a:r>
            <a:r>
              <a:rPr lang="en-US" sz="2400" dirty="0" err="1" smtClean="0"/>
              <a:t>onceki</a:t>
            </a:r>
            <a:r>
              <a:rPr lang="en-US" sz="2400" dirty="0" smtClean="0"/>
              <a:t> </a:t>
            </a:r>
            <a:r>
              <a:rPr lang="en-US" sz="2400" dirty="0" err="1" smtClean="0"/>
              <a:t>sectigi</a:t>
            </a:r>
            <a:r>
              <a:rPr lang="en-US" sz="2400" dirty="0" smtClean="0"/>
              <a:t> </a:t>
            </a:r>
            <a:r>
              <a:rPr lang="en-US" sz="2400" dirty="0" err="1" smtClean="0"/>
              <a:t>edgeler</a:t>
            </a:r>
            <a:r>
              <a:rPr lang="en-US" sz="2400" dirty="0" smtClean="0"/>
              <a:t> </a:t>
            </a:r>
            <a:r>
              <a:rPr lang="en-US" sz="2400" dirty="0" err="1" smtClean="0"/>
              <a:t>kumesi</a:t>
            </a:r>
            <a:r>
              <a:rPr lang="en-US" sz="2400" dirty="0" smtClean="0"/>
              <a:t> </a:t>
            </a:r>
            <a:r>
              <a:rPr lang="en-US" sz="2400" dirty="0" err="1" smtClean="0"/>
              <a:t>olsun</a:t>
            </a:r>
            <a:r>
              <a:rPr lang="en-US" sz="2400" dirty="0"/>
              <a:t>.</a:t>
            </a:r>
          </a:p>
          <a:p>
            <a:r>
              <a:rPr lang="en-US" sz="2400" b="1" dirty="0" smtClean="0"/>
              <a:t>T</a:t>
            </a:r>
            <a:r>
              <a:rPr lang="en-US" sz="2400" dirty="0" smtClean="0"/>
              <a:t> S </a:t>
            </a:r>
            <a:r>
              <a:rPr lang="en-US" sz="2400" dirty="0" err="1" smtClean="0"/>
              <a:t>kumesini</a:t>
            </a:r>
            <a:r>
              <a:rPr lang="en-US" sz="2400" dirty="0" smtClean="0"/>
              <a:t> </a:t>
            </a:r>
            <a:r>
              <a:rPr lang="en-US" sz="2400" dirty="0" err="1" smtClean="0"/>
              <a:t>iceren</a:t>
            </a:r>
            <a:r>
              <a:rPr lang="en-US" sz="2400" dirty="0" smtClean="0"/>
              <a:t> MST </a:t>
            </a:r>
            <a:r>
              <a:rPr lang="en-US" sz="2400" dirty="0" err="1" smtClean="0"/>
              <a:t>olsun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b="1" dirty="0"/>
          </a:p>
          <a:p>
            <a:pPr lvl="1"/>
            <a:endParaRPr lang="en-US" sz="1800" dirty="0"/>
          </a:p>
          <a:p>
            <a:endParaRPr lang="en-US" sz="2400" dirty="0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138738" y="1319213"/>
            <a:ext cx="3744912" cy="2354262"/>
            <a:chOff x="2880" y="765"/>
            <a:chExt cx="2359" cy="1483"/>
          </a:xfrm>
        </p:grpSpPr>
        <p:sp>
          <p:nvSpPr>
            <p:cNvPr id="199684" name="Oval 4"/>
            <p:cNvSpPr>
              <a:spLocks noChangeArrowheads="1"/>
            </p:cNvSpPr>
            <p:nvPr/>
          </p:nvSpPr>
          <p:spPr bwMode="auto">
            <a:xfrm>
              <a:off x="2880" y="787"/>
              <a:ext cx="1490" cy="146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3166" y="765"/>
              <a:ext cx="2073" cy="1461"/>
              <a:chOff x="3166" y="765"/>
              <a:chExt cx="2073" cy="1461"/>
            </a:xfrm>
          </p:grpSpPr>
          <p:sp>
            <p:nvSpPr>
              <p:cNvPr id="199689" name="Text Box 9"/>
              <p:cNvSpPr txBox="1">
                <a:spLocks noChangeArrowheads="1"/>
              </p:cNvSpPr>
              <p:nvPr/>
            </p:nvSpPr>
            <p:spPr bwMode="auto">
              <a:xfrm>
                <a:off x="3166" y="980"/>
                <a:ext cx="347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4000" b="1">
                    <a:latin typeface="Arial" charset="0"/>
                  </a:rPr>
                  <a:t>K</a:t>
                </a:r>
              </a:p>
            </p:txBody>
          </p:sp>
          <p:sp>
            <p:nvSpPr>
              <p:cNvPr id="199692" name="Rectangle 12"/>
              <p:cNvSpPr>
                <a:spLocks noChangeArrowheads="1"/>
              </p:cNvSpPr>
              <p:nvPr/>
            </p:nvSpPr>
            <p:spPr bwMode="auto">
              <a:xfrm>
                <a:off x="4669" y="960"/>
                <a:ext cx="311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4000" b="1">
                    <a:latin typeface="Arial" charset="0"/>
                  </a:rPr>
                  <a:t>T</a:t>
                </a:r>
              </a:p>
            </p:txBody>
          </p:sp>
          <p:sp>
            <p:nvSpPr>
              <p:cNvPr id="199693" name="Rectangle 13"/>
              <p:cNvSpPr>
                <a:spLocks noChangeArrowheads="1"/>
              </p:cNvSpPr>
              <p:nvPr/>
            </p:nvSpPr>
            <p:spPr bwMode="auto">
              <a:xfrm>
                <a:off x="3917" y="1291"/>
                <a:ext cx="329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4000" b="1">
                    <a:latin typeface="Arial" charset="0"/>
                  </a:rPr>
                  <a:t>S</a:t>
                </a:r>
              </a:p>
            </p:txBody>
          </p:sp>
          <p:sp>
            <p:nvSpPr>
              <p:cNvPr id="199694" name="Oval 14"/>
              <p:cNvSpPr>
                <a:spLocks noChangeArrowheads="1"/>
              </p:cNvSpPr>
              <p:nvPr/>
            </p:nvSpPr>
            <p:spPr bwMode="auto">
              <a:xfrm>
                <a:off x="3749" y="765"/>
                <a:ext cx="1490" cy="146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99695" name="Oval 15"/>
              <p:cNvSpPr>
                <a:spLocks noChangeArrowheads="1"/>
              </p:cNvSpPr>
              <p:nvPr/>
            </p:nvSpPr>
            <p:spPr bwMode="auto">
              <a:xfrm>
                <a:off x="3870" y="1293"/>
                <a:ext cx="415" cy="45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99697" name="Rectangle 17"/>
              <p:cNvSpPr>
                <a:spLocks noChangeArrowheads="1"/>
              </p:cNvSpPr>
              <p:nvPr/>
            </p:nvSpPr>
            <p:spPr bwMode="auto">
              <a:xfrm>
                <a:off x="3411" y="1822"/>
                <a:ext cx="258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latin typeface="Arial" charset="0"/>
                  </a:rPr>
                  <a:t>e</a:t>
                </a:r>
              </a:p>
            </p:txBody>
          </p:sp>
        </p:grpSp>
      </p:grp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61950" y="257175"/>
            <a:ext cx="83915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j-ea"/>
                <a:cs typeface="+mj-cs"/>
              </a:rPr>
              <a:t>Kruskal’in</a:t>
            </a: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j-ea"/>
                <a:cs typeface="+mj-cs"/>
              </a:rPr>
              <a:t> </a:t>
            </a:r>
            <a:r>
              <a:rPr kumimoji="0" lang="en-US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j-ea"/>
                <a:cs typeface="+mj-cs"/>
              </a:rPr>
              <a:t>Algoritmasinin</a:t>
            </a: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j-ea"/>
                <a:cs typeface="+mj-cs"/>
              </a:rPr>
              <a:t> </a:t>
            </a:r>
            <a:r>
              <a:rPr kumimoji="0" lang="en-US" sz="3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+mj-ea"/>
                <a:cs typeface="+mj-cs"/>
              </a:rPr>
              <a:t>Dogrulugu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68635A5B-58D2-4088-B4F6-AD80FFA99B7C}" type="slidenum">
              <a:rPr lang="en-US"/>
              <a:pPr/>
              <a:t>45</a:t>
            </a:fld>
            <a:endParaRPr lang="en-US"/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1638" y="1493837"/>
            <a:ext cx="4513262" cy="2801938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b="1" dirty="0" err="1" smtClean="0"/>
              <a:t>Ispat</a:t>
            </a:r>
            <a:r>
              <a:rPr lang="en-US" sz="2400" dirty="0" smtClean="0"/>
              <a:t> (</a:t>
            </a:r>
            <a:r>
              <a:rPr lang="en-US" sz="2400" i="1" dirty="0" err="1" smtClean="0"/>
              <a:t>celiski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ile</a:t>
            </a:r>
            <a:r>
              <a:rPr lang="en-US" sz="2400" dirty="0" smtClean="0"/>
              <a:t>):</a:t>
            </a:r>
            <a:endParaRPr lang="en-US" sz="2400" dirty="0"/>
          </a:p>
          <a:p>
            <a:r>
              <a:rPr lang="en-US" sz="2400" dirty="0" smtClean="0"/>
              <a:t>O </a:t>
            </a:r>
            <a:r>
              <a:rPr lang="en-US" sz="2400" dirty="0" err="1" smtClean="0"/>
              <a:t>zaman</a:t>
            </a:r>
            <a:r>
              <a:rPr lang="en-US" sz="2400" dirty="0" smtClean="0"/>
              <a:t> </a:t>
            </a:r>
            <a:r>
              <a:rPr lang="en-US" sz="2400" dirty="0" err="1" smtClean="0"/>
              <a:t>bir</a:t>
            </a:r>
            <a:r>
              <a:rPr lang="en-US" sz="2400" dirty="0" smtClean="0"/>
              <a:t> </a:t>
            </a:r>
            <a:r>
              <a:rPr lang="en-US" sz="2400" b="1" dirty="0" smtClean="0"/>
              <a:t>e</a:t>
            </a:r>
            <a:r>
              <a:rPr lang="en-US" sz="2400" b="1" dirty="0"/>
              <a:t>’</a:t>
            </a:r>
            <a:r>
              <a:rPr lang="en-US" sz="2400" dirty="0"/>
              <a:t> </a:t>
            </a:r>
            <a:r>
              <a:rPr lang="en-US" sz="2400" dirty="0" smtClean="0"/>
              <a:t>edge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 </a:t>
            </a:r>
            <a:r>
              <a:rPr lang="en-US" sz="2400" dirty="0" err="1" smtClean="0"/>
              <a:t>olmali</a:t>
            </a:r>
            <a:r>
              <a:rPr lang="en-US" sz="2400" dirty="0" smtClean="0"/>
              <a:t> </a:t>
            </a:r>
            <a:r>
              <a:rPr lang="en-US" sz="2400" b="1" dirty="0"/>
              <a:t>T </a:t>
            </a:r>
            <a:r>
              <a:rPr lang="en-US" sz="2400" b="1" dirty="0" smtClean="0"/>
              <a:t>– S </a:t>
            </a:r>
            <a:r>
              <a:rPr lang="en-US" sz="2400" dirty="0" err="1" smtClean="0"/>
              <a:t>kumesinde</a:t>
            </a:r>
            <a:r>
              <a:rPr lang="en-US" sz="2400" dirty="0" smtClean="0"/>
              <a:t> , </a:t>
            </a:r>
            <a:r>
              <a:rPr lang="en-US" sz="2400" dirty="0"/>
              <a:t>w(</a:t>
            </a:r>
            <a:r>
              <a:rPr lang="en-US" sz="2400" b="1" dirty="0"/>
              <a:t>e’</a:t>
            </a:r>
            <a:r>
              <a:rPr lang="en-US" sz="2400" dirty="0"/>
              <a:t>) &lt; w(</a:t>
            </a:r>
            <a:r>
              <a:rPr lang="en-US" sz="2400" b="1" dirty="0"/>
              <a:t>e</a:t>
            </a:r>
            <a:r>
              <a:rPr lang="en-US" sz="2400" dirty="0" smtClean="0"/>
              <a:t>) </a:t>
            </a:r>
            <a:r>
              <a:rPr lang="en-US" sz="2400" dirty="0" err="1" smtClean="0"/>
              <a:t>sartini</a:t>
            </a:r>
            <a:r>
              <a:rPr lang="en-US" sz="2400" dirty="0" smtClean="0"/>
              <a:t> </a:t>
            </a:r>
            <a:r>
              <a:rPr lang="en-US" sz="2400" dirty="0" err="1" smtClean="0"/>
              <a:t>saglayan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 err="1" smtClean="0"/>
              <a:t>Kruskal</a:t>
            </a:r>
            <a:r>
              <a:rPr lang="en-US" sz="2400" dirty="0" smtClean="0"/>
              <a:t> e den once e’ </a:t>
            </a:r>
            <a:r>
              <a:rPr lang="en-US" sz="2400" dirty="0" err="1" smtClean="0"/>
              <a:t>ile</a:t>
            </a:r>
            <a:r>
              <a:rPr lang="en-US" sz="2400" dirty="0" smtClean="0"/>
              <a:t> </a:t>
            </a:r>
            <a:r>
              <a:rPr lang="en-US" sz="2400" dirty="0" err="1" smtClean="0"/>
              <a:t>ilgilenmis</a:t>
            </a:r>
            <a:r>
              <a:rPr lang="en-US" sz="2400" dirty="0" smtClean="0"/>
              <a:t> </a:t>
            </a:r>
            <a:r>
              <a:rPr lang="en-US" sz="2400" dirty="0" err="1" smtClean="0"/>
              <a:t>ve</a:t>
            </a:r>
            <a:r>
              <a:rPr lang="en-US" sz="2400" dirty="0" smtClean="0"/>
              <a:t> </a:t>
            </a:r>
            <a:r>
              <a:rPr lang="en-US" sz="2400" dirty="0" err="1" smtClean="0"/>
              <a:t>secmis</a:t>
            </a:r>
            <a:r>
              <a:rPr lang="en-US" sz="2400" dirty="0" smtClean="0"/>
              <a:t> </a:t>
            </a:r>
            <a:r>
              <a:rPr lang="en-US" sz="2400" dirty="0" err="1" smtClean="0"/>
              <a:t>olmaliydi</a:t>
            </a:r>
            <a:r>
              <a:rPr lang="en-US" sz="2400" dirty="0" smtClean="0"/>
              <a:t>.</a:t>
            </a:r>
            <a:endParaRPr lang="en-US" sz="2400" b="1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084763" y="1727200"/>
            <a:ext cx="3744912" cy="2354263"/>
            <a:chOff x="2880" y="765"/>
            <a:chExt cx="2359" cy="1483"/>
          </a:xfrm>
        </p:grpSpPr>
        <p:sp>
          <p:nvSpPr>
            <p:cNvPr id="204805" name="Oval 5"/>
            <p:cNvSpPr>
              <a:spLocks noChangeArrowheads="1"/>
            </p:cNvSpPr>
            <p:nvPr/>
          </p:nvSpPr>
          <p:spPr bwMode="auto">
            <a:xfrm>
              <a:off x="2880" y="787"/>
              <a:ext cx="1490" cy="146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tr-TR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3166" y="765"/>
              <a:ext cx="2073" cy="1461"/>
              <a:chOff x="3166" y="765"/>
              <a:chExt cx="2073" cy="1461"/>
            </a:xfrm>
          </p:grpSpPr>
          <p:sp>
            <p:nvSpPr>
              <p:cNvPr id="204807" name="Text Box 7"/>
              <p:cNvSpPr txBox="1">
                <a:spLocks noChangeArrowheads="1"/>
              </p:cNvSpPr>
              <p:nvPr/>
            </p:nvSpPr>
            <p:spPr bwMode="auto">
              <a:xfrm>
                <a:off x="3166" y="980"/>
                <a:ext cx="347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4000" b="1">
                    <a:latin typeface="Arial" charset="0"/>
                  </a:rPr>
                  <a:t>K</a:t>
                </a:r>
              </a:p>
            </p:txBody>
          </p:sp>
          <p:sp>
            <p:nvSpPr>
              <p:cNvPr id="204808" name="Rectangle 8"/>
              <p:cNvSpPr>
                <a:spLocks noChangeArrowheads="1"/>
              </p:cNvSpPr>
              <p:nvPr/>
            </p:nvSpPr>
            <p:spPr bwMode="auto">
              <a:xfrm>
                <a:off x="4669" y="960"/>
                <a:ext cx="311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4000" b="1">
                    <a:latin typeface="Arial" charset="0"/>
                  </a:rPr>
                  <a:t>T</a:t>
                </a:r>
              </a:p>
            </p:txBody>
          </p:sp>
          <p:sp>
            <p:nvSpPr>
              <p:cNvPr id="204809" name="Rectangle 9"/>
              <p:cNvSpPr>
                <a:spLocks noChangeArrowheads="1"/>
              </p:cNvSpPr>
              <p:nvPr/>
            </p:nvSpPr>
            <p:spPr bwMode="auto">
              <a:xfrm>
                <a:off x="3917" y="1291"/>
                <a:ext cx="329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4000" b="1">
                    <a:latin typeface="Arial" charset="0"/>
                  </a:rPr>
                  <a:t>S</a:t>
                </a:r>
              </a:p>
            </p:txBody>
          </p:sp>
          <p:sp>
            <p:nvSpPr>
              <p:cNvPr id="204810" name="Oval 10"/>
              <p:cNvSpPr>
                <a:spLocks noChangeArrowheads="1"/>
              </p:cNvSpPr>
              <p:nvPr/>
            </p:nvSpPr>
            <p:spPr bwMode="auto">
              <a:xfrm>
                <a:off x="3749" y="765"/>
                <a:ext cx="1490" cy="146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04811" name="Oval 11"/>
              <p:cNvSpPr>
                <a:spLocks noChangeArrowheads="1"/>
              </p:cNvSpPr>
              <p:nvPr/>
            </p:nvSpPr>
            <p:spPr bwMode="auto">
              <a:xfrm>
                <a:off x="3870" y="1293"/>
                <a:ext cx="415" cy="45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04812" name="Rectangle 12"/>
              <p:cNvSpPr>
                <a:spLocks noChangeArrowheads="1"/>
              </p:cNvSpPr>
              <p:nvPr/>
            </p:nvSpPr>
            <p:spPr bwMode="auto">
              <a:xfrm>
                <a:off x="3411" y="1822"/>
                <a:ext cx="258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latin typeface="Arial" charset="0"/>
                  </a:rPr>
                  <a:t>e</a:t>
                </a:r>
              </a:p>
            </p:txBody>
          </p:sp>
        </p:grpSp>
      </p:grpSp>
      <p:sp>
        <p:nvSpPr>
          <p:cNvPr id="204815" name="Text Box 15"/>
          <p:cNvSpPr txBox="1">
            <a:spLocks noChangeArrowheads="1"/>
          </p:cNvSpPr>
          <p:nvPr/>
        </p:nvSpPr>
        <p:spPr bwMode="auto">
          <a:xfrm>
            <a:off x="1414463" y="1019175"/>
            <a:ext cx="6315075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>
                <a:latin typeface="Arial" charset="0"/>
              </a:rPr>
              <a:t>Lemma:</a:t>
            </a:r>
            <a:r>
              <a:rPr lang="en-US" sz="2400" b="1">
                <a:latin typeface="Arial" charset="0"/>
              </a:rPr>
              <a:t> </a:t>
            </a:r>
            <a:r>
              <a:rPr lang="en-US" sz="2400">
                <a:latin typeface="Arial" charset="0"/>
              </a:rPr>
              <a:t>w(</a:t>
            </a:r>
            <a:r>
              <a:rPr lang="en-US" sz="2400" b="1">
                <a:latin typeface="Arial" charset="0"/>
              </a:rPr>
              <a:t>e’</a:t>
            </a:r>
            <a:r>
              <a:rPr lang="en-US" sz="2400">
                <a:latin typeface="Arial" charset="0"/>
              </a:rPr>
              <a:t>) &gt;= w(</a:t>
            </a:r>
            <a:r>
              <a:rPr lang="en-US" sz="2400" b="1">
                <a:latin typeface="Arial" charset="0"/>
              </a:rPr>
              <a:t>e</a:t>
            </a:r>
            <a:r>
              <a:rPr lang="en-US" sz="2400">
                <a:latin typeface="Arial" charset="0"/>
              </a:rPr>
              <a:t>) for</a:t>
            </a:r>
            <a:r>
              <a:rPr lang="en-US" sz="2400" b="1">
                <a:latin typeface="Arial" charset="0"/>
              </a:rPr>
              <a:t> </a:t>
            </a:r>
            <a:r>
              <a:rPr lang="en-US" sz="2400">
                <a:latin typeface="Arial" charset="0"/>
              </a:rPr>
              <a:t>all edges </a:t>
            </a:r>
            <a:r>
              <a:rPr lang="en-US" sz="2400" b="1">
                <a:latin typeface="Arial" charset="0"/>
              </a:rPr>
              <a:t>e’ </a:t>
            </a:r>
            <a:r>
              <a:rPr lang="en-US" sz="2400">
                <a:latin typeface="Arial" charset="0"/>
              </a:rPr>
              <a:t>in </a:t>
            </a:r>
            <a:r>
              <a:rPr lang="en-US" sz="2400" b="1">
                <a:latin typeface="Arial" charset="0"/>
              </a:rPr>
              <a:t>T - S</a:t>
            </a:r>
          </a:p>
          <a:p>
            <a:endParaRPr lang="en-US"/>
          </a:p>
        </p:txBody>
      </p:sp>
      <p:sp>
        <p:nvSpPr>
          <p:cNvPr id="204816" name="Text Box 16"/>
          <p:cNvSpPr txBox="1">
            <a:spLocks noChangeArrowheads="1"/>
          </p:cNvSpPr>
          <p:nvPr/>
        </p:nvSpPr>
        <p:spPr bwMode="auto">
          <a:xfrm>
            <a:off x="420688" y="4318000"/>
            <a:ext cx="8001000" cy="2640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9250" indent="-34925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b="1" dirty="0" smtClean="0">
                <a:latin typeface="Arial" charset="0"/>
              </a:rPr>
              <a:t>e’ K </a:t>
            </a:r>
            <a:r>
              <a:rPr lang="en-US" sz="2400" dirty="0" err="1" smtClean="0">
                <a:latin typeface="Arial" charset="0"/>
              </a:rPr>
              <a:t>nin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icinde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degilse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b="1" dirty="0" smtClean="0">
                <a:latin typeface="Arial" charset="0"/>
              </a:rPr>
              <a:t>S </a:t>
            </a:r>
            <a:r>
              <a:rPr lang="en-US" sz="2400" dirty="0" err="1" smtClean="0">
                <a:latin typeface="Arial" charset="0"/>
              </a:rPr>
              <a:t>deki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bazi</a:t>
            </a:r>
            <a:r>
              <a:rPr lang="en-US" sz="2400" dirty="0" smtClean="0">
                <a:latin typeface="Arial" charset="0"/>
              </a:rPr>
              <a:t> node </a:t>
            </a:r>
            <a:r>
              <a:rPr lang="en-US" sz="2400" dirty="0" err="1" smtClean="0">
                <a:latin typeface="Arial" charset="0"/>
              </a:rPr>
              <a:t>lar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ile</a:t>
            </a:r>
            <a:r>
              <a:rPr lang="en-US" sz="2400" dirty="0" smtClean="0">
                <a:latin typeface="Arial" charset="0"/>
              </a:rPr>
              <a:t> cycle </a:t>
            </a:r>
            <a:r>
              <a:rPr lang="en-US" sz="2400" dirty="0" err="1" smtClean="0">
                <a:latin typeface="Arial" charset="0"/>
              </a:rPr>
              <a:t>olusturuyordur</a:t>
            </a:r>
            <a:r>
              <a:rPr lang="en-US" sz="2400" dirty="0" smtClean="0">
                <a:latin typeface="Arial" charset="0"/>
              </a:rPr>
              <a:t>.</a:t>
            </a:r>
            <a:endParaRPr lang="en-US" sz="2400" dirty="0">
              <a:latin typeface="Arial" charset="0"/>
            </a:endParaRPr>
          </a:p>
          <a:p>
            <a:pPr marL="349250" indent="-34925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 err="1" smtClean="0">
                <a:latin typeface="Arial" charset="0"/>
              </a:rPr>
              <a:t>Ama</a:t>
            </a:r>
            <a:r>
              <a:rPr lang="en-US" sz="2400" dirty="0" smtClean="0">
                <a:latin typeface="Arial" charset="0"/>
              </a:rPr>
              <a:t> But </a:t>
            </a:r>
            <a:r>
              <a:rPr lang="en-US" sz="2400" b="1" dirty="0">
                <a:latin typeface="Arial" charset="0"/>
              </a:rPr>
              <a:t>e’ + S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b="1" dirty="0" smtClean="0">
                <a:latin typeface="Arial" charset="0"/>
              </a:rPr>
              <a:t>T </a:t>
            </a:r>
            <a:r>
              <a:rPr lang="en-US" sz="2400" dirty="0" err="1" smtClean="0">
                <a:latin typeface="Arial" charset="0"/>
              </a:rPr>
              <a:t>nin</a:t>
            </a:r>
            <a:r>
              <a:rPr lang="en-US" sz="2400" dirty="0" smtClean="0">
                <a:latin typeface="Arial" charset="0"/>
              </a:rPr>
              <a:t> alt graph </a:t>
            </a:r>
            <a:r>
              <a:rPr lang="en-US" sz="2400" dirty="0" err="1" smtClean="0">
                <a:latin typeface="Arial" charset="0"/>
              </a:rPr>
              <a:t>i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ise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bu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demek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ki</a:t>
            </a:r>
            <a:r>
              <a:rPr lang="en-US" sz="2400" dirty="0" smtClean="0">
                <a:latin typeface="Arial" charset="0"/>
              </a:rPr>
              <a:t> cycle </a:t>
            </a:r>
            <a:r>
              <a:rPr lang="en-US" sz="2400" dirty="0" err="1" smtClean="0">
                <a:latin typeface="Arial" charset="0"/>
              </a:rPr>
              <a:t>iceremez</a:t>
            </a:r>
            <a:endParaRPr lang="en-US" sz="2400" dirty="0" smtClean="0">
              <a:latin typeface="Arial" charset="0"/>
            </a:endParaRPr>
          </a:p>
          <a:p>
            <a:pPr marL="349250" indent="-349250">
              <a:lnSpc>
                <a:spcPct val="90000"/>
              </a:lnSpc>
              <a:spcBef>
                <a:spcPct val="20000"/>
              </a:spcBef>
            </a:pPr>
            <a:r>
              <a:rPr lang="en-US" sz="2400" dirty="0" smtClean="0">
                <a:latin typeface="Arial" charset="0"/>
              </a:rPr>
              <a:t>				                                 </a:t>
            </a:r>
            <a:r>
              <a:rPr lang="en-US" sz="2400" b="1" dirty="0" smtClean="0">
                <a:solidFill>
                  <a:srgbClr val="CC0000"/>
                </a:solidFill>
                <a:latin typeface="Arial" charset="0"/>
              </a:rPr>
              <a:t>...</a:t>
            </a:r>
            <a:r>
              <a:rPr lang="en-US" sz="2400" b="1" dirty="0" err="1" smtClean="0">
                <a:solidFill>
                  <a:srgbClr val="CC0000"/>
                </a:solidFill>
                <a:latin typeface="Arial" charset="0"/>
              </a:rPr>
              <a:t>Celiski</a:t>
            </a:r>
            <a:endParaRPr lang="en-US" sz="2400" dirty="0">
              <a:latin typeface="Arial" charset="0"/>
            </a:endParaRPr>
          </a:p>
          <a:p>
            <a:pPr marL="349250" indent="-349250">
              <a:spcBef>
                <a:spcPct val="50000"/>
              </a:spcBef>
            </a:pP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152400"/>
            <a:ext cx="8391525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" charset="0"/>
              </a:rPr>
              <a:t>Kruskal’in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Algoritmasinin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Dogrulugu</a:t>
            </a:r>
            <a:endParaRPr lang="en-US" dirty="0">
              <a:latin typeface="Arial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84B3951B-A9F5-4F58-B1D2-550B65BF060A}" type="slidenum">
              <a:rPr lang="en-US"/>
              <a:pPr/>
              <a:t>46</a:t>
            </a:fld>
            <a:endParaRPr lang="en-US"/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Inserting edge </a:t>
            </a:r>
            <a:r>
              <a:rPr lang="en-US" sz="2400" b="1"/>
              <a:t>e</a:t>
            </a:r>
            <a:r>
              <a:rPr lang="en-US" sz="2400"/>
              <a:t> into </a:t>
            </a:r>
            <a:r>
              <a:rPr lang="en-US" sz="2400" b="1"/>
              <a:t>T</a:t>
            </a:r>
            <a:r>
              <a:rPr lang="en-US" sz="2400"/>
              <a:t> will create a cycle </a:t>
            </a:r>
          </a:p>
          <a:p>
            <a:pPr>
              <a:lnSpc>
                <a:spcPct val="90000"/>
              </a:lnSpc>
            </a:pPr>
            <a:r>
              <a:rPr lang="en-US" sz="2400"/>
              <a:t>There must be an edge on this cycle which is not in </a:t>
            </a:r>
            <a:r>
              <a:rPr lang="en-US" sz="2400" b="1"/>
              <a:t>K </a:t>
            </a:r>
            <a:r>
              <a:rPr lang="en-US" sz="2400"/>
              <a:t>(</a:t>
            </a:r>
            <a:r>
              <a:rPr lang="en-US" sz="2400" i="1">
                <a:solidFill>
                  <a:srgbClr val="CC0000"/>
                </a:solidFill>
              </a:rPr>
              <a:t>why??</a:t>
            </a:r>
            <a:r>
              <a:rPr lang="en-US" sz="2400"/>
              <a:t>).  Call this edge </a:t>
            </a:r>
            <a:r>
              <a:rPr lang="en-US" sz="2400" b="1"/>
              <a:t>e’</a:t>
            </a:r>
          </a:p>
          <a:p>
            <a:pPr>
              <a:lnSpc>
                <a:spcPct val="90000"/>
              </a:lnSpc>
            </a:pPr>
            <a:r>
              <a:rPr lang="en-US" sz="2400" b="1"/>
              <a:t>e’</a:t>
            </a:r>
            <a:r>
              <a:rPr lang="en-US" sz="2400"/>
              <a:t> must be in </a:t>
            </a:r>
            <a:r>
              <a:rPr lang="en-US" sz="2400" b="1"/>
              <a:t>T - S, </a:t>
            </a:r>
            <a:r>
              <a:rPr lang="en-US" sz="2400"/>
              <a:t>so</a:t>
            </a:r>
            <a:r>
              <a:rPr lang="en-US" sz="2400" b="1"/>
              <a:t> </a:t>
            </a:r>
            <a:r>
              <a:rPr lang="en-US" sz="2400"/>
              <a:t>(by our lemma) w(</a:t>
            </a:r>
            <a:r>
              <a:rPr lang="en-US" sz="2400" b="1"/>
              <a:t>e’</a:t>
            </a:r>
            <a:r>
              <a:rPr lang="en-US" sz="2400"/>
              <a:t>) &gt;= w(</a:t>
            </a:r>
            <a:r>
              <a:rPr lang="en-US" sz="2400" b="1"/>
              <a:t>e</a:t>
            </a:r>
            <a:r>
              <a:rPr lang="en-US" sz="2400"/>
              <a:t>)</a:t>
            </a:r>
          </a:p>
          <a:p>
            <a:pPr>
              <a:lnSpc>
                <a:spcPct val="90000"/>
              </a:lnSpc>
            </a:pPr>
            <a:r>
              <a:rPr lang="en-US" sz="2400"/>
              <a:t>We could form a new spanning tree </a:t>
            </a:r>
            <a:r>
              <a:rPr lang="en-US" sz="2400" b="1"/>
              <a:t>T’ </a:t>
            </a:r>
            <a:r>
              <a:rPr lang="en-US" sz="2400"/>
              <a:t>by swapping </a:t>
            </a:r>
            <a:r>
              <a:rPr lang="en-US" sz="2400" b="1"/>
              <a:t>e </a:t>
            </a:r>
            <a:r>
              <a:rPr lang="en-US" sz="2400"/>
              <a:t>for </a:t>
            </a:r>
            <a:r>
              <a:rPr lang="en-US" sz="2400" b="1"/>
              <a:t>e’ </a:t>
            </a:r>
            <a:r>
              <a:rPr lang="en-US" sz="2400"/>
              <a:t>in </a:t>
            </a:r>
            <a:r>
              <a:rPr lang="en-US" sz="2400" b="1"/>
              <a:t>T </a:t>
            </a:r>
            <a:r>
              <a:rPr lang="en-US" sz="2400"/>
              <a:t>(</a:t>
            </a:r>
            <a:r>
              <a:rPr lang="en-US" sz="2400" i="1">
                <a:solidFill>
                  <a:srgbClr val="CC0000"/>
                </a:solidFill>
              </a:rPr>
              <a:t>prove this is a spanning tree</a:t>
            </a:r>
            <a:r>
              <a:rPr lang="en-US" sz="2400"/>
              <a:t>). </a:t>
            </a:r>
          </a:p>
          <a:p>
            <a:pPr>
              <a:lnSpc>
                <a:spcPct val="90000"/>
              </a:lnSpc>
            </a:pPr>
            <a:r>
              <a:rPr lang="en-US" sz="2400"/>
              <a:t>w(</a:t>
            </a:r>
            <a:r>
              <a:rPr lang="en-US" sz="2400" b="1"/>
              <a:t>T’</a:t>
            </a:r>
            <a:r>
              <a:rPr lang="en-US" sz="2400"/>
              <a:t>) is clearly no greater than w(</a:t>
            </a:r>
            <a:r>
              <a:rPr lang="en-US" sz="2400" b="1"/>
              <a:t>T)</a:t>
            </a:r>
            <a:endParaRPr lang="en-US" sz="2400"/>
          </a:p>
          <a:p>
            <a:pPr>
              <a:lnSpc>
                <a:spcPct val="90000"/>
              </a:lnSpc>
            </a:pPr>
            <a:r>
              <a:rPr lang="en-US" sz="2400"/>
              <a:t>But that means </a:t>
            </a:r>
            <a:r>
              <a:rPr lang="en-US" sz="2400" b="1"/>
              <a:t>T’ </a:t>
            </a:r>
            <a:r>
              <a:rPr lang="en-US" sz="2400"/>
              <a:t>is a MST</a:t>
            </a:r>
          </a:p>
          <a:p>
            <a:pPr>
              <a:lnSpc>
                <a:spcPct val="90000"/>
              </a:lnSpc>
            </a:pPr>
            <a:r>
              <a:rPr lang="en-US" sz="2400"/>
              <a:t>And yet it contains all the edges in </a:t>
            </a:r>
            <a:r>
              <a:rPr lang="en-US" sz="2400" b="1"/>
              <a:t>S</a:t>
            </a:r>
            <a:r>
              <a:rPr lang="en-US" sz="2400"/>
              <a:t>, and also </a:t>
            </a:r>
            <a:r>
              <a:rPr lang="en-US" sz="2400" b="1"/>
              <a:t>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solidFill>
                  <a:srgbClr val="CC0000"/>
                </a:solidFill>
              </a:rPr>
              <a:t>                                                         ...Contradiction</a:t>
            </a:r>
          </a:p>
          <a:p>
            <a:pPr>
              <a:lnSpc>
                <a:spcPct val="90000"/>
              </a:lnSpc>
            </a:pPr>
            <a:endParaRPr lang="en-US">
              <a:solidFill>
                <a:srgbClr val="CC0000"/>
              </a:solidFill>
            </a:endParaRPr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152400"/>
            <a:ext cx="8391525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" charset="0"/>
              </a:rPr>
              <a:t>Kruskal’in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Algoritmasinin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 smtClean="0">
                <a:latin typeface="Arial" charset="0"/>
              </a:rPr>
              <a:t>Dogrulugu</a:t>
            </a:r>
            <a:endParaRPr lang="en-US" dirty="0">
              <a:latin typeface="Arial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8F879027-46A1-4776-8AAB-741B83639C1B}" type="slidenum">
              <a:rPr lang="en-US"/>
              <a:pPr/>
              <a:t>47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</a:t>
            </a:r>
            <a:r>
              <a:rPr lang="en-US" dirty="0" err="1" smtClean="0"/>
              <a:t>Yaklasim</a:t>
            </a:r>
            <a:endParaRPr 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620000" cy="4114800"/>
          </a:xfrm>
        </p:spPr>
        <p:txBody>
          <a:bodyPr/>
          <a:lstStyle/>
          <a:p>
            <a:r>
              <a:rPr lang="en-US" sz="2400" dirty="0" err="1" smtClean="0"/>
              <a:t>Dijkstra’nin</a:t>
            </a:r>
            <a:r>
              <a:rPr lang="en-US" sz="2400" dirty="0" smtClean="0"/>
              <a:t> </a:t>
            </a:r>
            <a:r>
              <a:rPr lang="en-US" sz="2400" dirty="0" err="1" smtClean="0"/>
              <a:t>algoritmasi</a:t>
            </a:r>
            <a:r>
              <a:rPr lang="en-US" sz="2400" dirty="0" smtClean="0"/>
              <a:t> </a:t>
            </a:r>
            <a:r>
              <a:rPr lang="en-US" sz="2400" dirty="0" err="1" smtClean="0"/>
              <a:t>gibi</a:t>
            </a:r>
            <a:r>
              <a:rPr lang="en-US" sz="2400" dirty="0" smtClean="0"/>
              <a:t> </a:t>
            </a:r>
            <a:r>
              <a:rPr lang="en-US" sz="2400" dirty="0" err="1" smtClean="0"/>
              <a:t>Kruskal</a:t>
            </a:r>
            <a:r>
              <a:rPr lang="en-US" sz="2400" dirty="0" smtClean="0"/>
              <a:t> </a:t>
            </a:r>
            <a:r>
              <a:rPr lang="en-US" sz="2400" dirty="0" err="1" smtClean="0"/>
              <a:t>ve</a:t>
            </a:r>
            <a:r>
              <a:rPr lang="en-US" sz="2400" dirty="0" smtClean="0"/>
              <a:t> Prim in </a:t>
            </a:r>
            <a:r>
              <a:rPr lang="en-US" sz="2400" dirty="0" err="1" smtClean="0"/>
              <a:t>algoritmalari</a:t>
            </a:r>
            <a:r>
              <a:rPr lang="en-US" sz="2400" dirty="0" smtClean="0"/>
              <a:t> </a:t>
            </a:r>
            <a:r>
              <a:rPr lang="en-US" sz="2400" dirty="0" err="1" smtClean="0"/>
              <a:t>da</a:t>
            </a:r>
            <a:r>
              <a:rPr lang="en-US" sz="2400" dirty="0" smtClean="0"/>
              <a:t> greedy </a:t>
            </a:r>
            <a:r>
              <a:rPr lang="en-US" sz="2400" dirty="0" err="1" smtClean="0"/>
              <a:t>yaklasimdir</a:t>
            </a:r>
            <a:r>
              <a:rPr lang="en-US" sz="2400" dirty="0" smtClean="0"/>
              <a:t>.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smtClean="0"/>
              <a:t>Greedy </a:t>
            </a:r>
            <a:r>
              <a:rPr lang="en-US" sz="2400" dirty="0" err="1" smtClean="0"/>
              <a:t>yaklasim</a:t>
            </a:r>
            <a:r>
              <a:rPr lang="en-US" sz="2400" dirty="0" smtClean="0"/>
              <a:t> MST </a:t>
            </a:r>
            <a:r>
              <a:rPr lang="en-US" sz="2400" dirty="0" err="1" smtClean="0"/>
              <a:t>problemin</a:t>
            </a:r>
            <a:r>
              <a:rPr lang="en-US" sz="2400" dirty="0" smtClean="0"/>
              <a:t> de </a:t>
            </a:r>
            <a:r>
              <a:rPr lang="en-US" sz="2400" dirty="0" err="1" smtClean="0"/>
              <a:t>calisiyor</a:t>
            </a:r>
            <a:r>
              <a:rPr lang="en-US" sz="2400" dirty="0" smtClean="0"/>
              <a:t> </a:t>
            </a:r>
            <a:r>
              <a:rPr lang="en-US" sz="2400" dirty="0" err="1" smtClean="0"/>
              <a:t>olabilir</a:t>
            </a:r>
            <a:r>
              <a:rPr lang="en-US" sz="2400" dirty="0" smtClean="0"/>
              <a:t> </a:t>
            </a:r>
            <a:r>
              <a:rPr lang="en-US" sz="2400" dirty="0" err="1" smtClean="0"/>
              <a:t>fakat</a:t>
            </a:r>
            <a:r>
              <a:rPr lang="en-US" sz="2400" dirty="0" smtClean="0"/>
              <a:t> </a:t>
            </a:r>
            <a:r>
              <a:rPr lang="en-US" sz="2400" b="1" dirty="0" err="1" smtClean="0">
                <a:solidFill>
                  <a:srgbClr val="008000"/>
                </a:solidFill>
              </a:rPr>
              <a:t>diger</a:t>
            </a:r>
            <a:r>
              <a:rPr lang="en-US" sz="2400" b="1" dirty="0" smtClean="0">
                <a:solidFill>
                  <a:srgbClr val="008000"/>
                </a:solidFill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</a:rPr>
              <a:t>problemlerin</a:t>
            </a:r>
            <a:r>
              <a:rPr lang="en-US" sz="2400" b="1" dirty="0" smtClean="0">
                <a:solidFill>
                  <a:srgbClr val="008000"/>
                </a:solidFill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</a:rPr>
              <a:t>cogunda</a:t>
            </a:r>
            <a:r>
              <a:rPr lang="en-US" sz="2400" b="1" dirty="0" smtClean="0">
                <a:solidFill>
                  <a:srgbClr val="008000"/>
                </a:solidFill>
              </a:rPr>
              <a:t> </a:t>
            </a:r>
            <a:r>
              <a:rPr lang="en-US" sz="2400" b="1" dirty="0" err="1" smtClean="0">
                <a:solidFill>
                  <a:srgbClr val="008000"/>
                </a:solidFill>
              </a:rPr>
              <a:t>calismaz</a:t>
            </a:r>
            <a:r>
              <a:rPr lang="en-US" sz="2400" dirty="0" smtClean="0"/>
              <a:t>!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ext Box 2"/>
          <p:cNvSpPr txBox="1">
            <a:spLocks noChangeArrowheads="1"/>
          </p:cNvSpPr>
          <p:nvPr/>
        </p:nvSpPr>
        <p:spPr bwMode="auto">
          <a:xfrm>
            <a:off x="3000375" y="2895600"/>
            <a:ext cx="27305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4000" i="1">
                <a:solidFill>
                  <a:srgbClr val="CC3300"/>
                </a:solidFill>
                <a:latin typeface="Verdana" pitchFamily="34" charset="0"/>
              </a:rPr>
              <a:t>That’s All!</a:t>
            </a:r>
            <a:endParaRPr kumimoji="1" lang="en-US">
              <a:latin typeface="Verdana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1961</Words>
  <Application>Microsoft Office PowerPoint</Application>
  <PresentationFormat>On-screen Show (4:3)</PresentationFormat>
  <Paragraphs>603</Paragraphs>
  <Slides>48</Slides>
  <Notes>2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Topological Sort ve Minimum Spanning Tree</vt:lpstr>
      <vt:lpstr>Konular</vt:lpstr>
      <vt:lpstr>Slide 3</vt:lpstr>
      <vt:lpstr>Path ve cycle</vt:lpstr>
      <vt:lpstr>Cycle</vt:lpstr>
      <vt:lpstr>Kullanisli Baska Tanimlar</vt:lpstr>
      <vt:lpstr>Tree ve graph</vt:lpstr>
      <vt:lpstr>Ornek DAG</vt:lpstr>
      <vt:lpstr>Ornek DAG</vt:lpstr>
      <vt:lpstr>Slide 10</vt:lpstr>
      <vt:lpstr>Topological Sort</vt:lpstr>
      <vt:lpstr>Topological sort</vt:lpstr>
      <vt:lpstr>Topological Sorts ve Cycle Iceren Graphlar?</vt:lpstr>
      <vt:lpstr>Topological Sort Algoritmasi</vt:lpstr>
      <vt:lpstr>Daha iyi topological sort</vt:lpstr>
      <vt:lpstr>Dogruluk</vt:lpstr>
      <vt:lpstr>Slide 17</vt:lpstr>
      <vt:lpstr>Minimum Spanning Tree</vt:lpstr>
      <vt:lpstr>Problem: Telefon Kablosu Doseme</vt:lpstr>
      <vt:lpstr>Kablolama:Basit Yaklasim</vt:lpstr>
      <vt:lpstr>Kablolama:Daha iyi yaklasim</vt:lpstr>
      <vt:lpstr>Minimum Spanning Tree (MST)</vt:lpstr>
      <vt:lpstr>MST nin Uygulamalari</vt:lpstr>
      <vt:lpstr>MST yi nasil olusturabiliriz? </vt:lpstr>
      <vt:lpstr>Prim’in Algoritmasi</vt:lpstr>
      <vt:lpstr>Prim’in algoritmasi</vt:lpstr>
      <vt:lpstr>Prim’in algoritmasi</vt:lpstr>
      <vt:lpstr>Prim’in algoritmasi</vt:lpstr>
      <vt:lpstr>Prim’in algoritmasi</vt:lpstr>
      <vt:lpstr>Prim’in algoritmasi</vt:lpstr>
      <vt:lpstr>Prim’in algoritmasi</vt:lpstr>
      <vt:lpstr>Prim’in Algoritmasinin Heap Olmadan Calisma Zamani</vt:lpstr>
      <vt:lpstr>Prim’in Algoritmasinin Gercekleri</vt:lpstr>
      <vt:lpstr>Prim in Algoritmasinin Dogrulugu</vt:lpstr>
      <vt:lpstr>Prim in Algoritmasinin Dogrulugu</vt:lpstr>
      <vt:lpstr>Prim in Algoritmasinin Dogrulugu</vt:lpstr>
      <vt:lpstr>Prim in Algoritmasinin Dogrulugu</vt:lpstr>
      <vt:lpstr>Baska Bir Yaklasim</vt:lpstr>
      <vt:lpstr>Kruskal’in algoritmasi</vt:lpstr>
      <vt:lpstr>Kruskal’in algoritmasi</vt:lpstr>
      <vt:lpstr>Kruskal’in algoritmasi</vt:lpstr>
      <vt:lpstr>Slide 42</vt:lpstr>
      <vt:lpstr>Kruskal’in Algoritmasinin Dogrulugu</vt:lpstr>
      <vt:lpstr>Slide 44</vt:lpstr>
      <vt:lpstr>Kruskal’in Algoritmasinin Dogrulugu</vt:lpstr>
      <vt:lpstr>Kruskal’in Algoritmasinin Dogrulugu</vt:lpstr>
      <vt:lpstr>Greedy Yaklasim</vt:lpstr>
      <vt:lpstr>Slide 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Topological Sort ve Minimum Spanning Tree</dc:title>
  <dc:creator>yhkalayci</dc:creator>
  <cp:lastModifiedBy>yhkalayci</cp:lastModifiedBy>
  <cp:revision>2</cp:revision>
  <dcterms:created xsi:type="dcterms:W3CDTF">2013-08-04T16:43:28Z</dcterms:created>
  <dcterms:modified xsi:type="dcterms:W3CDTF">2013-08-04T16:44:54Z</dcterms:modified>
</cp:coreProperties>
</file>